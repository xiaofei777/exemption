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9" r:id="rId5"/>
    <p:sldId id="278" r:id="rId6"/>
    <p:sldId id="281" r:id="rId7"/>
    <p:sldId id="282" r:id="rId8"/>
    <p:sldId id="283" r:id="rId9"/>
    <p:sldId id="298" r:id="rId10"/>
    <p:sldId id="287" r:id="rId11"/>
    <p:sldId id="301" r:id="rId12"/>
    <p:sldId id="286" r:id="rId13"/>
    <p:sldId id="300" r:id="rId14"/>
    <p:sldId id="290" r:id="rId15"/>
    <p:sldId id="291" r:id="rId16"/>
    <p:sldId id="295" r:id="rId17"/>
    <p:sldId id="294" r:id="rId18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5" autoAdjust="0"/>
    <p:restoredTop sz="96303"/>
  </p:normalViewPr>
  <p:slideViewPr>
    <p:cSldViewPr snapToGrid="0">
      <p:cViewPr varScale="1">
        <p:scale>
          <a:sx n="134" d="100"/>
          <a:sy n="134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2B5E5-BD21-4632-A3A6-AFDFEDF1DC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37EF0-9EC4-4AB9-957F-BC5EA5367BC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· 各位老师好！我叫陈飞扬，来自武汉科技大学计算机科学与技术学院 2023 级，申请专业为计算机科学与技术</a:t>
            </a:r>
          </a:p>
          <a:p>
            <a:r>
              <a:t>· 下面我将从个人介绍、科研经历、实践经历和读研规划四个方面进行汇报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· 我本科 GPA 3.36/4.0，专业排名 16/207、位于前 7.7%，已获得 2026 级推免资格。核心课程中计算机视觉、计算机组成原理均 91 分。除课内学习外，我熟练使用 React/TypeScript、Go、Python，并有大模型应用与 Agent 开发的项目经验。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· 荣誉方面：两次获得国家励志奖学金</a:t>
            </a:r>
            <a:endParaRPr lang="zh-CN" altLang="en-US"/>
          </a:p>
          <a:p>
            <a:r>
              <a:rPr lang="zh-CN" altLang="en-US"/>
              <a:t>· 获中国机器人及人工智能大赛湖北赛区三等奖、中国国际大学生创新大赛校级银奖</a:t>
            </a:r>
            <a:endParaRPr lang="zh-CN" altLang="en-US"/>
          </a:p>
          <a:p>
            <a:r>
              <a:rPr lang="zh-CN" altLang="en-US"/>
              <a:t>· 同时获得腾讯、金山、华为三家企业的技术认证。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· CamTalk 是我作为负责人完成的多模态实时 AI 视觉对话 Agent，面向军工"数据不出域"约束。我的核心工作有三点：一是端侧数据最小化，自研像素差值关键帧采样算法，静默期上传量降低约 80%</a:t>
            </a:r>
          </a:p>
          <a:p>
            <a:r>
              <a:t>· 二是基于 CloudWeGo Eino 编排 STT-LLM-TTS 七节点流式链路，端到端延迟 0.5 秒以内，断线 30 秒可恢复会话</a:t>
            </a:r>
          </a:p>
          <a:p>
            <a:r>
              <a:t>· 三是项目纳入金银湖实验室优质代码库、入选工信部电子五所试点方案。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· 缺陷检测项目：我通过误差归因发现最难类"裂纹" mAP 仅 52.2%，归因于弱纹理和模糊边界，于是在 YOLOv8 Neck 端引入 CBAM 双重注意力</a:t>
            </a:r>
          </a:p>
          <a:p>
            <a:r>
              <a:t>· 同数据同超参的消融实验显示整体 mAP@0.5 从 77.5% 提升到约 80%~81%，最难类提升到约 57%~60%，单张推理仅 3 毫秒</a:t>
            </a:r>
          </a:p>
          <a:p>
            <a:r>
              <a:t>· 技术已被武汉洪飞智巡采用、专利申请中，并获创新大赛校级银奖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· 在国家级网安基地·武汉金银湖实验室科研实习期间（吴建平院士团队指导），我参与可信开源软件供应链态势感知平台建设：一方面基于 ECharts 6 建成 15+ 可视化组件的监控大屏，设计了三级容错加载与接口兜底策略</a:t>
            </a:r>
            <a:endParaRPr lang="zh-CN" altLang="en-US"/>
          </a:p>
          <a:p>
            <a:r>
              <a:rPr lang="zh-CN" altLang="en-US"/>
              <a:t>· 另一方面接入自研金银湖大模型，参与 TcodeAI 漏洞修复 Agent 的任务流程设计，用可折叠面板组件化方案复用 3+ 页面。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· 在东软医疗健康事业部实习期间，我参与武汉黄家湖医院 HIS 系统 Web 端与小程序端的全栈迭代</a:t>
            </a:r>
          </a:p>
          <a:p>
            <a:r>
              <a:t>· 实现了人脸识别登录、AI 智能客服等功能，完成了图像采集处理与 AI 接口联调</a:t>
            </a:r>
          </a:p>
          <a:p>
            <a:r>
              <a:t>· 这段经历让我积累了真实业务场景下的交付经验，也提升了系统可靠性与团队协作能力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· 研一夯实理论与方法论，把工程能力转化为科研生产力</a:t>
            </a:r>
            <a:endParaRPr lang="zh-CN" altLang="en-US"/>
          </a:p>
          <a:p>
            <a:r>
              <a:rPr lang="zh-CN" altLang="en-US"/>
              <a:t>· 研二力争产出论文与专利成果</a:t>
            </a:r>
            <a:endParaRPr lang="zh-CN" altLang="en-US"/>
          </a:p>
          <a:p>
            <a:r>
              <a:rPr lang="zh-CN" altLang="en-US"/>
              <a:t>· 长期我希望成为兼具研究能力与工程落地能力的研究者，服务国家关键领域。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FE119-898D-427D-93F2-ABE8B031D5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C93E2-92BB-4838-94A4-A03525FE8C7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jpe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2104571"/>
            <a:ext cx="12192000" cy="2365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63450" y="2610476"/>
            <a:ext cx="11665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保研预推免自我介绍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6428" y="3626139"/>
            <a:ext cx="11439144" cy="470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 introduction of recommendation for graduate studies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1127878" y="4238625"/>
            <a:ext cx="993624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76428" y="4626864"/>
            <a:ext cx="1143914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+mn-ea"/>
              </a:rPr>
              <a:t>武汉科技大学计算机科学与技术学院 · 2023 级</a:t>
            </a:r>
            <a:endParaRPr kumimoji="1" lang="en-US" altLang="zh-CN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50471" y="150470"/>
            <a:ext cx="127321" cy="12732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312767" y="150470"/>
            <a:ext cx="127321" cy="12732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475063" y="150470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50471" y="306934"/>
            <a:ext cx="127321" cy="12732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312767" y="306934"/>
            <a:ext cx="127321" cy="12732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475063" y="306934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150471" y="463398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312767" y="463398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475063" y="463398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/>
          <p:cNvSpPr/>
          <p:nvPr/>
        </p:nvSpPr>
        <p:spPr>
          <a:xfrm flipH="1" flipV="1">
            <a:off x="11914207" y="6616305"/>
            <a:ext cx="127321" cy="12732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/>
          <p:cNvSpPr/>
          <p:nvPr/>
        </p:nvSpPr>
        <p:spPr>
          <a:xfrm flipH="1" flipV="1">
            <a:off x="11751911" y="6616305"/>
            <a:ext cx="127321" cy="12732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/>
          <p:cNvSpPr/>
          <p:nvPr/>
        </p:nvSpPr>
        <p:spPr>
          <a:xfrm flipH="1" flipV="1">
            <a:off x="11589615" y="6616305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/>
          <p:cNvSpPr/>
          <p:nvPr/>
        </p:nvSpPr>
        <p:spPr>
          <a:xfrm flipH="1" flipV="1">
            <a:off x="11914207" y="6459841"/>
            <a:ext cx="127321" cy="12732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矩形 69"/>
          <p:cNvSpPr/>
          <p:nvPr/>
        </p:nvSpPr>
        <p:spPr>
          <a:xfrm flipH="1" flipV="1">
            <a:off x="11751911" y="6459841"/>
            <a:ext cx="127321" cy="12732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矩形 70"/>
          <p:cNvSpPr/>
          <p:nvPr/>
        </p:nvSpPr>
        <p:spPr>
          <a:xfrm flipH="1" flipV="1">
            <a:off x="11589615" y="6459841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矩形 71"/>
          <p:cNvSpPr/>
          <p:nvPr/>
        </p:nvSpPr>
        <p:spPr>
          <a:xfrm flipH="1" flipV="1">
            <a:off x="11914207" y="6303377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矩形 72"/>
          <p:cNvSpPr/>
          <p:nvPr/>
        </p:nvSpPr>
        <p:spPr>
          <a:xfrm flipH="1" flipV="1">
            <a:off x="11751911" y="6303377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矩形 73"/>
          <p:cNvSpPr/>
          <p:nvPr/>
        </p:nvSpPr>
        <p:spPr>
          <a:xfrm flipH="1" flipV="1">
            <a:off x="11589615" y="6303377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596623" y="5537460"/>
            <a:ext cx="184489" cy="229500"/>
            <a:chOff x="1596623" y="5537460"/>
            <a:chExt cx="184489" cy="229500"/>
          </a:xfrm>
        </p:grpSpPr>
        <p:sp>
          <p:nvSpPr>
            <p:cNvPr id="78" name="任意形状 77"/>
            <p:cNvSpPr/>
            <p:nvPr/>
          </p:nvSpPr>
          <p:spPr>
            <a:xfrm>
              <a:off x="1596623" y="5663256"/>
              <a:ext cx="184489" cy="103704"/>
            </a:xfrm>
            <a:custGeom>
              <a:avLst/>
              <a:gdLst>
                <a:gd name="connsiteX0" fmla="*/ 1075134 w 1140396"/>
                <a:gd name="connsiteY0" fmla="*/ 161925 h 641032"/>
                <a:gd name="connsiteX1" fmla="*/ 841772 w 1140396"/>
                <a:gd name="connsiteY1" fmla="*/ 0 h 641032"/>
                <a:gd name="connsiteX2" fmla="*/ 636984 w 1140396"/>
                <a:gd name="connsiteY2" fmla="*/ 119301 h 641032"/>
                <a:gd name="connsiteX3" fmla="*/ 637223 w 1140396"/>
                <a:gd name="connsiteY3" fmla="*/ 119539 h 641032"/>
                <a:gd name="connsiteX4" fmla="*/ 604123 w 1140396"/>
                <a:gd name="connsiteY4" fmla="*/ 152638 h 641032"/>
                <a:gd name="connsiteX5" fmla="*/ 636984 w 1140396"/>
                <a:gd name="connsiteY5" fmla="*/ 252889 h 641032"/>
                <a:gd name="connsiteX6" fmla="*/ 570548 w 1140396"/>
                <a:gd name="connsiteY6" fmla="*/ 604361 h 641032"/>
                <a:gd name="connsiteX7" fmla="*/ 504111 w 1140396"/>
                <a:gd name="connsiteY7" fmla="*/ 252889 h 641032"/>
                <a:gd name="connsiteX8" fmla="*/ 536972 w 1140396"/>
                <a:gd name="connsiteY8" fmla="*/ 152638 h 641032"/>
                <a:gd name="connsiteX9" fmla="*/ 503873 w 1140396"/>
                <a:gd name="connsiteY9" fmla="*/ 119539 h 641032"/>
                <a:gd name="connsiteX10" fmla="*/ 504111 w 1140396"/>
                <a:gd name="connsiteY10" fmla="*/ 119301 h 641032"/>
                <a:gd name="connsiteX11" fmla="*/ 299323 w 1140396"/>
                <a:gd name="connsiteY11" fmla="*/ 0 h 641032"/>
                <a:gd name="connsiteX12" fmla="*/ 65723 w 1140396"/>
                <a:gd name="connsiteY12" fmla="*/ 162401 h 641032"/>
                <a:gd name="connsiteX13" fmla="*/ 0 w 1140396"/>
                <a:gd name="connsiteY13" fmla="*/ 326708 h 641032"/>
                <a:gd name="connsiteX14" fmla="*/ 0 w 1140396"/>
                <a:gd name="connsiteY14" fmla="*/ 527209 h 641032"/>
                <a:gd name="connsiteX15" fmla="*/ 113824 w 1140396"/>
                <a:gd name="connsiteY15" fmla="*/ 641033 h 641032"/>
                <a:gd name="connsiteX16" fmla="*/ 1026557 w 1140396"/>
                <a:gd name="connsiteY16" fmla="*/ 641033 h 641032"/>
                <a:gd name="connsiteX17" fmla="*/ 1140381 w 1140396"/>
                <a:gd name="connsiteY17" fmla="*/ 527209 h 641032"/>
                <a:gd name="connsiteX18" fmla="*/ 1140381 w 1140396"/>
                <a:gd name="connsiteY18" fmla="*/ 326469 h 641032"/>
                <a:gd name="connsiteX19" fmla="*/ 1075134 w 1140396"/>
                <a:gd name="connsiteY19" fmla="*/ 161925 h 64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40396" h="641032">
                  <a:moveTo>
                    <a:pt x="1075134" y="161925"/>
                  </a:moveTo>
                  <a:cubicBezTo>
                    <a:pt x="1009311" y="92475"/>
                    <a:pt x="929868" y="37351"/>
                    <a:pt x="841772" y="0"/>
                  </a:cubicBezTo>
                  <a:cubicBezTo>
                    <a:pt x="789227" y="62094"/>
                    <a:pt x="716917" y="104219"/>
                    <a:pt x="636984" y="119301"/>
                  </a:cubicBezTo>
                  <a:lnTo>
                    <a:pt x="637223" y="119539"/>
                  </a:lnTo>
                  <a:lnTo>
                    <a:pt x="604123" y="152638"/>
                  </a:lnTo>
                  <a:lnTo>
                    <a:pt x="636984" y="252889"/>
                  </a:lnTo>
                  <a:lnTo>
                    <a:pt x="570548" y="604361"/>
                  </a:lnTo>
                  <a:lnTo>
                    <a:pt x="504111" y="252889"/>
                  </a:lnTo>
                  <a:lnTo>
                    <a:pt x="536972" y="152638"/>
                  </a:lnTo>
                  <a:lnTo>
                    <a:pt x="503873" y="119539"/>
                  </a:lnTo>
                  <a:lnTo>
                    <a:pt x="504111" y="119301"/>
                  </a:lnTo>
                  <a:cubicBezTo>
                    <a:pt x="422672" y="103822"/>
                    <a:pt x="350996" y="60960"/>
                    <a:pt x="299323" y="0"/>
                  </a:cubicBezTo>
                  <a:cubicBezTo>
                    <a:pt x="211117" y="37494"/>
                    <a:pt x="131593" y="92779"/>
                    <a:pt x="65723" y="162401"/>
                  </a:cubicBezTo>
                  <a:cubicBezTo>
                    <a:pt x="23543" y="206708"/>
                    <a:pt x="12" y="265534"/>
                    <a:pt x="0" y="326708"/>
                  </a:cubicBezTo>
                  <a:lnTo>
                    <a:pt x="0" y="527209"/>
                  </a:lnTo>
                  <a:cubicBezTo>
                    <a:pt x="0" y="590072"/>
                    <a:pt x="50961" y="641033"/>
                    <a:pt x="113824" y="641033"/>
                  </a:cubicBezTo>
                  <a:lnTo>
                    <a:pt x="1026557" y="641033"/>
                  </a:lnTo>
                  <a:cubicBezTo>
                    <a:pt x="1089420" y="641033"/>
                    <a:pt x="1140381" y="590072"/>
                    <a:pt x="1140381" y="527209"/>
                  </a:cubicBezTo>
                  <a:lnTo>
                    <a:pt x="1140381" y="326469"/>
                  </a:lnTo>
                  <a:cubicBezTo>
                    <a:pt x="1141095" y="265033"/>
                    <a:pt x="1117283" y="206216"/>
                    <a:pt x="1075134" y="161925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形状 78"/>
            <p:cNvSpPr/>
            <p:nvPr/>
          </p:nvSpPr>
          <p:spPr>
            <a:xfrm>
              <a:off x="1604925" y="5537460"/>
              <a:ext cx="168104" cy="132345"/>
            </a:xfrm>
            <a:custGeom>
              <a:avLst/>
              <a:gdLst>
                <a:gd name="connsiteX0" fmla="*/ 18931 w 1039117"/>
                <a:gd name="connsiteY0" fmla="*/ 245386 h 818076"/>
                <a:gd name="connsiteX1" fmla="*/ 185380 w 1039117"/>
                <a:gd name="connsiteY1" fmla="*/ 313014 h 818076"/>
                <a:gd name="connsiteX2" fmla="*/ 185380 w 1039117"/>
                <a:gd name="connsiteY2" fmla="*/ 400406 h 818076"/>
                <a:gd name="connsiteX3" fmla="*/ 244912 w 1039117"/>
                <a:gd name="connsiteY3" fmla="*/ 497561 h 818076"/>
                <a:gd name="connsiteX4" fmla="*/ 250627 w 1039117"/>
                <a:gd name="connsiteY4" fmla="*/ 500418 h 818076"/>
                <a:gd name="connsiteX5" fmla="*/ 250627 w 1039117"/>
                <a:gd name="connsiteY5" fmla="*/ 549234 h 818076"/>
                <a:gd name="connsiteX6" fmla="*/ 519470 w 1039117"/>
                <a:gd name="connsiteY6" fmla="*/ 818077 h 818076"/>
                <a:gd name="connsiteX7" fmla="*/ 788313 w 1039117"/>
                <a:gd name="connsiteY7" fmla="*/ 549234 h 818076"/>
                <a:gd name="connsiteX8" fmla="*/ 788313 w 1039117"/>
                <a:gd name="connsiteY8" fmla="*/ 500418 h 818076"/>
                <a:gd name="connsiteX9" fmla="*/ 794028 w 1039117"/>
                <a:gd name="connsiteY9" fmla="*/ 497561 h 818076"/>
                <a:gd name="connsiteX10" fmla="*/ 853559 w 1039117"/>
                <a:gd name="connsiteY10" fmla="*/ 400406 h 818076"/>
                <a:gd name="connsiteX11" fmla="*/ 853559 w 1039117"/>
                <a:gd name="connsiteY11" fmla="*/ 313014 h 818076"/>
                <a:gd name="connsiteX12" fmla="*/ 1020009 w 1039117"/>
                <a:gd name="connsiteY12" fmla="*/ 245386 h 818076"/>
                <a:gd name="connsiteX13" fmla="*/ 1020009 w 1039117"/>
                <a:gd name="connsiteY13" fmla="*/ 188713 h 818076"/>
                <a:gd name="connsiteX14" fmla="*/ 590907 w 1039117"/>
                <a:gd name="connsiteY14" fmla="*/ 13929 h 818076"/>
                <a:gd name="connsiteX15" fmla="*/ 448270 w 1039117"/>
                <a:gd name="connsiteY15" fmla="*/ 13929 h 818076"/>
                <a:gd name="connsiteX16" fmla="*/ 18931 w 1039117"/>
                <a:gd name="connsiteY16" fmla="*/ 188713 h 818076"/>
                <a:gd name="connsiteX17" fmla="*/ 18931 w 1039117"/>
                <a:gd name="connsiteY17" fmla="*/ 245386 h 818076"/>
                <a:gd name="connsiteX18" fmla="*/ 789980 w 1039117"/>
                <a:gd name="connsiteY18" fmla="*/ 400406 h 818076"/>
                <a:gd name="connsiteX19" fmla="*/ 765215 w 1039117"/>
                <a:gd name="connsiteY19" fmla="*/ 440887 h 818076"/>
                <a:gd name="connsiteX20" fmla="*/ 519470 w 1039117"/>
                <a:gd name="connsiteY20" fmla="*/ 505419 h 818076"/>
                <a:gd name="connsiteX21" fmla="*/ 273725 w 1039117"/>
                <a:gd name="connsiteY21" fmla="*/ 440887 h 818076"/>
                <a:gd name="connsiteX22" fmla="*/ 248960 w 1039117"/>
                <a:gd name="connsiteY22" fmla="*/ 400644 h 818076"/>
                <a:gd name="connsiteX23" fmla="*/ 248960 w 1039117"/>
                <a:gd name="connsiteY23" fmla="*/ 339208 h 818076"/>
                <a:gd name="connsiteX24" fmla="*/ 448032 w 1039117"/>
                <a:gd name="connsiteY24" fmla="*/ 420408 h 818076"/>
                <a:gd name="connsiteX25" fmla="*/ 590669 w 1039117"/>
                <a:gd name="connsiteY25" fmla="*/ 420408 h 818076"/>
                <a:gd name="connsiteX26" fmla="*/ 789742 w 1039117"/>
                <a:gd name="connsiteY26" fmla="*/ 339208 h 818076"/>
                <a:gd name="connsiteX27" fmla="*/ 789742 w 1039117"/>
                <a:gd name="connsiteY27" fmla="*/ 400406 h 818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39117" h="818076">
                  <a:moveTo>
                    <a:pt x="18931" y="245386"/>
                  </a:moveTo>
                  <a:lnTo>
                    <a:pt x="185380" y="313014"/>
                  </a:lnTo>
                  <a:lnTo>
                    <a:pt x="185380" y="400406"/>
                  </a:lnTo>
                  <a:cubicBezTo>
                    <a:pt x="185380" y="441601"/>
                    <a:pt x="208240" y="478987"/>
                    <a:pt x="244912" y="497561"/>
                  </a:cubicBezTo>
                  <a:cubicBezTo>
                    <a:pt x="246578" y="498513"/>
                    <a:pt x="248960" y="499466"/>
                    <a:pt x="250627" y="500418"/>
                  </a:cubicBezTo>
                  <a:lnTo>
                    <a:pt x="250627" y="549234"/>
                  </a:lnTo>
                  <a:cubicBezTo>
                    <a:pt x="250627" y="697586"/>
                    <a:pt x="370880" y="818077"/>
                    <a:pt x="519470" y="818077"/>
                  </a:cubicBezTo>
                  <a:cubicBezTo>
                    <a:pt x="668060" y="818077"/>
                    <a:pt x="788313" y="697824"/>
                    <a:pt x="788313" y="549234"/>
                  </a:cubicBezTo>
                  <a:lnTo>
                    <a:pt x="788313" y="500418"/>
                  </a:lnTo>
                  <a:cubicBezTo>
                    <a:pt x="790218" y="499466"/>
                    <a:pt x="792361" y="498513"/>
                    <a:pt x="794028" y="497561"/>
                  </a:cubicBezTo>
                  <a:cubicBezTo>
                    <a:pt x="830699" y="478987"/>
                    <a:pt x="853559" y="441601"/>
                    <a:pt x="853559" y="400406"/>
                  </a:cubicBezTo>
                  <a:lnTo>
                    <a:pt x="853559" y="313014"/>
                  </a:lnTo>
                  <a:lnTo>
                    <a:pt x="1020009" y="245386"/>
                  </a:lnTo>
                  <a:cubicBezTo>
                    <a:pt x="1045488" y="235147"/>
                    <a:pt x="1045488" y="199190"/>
                    <a:pt x="1020009" y="188713"/>
                  </a:cubicBezTo>
                  <a:lnTo>
                    <a:pt x="590907" y="13929"/>
                  </a:lnTo>
                  <a:cubicBezTo>
                    <a:pt x="545175" y="-4643"/>
                    <a:pt x="494002" y="-4643"/>
                    <a:pt x="448270" y="13929"/>
                  </a:cubicBezTo>
                  <a:lnTo>
                    <a:pt x="18931" y="188713"/>
                  </a:lnTo>
                  <a:cubicBezTo>
                    <a:pt x="-6310" y="199190"/>
                    <a:pt x="-6310" y="235147"/>
                    <a:pt x="18931" y="245386"/>
                  </a:cubicBezTo>
                  <a:close/>
                  <a:moveTo>
                    <a:pt x="789980" y="400406"/>
                  </a:moveTo>
                  <a:cubicBezTo>
                    <a:pt x="789980" y="417551"/>
                    <a:pt x="780455" y="433029"/>
                    <a:pt x="765215" y="440887"/>
                  </a:cubicBezTo>
                  <a:cubicBezTo>
                    <a:pt x="718066" y="464938"/>
                    <a:pt x="623292" y="505419"/>
                    <a:pt x="519470" y="505419"/>
                  </a:cubicBezTo>
                  <a:cubicBezTo>
                    <a:pt x="415647" y="505419"/>
                    <a:pt x="321112" y="464938"/>
                    <a:pt x="273725" y="440887"/>
                  </a:cubicBezTo>
                  <a:cubicBezTo>
                    <a:pt x="258485" y="433267"/>
                    <a:pt x="248960" y="417551"/>
                    <a:pt x="248960" y="400644"/>
                  </a:cubicBezTo>
                  <a:lnTo>
                    <a:pt x="248960" y="339208"/>
                  </a:lnTo>
                  <a:lnTo>
                    <a:pt x="448032" y="420408"/>
                  </a:lnTo>
                  <a:cubicBezTo>
                    <a:pt x="493752" y="438982"/>
                    <a:pt x="544949" y="438982"/>
                    <a:pt x="590669" y="420408"/>
                  </a:cubicBezTo>
                  <a:lnTo>
                    <a:pt x="789742" y="339208"/>
                  </a:lnTo>
                  <a:lnTo>
                    <a:pt x="789742" y="400406"/>
                  </a:ln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1781112" y="5467544"/>
            <a:ext cx="2308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面试学生：陈飞扬</a:t>
            </a:r>
            <a:endParaRPr kumimoji="1"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84" name="图形 82"/>
          <p:cNvSpPr/>
          <p:nvPr/>
        </p:nvSpPr>
        <p:spPr>
          <a:xfrm>
            <a:off x="4435166" y="5526511"/>
            <a:ext cx="241068" cy="251399"/>
          </a:xfrm>
          <a:custGeom>
            <a:avLst/>
            <a:gdLst>
              <a:gd name="connsiteX0" fmla="*/ 213405 w 1562695"/>
              <a:gd name="connsiteY0" fmla="*/ 1338809 h 1629667"/>
              <a:gd name="connsiteX1" fmla="*/ 111316 w 1562695"/>
              <a:gd name="connsiteY1" fmla="*/ 1428633 h 1629667"/>
              <a:gd name="connsiteX2" fmla="*/ 211688 w 1562695"/>
              <a:gd name="connsiteY2" fmla="*/ 1518445 h 1629667"/>
              <a:gd name="connsiteX3" fmla="*/ 213405 w 1562695"/>
              <a:gd name="connsiteY3" fmla="*/ 1518456 h 1629667"/>
              <a:gd name="connsiteX4" fmla="*/ 1507037 w 1562695"/>
              <a:gd name="connsiteY4" fmla="*/ 1518456 h 1629667"/>
              <a:gd name="connsiteX5" fmla="*/ 1562695 w 1562695"/>
              <a:gd name="connsiteY5" fmla="*/ 1574062 h 1629667"/>
              <a:gd name="connsiteX6" fmla="*/ 1508351 w 1562695"/>
              <a:gd name="connsiteY6" fmla="*/ 1629653 h 1629667"/>
              <a:gd name="connsiteX7" fmla="*/ 1507037 w 1562695"/>
              <a:gd name="connsiteY7" fmla="*/ 1629668 h 1629667"/>
              <a:gd name="connsiteX8" fmla="*/ 213405 w 1562695"/>
              <a:gd name="connsiteY8" fmla="*/ 1629668 h 1629667"/>
              <a:gd name="connsiteX9" fmla="*/ 0 w 1562695"/>
              <a:gd name="connsiteY9" fmla="*/ 1428633 h 1629667"/>
              <a:gd name="connsiteX10" fmla="*/ 49264 w 1562695"/>
              <a:gd name="connsiteY10" fmla="*/ 1300070 h 1629667"/>
              <a:gd name="connsiteX11" fmla="*/ 0 w 1562695"/>
              <a:gd name="connsiteY11" fmla="*/ 1189100 h 1629667"/>
              <a:gd name="connsiteX12" fmla="*/ 0 w 1562695"/>
              <a:gd name="connsiteY12" fmla="*/ 149706 h 1629667"/>
              <a:gd name="connsiteX13" fmla="*/ 149848 w 1562695"/>
              <a:gd name="connsiteY13" fmla="*/ 0 h 1629667"/>
              <a:gd name="connsiteX14" fmla="*/ 372478 w 1562695"/>
              <a:gd name="connsiteY14" fmla="*/ 0 h 1629667"/>
              <a:gd name="connsiteX15" fmla="*/ 372478 w 1562695"/>
              <a:gd name="connsiteY15" fmla="*/ 524601 h 1629667"/>
              <a:gd name="connsiteX16" fmla="*/ 372493 w 1562695"/>
              <a:gd name="connsiteY16" fmla="*/ 525795 h 1629667"/>
              <a:gd name="connsiteX17" fmla="*/ 372534 w 1562695"/>
              <a:gd name="connsiteY17" fmla="*/ 526967 h 1629667"/>
              <a:gd name="connsiteX18" fmla="*/ 449132 w 1562695"/>
              <a:gd name="connsiteY18" fmla="*/ 560100 h 1629667"/>
              <a:gd name="connsiteX19" fmla="*/ 450021 w 1562695"/>
              <a:gd name="connsiteY19" fmla="*/ 559333 h 1629667"/>
              <a:gd name="connsiteX20" fmla="*/ 571561 w 1562695"/>
              <a:gd name="connsiteY20" fmla="*/ 452294 h 1629667"/>
              <a:gd name="connsiteX21" fmla="*/ 693102 w 1562695"/>
              <a:gd name="connsiteY21" fmla="*/ 559333 h 1629667"/>
              <a:gd name="connsiteX22" fmla="*/ 694010 w 1562695"/>
              <a:gd name="connsiteY22" fmla="*/ 560115 h 1629667"/>
              <a:gd name="connsiteX23" fmla="*/ 770630 w 1562695"/>
              <a:gd name="connsiteY23" fmla="*/ 525784 h 1629667"/>
              <a:gd name="connsiteX24" fmla="*/ 770645 w 1562695"/>
              <a:gd name="connsiteY24" fmla="*/ 524602 h 1629667"/>
              <a:gd name="connsiteX25" fmla="*/ 770643 w 1562695"/>
              <a:gd name="connsiteY25" fmla="*/ 0 h 1629667"/>
              <a:gd name="connsiteX26" fmla="*/ 1357190 w 1562695"/>
              <a:gd name="connsiteY26" fmla="*/ 0 h 1629667"/>
              <a:gd name="connsiteX27" fmla="*/ 1507037 w 1562695"/>
              <a:gd name="connsiteY27" fmla="*/ 149706 h 1629667"/>
              <a:gd name="connsiteX28" fmla="*/ 1507037 w 1562695"/>
              <a:gd name="connsiteY28" fmla="*/ 1189103 h 1629667"/>
              <a:gd name="connsiteX29" fmla="*/ 1357190 w 1562695"/>
              <a:gd name="connsiteY29" fmla="*/ 1338809 h 1629667"/>
              <a:gd name="connsiteX30" fmla="*/ 213405 w 1562695"/>
              <a:gd name="connsiteY30" fmla="*/ 1338809 h 1629667"/>
              <a:gd name="connsiteX31" fmla="*/ 719268 w 1562695"/>
              <a:gd name="connsiteY31" fmla="*/ 0 h 1629667"/>
              <a:gd name="connsiteX32" fmla="*/ 719268 w 1562695"/>
              <a:gd name="connsiteY32" fmla="*/ 513282 h 1629667"/>
              <a:gd name="connsiteX33" fmla="*/ 614709 w 1562695"/>
              <a:gd name="connsiteY33" fmla="*/ 413528 h 1629667"/>
              <a:gd name="connsiteX34" fmla="*/ 613401 w 1562695"/>
              <a:gd name="connsiteY34" fmla="*/ 412312 h 1629667"/>
              <a:gd name="connsiteX35" fmla="*/ 612658 w 1562695"/>
              <a:gd name="connsiteY35" fmla="*/ 411651 h 1629667"/>
              <a:gd name="connsiteX36" fmla="*/ 529136 w 1562695"/>
              <a:gd name="connsiteY36" fmla="*/ 412849 h 1629667"/>
              <a:gd name="connsiteX37" fmla="*/ 528414 w 1562695"/>
              <a:gd name="connsiteY37" fmla="*/ 413528 h 1629667"/>
              <a:gd name="connsiteX38" fmla="*/ 423855 w 1562695"/>
              <a:gd name="connsiteY38" fmla="*/ 513277 h 1629667"/>
              <a:gd name="connsiteX39" fmla="*/ 423855 w 1562695"/>
              <a:gd name="connsiteY39" fmla="*/ 0 h 1629667"/>
              <a:gd name="connsiteX40" fmla="*/ 719268 w 1562695"/>
              <a:gd name="connsiteY40" fmla="*/ 0 h 162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62695" h="1629667">
                <a:moveTo>
                  <a:pt x="213405" y="1338809"/>
                </a:moveTo>
                <a:cubicBezTo>
                  <a:pt x="156069" y="1338809"/>
                  <a:pt x="111316" y="1380067"/>
                  <a:pt x="111316" y="1428633"/>
                </a:cubicBezTo>
                <a:cubicBezTo>
                  <a:pt x="111316" y="1476714"/>
                  <a:pt x="155178" y="1517632"/>
                  <a:pt x="211688" y="1518445"/>
                </a:cubicBezTo>
                <a:lnTo>
                  <a:pt x="213405" y="1518456"/>
                </a:lnTo>
                <a:lnTo>
                  <a:pt x="1507037" y="1518456"/>
                </a:lnTo>
                <a:cubicBezTo>
                  <a:pt x="1537776" y="1518456"/>
                  <a:pt x="1562695" y="1543353"/>
                  <a:pt x="1562695" y="1574062"/>
                </a:cubicBezTo>
                <a:cubicBezTo>
                  <a:pt x="1562695" y="1604334"/>
                  <a:pt x="1538483" y="1628956"/>
                  <a:pt x="1508351" y="1629653"/>
                </a:cubicBezTo>
                <a:lnTo>
                  <a:pt x="1507037" y="1629668"/>
                </a:lnTo>
                <a:lnTo>
                  <a:pt x="213405" y="1629668"/>
                </a:lnTo>
                <a:cubicBezTo>
                  <a:pt x="96500" y="1629668"/>
                  <a:pt x="0" y="1540704"/>
                  <a:pt x="0" y="1428633"/>
                </a:cubicBezTo>
                <a:cubicBezTo>
                  <a:pt x="0" y="1379482"/>
                  <a:pt x="18561" y="1334776"/>
                  <a:pt x="49264" y="1300070"/>
                </a:cubicBezTo>
                <a:cubicBezTo>
                  <a:pt x="19007" y="1272685"/>
                  <a:pt x="0" y="1233110"/>
                  <a:pt x="0" y="1189100"/>
                </a:cubicBezTo>
                <a:lnTo>
                  <a:pt x="0" y="149706"/>
                </a:lnTo>
                <a:cubicBezTo>
                  <a:pt x="0" y="67028"/>
                  <a:pt x="67090" y="0"/>
                  <a:pt x="149848" y="0"/>
                </a:cubicBezTo>
                <a:lnTo>
                  <a:pt x="372478" y="0"/>
                </a:lnTo>
                <a:lnTo>
                  <a:pt x="372478" y="524601"/>
                </a:lnTo>
                <a:lnTo>
                  <a:pt x="372493" y="525795"/>
                </a:lnTo>
                <a:lnTo>
                  <a:pt x="372534" y="526967"/>
                </a:lnTo>
                <a:cubicBezTo>
                  <a:pt x="374342" y="565026"/>
                  <a:pt x="419608" y="584909"/>
                  <a:pt x="449132" y="560100"/>
                </a:cubicBezTo>
                <a:lnTo>
                  <a:pt x="450021" y="559333"/>
                </a:lnTo>
                <a:lnTo>
                  <a:pt x="571561" y="452294"/>
                </a:lnTo>
                <a:lnTo>
                  <a:pt x="693102" y="559333"/>
                </a:lnTo>
                <a:lnTo>
                  <a:pt x="694010" y="560115"/>
                </a:lnTo>
                <a:cubicBezTo>
                  <a:pt x="723837" y="585155"/>
                  <a:pt x="769715" y="564604"/>
                  <a:pt x="770630" y="525784"/>
                </a:cubicBezTo>
                <a:lnTo>
                  <a:pt x="770645" y="524602"/>
                </a:lnTo>
                <a:lnTo>
                  <a:pt x="770643" y="0"/>
                </a:lnTo>
                <a:lnTo>
                  <a:pt x="1357190" y="0"/>
                </a:lnTo>
                <a:cubicBezTo>
                  <a:pt x="1439949" y="0"/>
                  <a:pt x="1507037" y="67027"/>
                  <a:pt x="1507037" y="149706"/>
                </a:cubicBezTo>
                <a:lnTo>
                  <a:pt x="1507037" y="1189103"/>
                </a:lnTo>
                <a:cubicBezTo>
                  <a:pt x="1507037" y="1271783"/>
                  <a:pt x="1439949" y="1338809"/>
                  <a:pt x="1357190" y="1338809"/>
                </a:cubicBezTo>
                <a:lnTo>
                  <a:pt x="213405" y="1338809"/>
                </a:lnTo>
                <a:close/>
                <a:moveTo>
                  <a:pt x="719268" y="0"/>
                </a:moveTo>
                <a:lnTo>
                  <a:pt x="719268" y="513282"/>
                </a:lnTo>
                <a:lnTo>
                  <a:pt x="614709" y="413528"/>
                </a:lnTo>
                <a:lnTo>
                  <a:pt x="613401" y="412312"/>
                </a:lnTo>
                <a:lnTo>
                  <a:pt x="612658" y="411651"/>
                </a:lnTo>
                <a:cubicBezTo>
                  <a:pt x="588306" y="390261"/>
                  <a:pt x="553084" y="390661"/>
                  <a:pt x="529136" y="412849"/>
                </a:cubicBezTo>
                <a:lnTo>
                  <a:pt x="528414" y="413528"/>
                </a:lnTo>
                <a:lnTo>
                  <a:pt x="423855" y="513277"/>
                </a:lnTo>
                <a:lnTo>
                  <a:pt x="423855" y="0"/>
                </a:lnTo>
                <a:lnTo>
                  <a:pt x="719268" y="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4676140" y="5467350"/>
            <a:ext cx="3348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  <a:latin typeface="+mn-ea"/>
              </a:rPr>
              <a:t>申请专业：电子</a:t>
            </a:r>
            <a:r>
              <a:rPr kumimoji="1" lang="zh-CN" altLang="en-US" b="1" dirty="0">
                <a:solidFill>
                  <a:schemeClr val="accent1"/>
                </a:solidFill>
                <a:latin typeface="+mn-ea"/>
              </a:rPr>
              <a:t>信息</a:t>
            </a:r>
            <a:endParaRPr kumimoji="1" lang="zh-CN" altLang="en-US" b="1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196580" y="5514340"/>
            <a:ext cx="3392805" cy="369570"/>
            <a:chOff x="12258" y="8610"/>
            <a:chExt cx="5343" cy="582"/>
          </a:xfrm>
        </p:grpSpPr>
        <p:sp>
          <p:nvSpPr>
            <p:cNvPr id="31" name="文本框 30"/>
            <p:cNvSpPr txBox="1"/>
            <p:nvPr/>
          </p:nvSpPr>
          <p:spPr>
            <a:xfrm>
              <a:off x="12661" y="8610"/>
              <a:ext cx="4941" cy="5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面试时间：2026.09</a:t>
              </a:r>
              <a:endPara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图形 29" descr="时间"/>
            <p:cNvSpPr/>
            <p:nvPr/>
          </p:nvSpPr>
          <p:spPr>
            <a:xfrm>
              <a:off x="12258" y="8700"/>
              <a:ext cx="403" cy="403"/>
            </a:xfrm>
            <a:custGeom>
              <a:avLst/>
              <a:gdLst>
                <a:gd name="connsiteX0" fmla="*/ 204825 w 256006"/>
                <a:gd name="connsiteY0" fmla="*/ 139813 h 256006"/>
                <a:gd name="connsiteX1" fmla="*/ 127213 w 256006"/>
                <a:gd name="connsiteY1" fmla="*/ 139813 h 256006"/>
                <a:gd name="connsiteX2" fmla="*/ 115313 w 256006"/>
                <a:gd name="connsiteY2" fmla="*/ 127923 h 256006"/>
                <a:gd name="connsiteX3" fmla="*/ 115313 w 256006"/>
                <a:gd name="connsiteY3" fmla="*/ 50301 h 256006"/>
                <a:gd name="connsiteX4" fmla="*/ 127203 w 256006"/>
                <a:gd name="connsiteY4" fmla="*/ 38411 h 256006"/>
                <a:gd name="connsiteX5" fmla="*/ 139093 w 256006"/>
                <a:gd name="connsiteY5" fmla="*/ 50301 h 256006"/>
                <a:gd name="connsiteX6" fmla="*/ 139093 w 256006"/>
                <a:gd name="connsiteY6" fmla="*/ 116003 h 256006"/>
                <a:gd name="connsiteX7" fmla="*/ 204825 w 256006"/>
                <a:gd name="connsiteY7" fmla="*/ 116003 h 256006"/>
                <a:gd name="connsiteX8" fmla="*/ 216715 w 256006"/>
                <a:gd name="connsiteY8" fmla="*/ 127893 h 256006"/>
                <a:gd name="connsiteX9" fmla="*/ 204825 w 256006"/>
                <a:gd name="connsiteY9" fmla="*/ 139783 h 256006"/>
                <a:gd name="connsiteX10" fmla="*/ 204825 w 256006"/>
                <a:gd name="connsiteY10" fmla="*/ 139813 h 256006"/>
                <a:gd name="connsiteX11" fmla="*/ 128003 w 256006"/>
                <a:gd name="connsiteY11" fmla="*/ 0 h 256006"/>
                <a:gd name="connsiteX12" fmla="*/ 0 w 256006"/>
                <a:gd name="connsiteY12" fmla="*/ 128003 h 256006"/>
                <a:gd name="connsiteX13" fmla="*/ 128003 w 256006"/>
                <a:gd name="connsiteY13" fmla="*/ 256006 h 256006"/>
                <a:gd name="connsiteX14" fmla="*/ 256006 w 256006"/>
                <a:gd name="connsiteY14" fmla="*/ 128003 h 256006"/>
                <a:gd name="connsiteX15" fmla="*/ 128003 w 256006"/>
                <a:gd name="connsiteY15" fmla="*/ 0 h 25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006" h="256006">
                  <a:moveTo>
                    <a:pt x="204825" y="139813"/>
                  </a:moveTo>
                  <a:lnTo>
                    <a:pt x="127213" y="139813"/>
                  </a:lnTo>
                  <a:cubicBezTo>
                    <a:pt x="120642" y="139819"/>
                    <a:pt x="115313" y="134494"/>
                    <a:pt x="115313" y="127923"/>
                  </a:cubicBezTo>
                  <a:lnTo>
                    <a:pt x="115313" y="50301"/>
                  </a:lnTo>
                  <a:cubicBezTo>
                    <a:pt x="115313" y="43734"/>
                    <a:pt x="120636" y="38411"/>
                    <a:pt x="127203" y="38411"/>
                  </a:cubicBezTo>
                  <a:cubicBezTo>
                    <a:pt x="133770" y="38411"/>
                    <a:pt x="139093" y="43734"/>
                    <a:pt x="139093" y="50301"/>
                  </a:cubicBezTo>
                  <a:lnTo>
                    <a:pt x="139093" y="116003"/>
                  </a:lnTo>
                  <a:lnTo>
                    <a:pt x="204825" y="116003"/>
                  </a:lnTo>
                  <a:cubicBezTo>
                    <a:pt x="211392" y="116003"/>
                    <a:pt x="216715" y="121326"/>
                    <a:pt x="216715" y="127893"/>
                  </a:cubicBezTo>
                  <a:cubicBezTo>
                    <a:pt x="216715" y="134460"/>
                    <a:pt x="211392" y="139783"/>
                    <a:pt x="204825" y="139783"/>
                  </a:cubicBezTo>
                  <a:lnTo>
                    <a:pt x="204825" y="139813"/>
                  </a:lnTo>
                  <a:moveTo>
                    <a:pt x="128003" y="0"/>
                  </a:moveTo>
                  <a:cubicBezTo>
                    <a:pt x="57309" y="0"/>
                    <a:pt x="0" y="57309"/>
                    <a:pt x="0" y="128003"/>
                  </a:cubicBezTo>
                  <a:cubicBezTo>
                    <a:pt x="0" y="198697"/>
                    <a:pt x="57309" y="256006"/>
                    <a:pt x="128003" y="256006"/>
                  </a:cubicBezTo>
                  <a:cubicBezTo>
                    <a:pt x="198697" y="256006"/>
                    <a:pt x="256006" y="198697"/>
                    <a:pt x="256006" y="128003"/>
                  </a:cubicBezTo>
                  <a:cubicBezTo>
                    <a:pt x="256006" y="57309"/>
                    <a:pt x="198697" y="0"/>
                    <a:pt x="128003" y="0"/>
                  </a:cubicBezTo>
                </a:path>
              </a:pathLst>
            </a:custGeom>
            <a:solidFill>
              <a:schemeClr val="accent1"/>
            </a:solidFill>
            <a:ln w="9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5590154" y="1683692"/>
            <a:ext cx="49472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200" b="1" dirty="0">
                <a:solidFill>
                  <a:schemeClr val="accent1"/>
                </a:solidFill>
                <a:latin typeface="+mn-ea"/>
              </a:rPr>
              <a:t>个人介绍</a:t>
            </a:r>
            <a:endParaRPr kumimoji="1" lang="en-US" altLang="zh-CN" sz="7200" b="1" dirty="0">
              <a:solidFill>
                <a:schemeClr val="accent1"/>
              </a:solidFill>
              <a:latin typeface="+mn-ea"/>
            </a:endParaRPr>
          </a:p>
          <a:p>
            <a:r>
              <a:rPr kumimoji="1" lang="en-GB" altLang="zh-CN" sz="3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Self-introduction</a:t>
            </a:r>
            <a:endParaRPr kumimoji="1" lang="en-GB" altLang="zh-CN" sz="3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61" name="组合 60"/>
          <p:cNvGrpSpPr/>
          <p:nvPr/>
        </p:nvGrpSpPr>
        <p:grpSpPr>
          <a:xfrm flipH="1" flipV="1">
            <a:off x="11589615" y="6303377"/>
            <a:ext cx="451913" cy="440249"/>
            <a:chOff x="150471" y="92597"/>
            <a:chExt cx="451913" cy="440249"/>
          </a:xfrm>
        </p:grpSpPr>
        <p:sp>
          <p:nvSpPr>
            <p:cNvPr id="62" name="矩形 61"/>
            <p:cNvSpPr/>
            <p:nvPr/>
          </p:nvSpPr>
          <p:spPr>
            <a:xfrm>
              <a:off x="150471" y="92597"/>
              <a:ext cx="127321" cy="1273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312767" y="92597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475063" y="92597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150471" y="249061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312767" y="249061"/>
              <a:ext cx="127321" cy="12732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475063" y="249061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150471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312767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475063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" name="任意形状 23"/>
          <p:cNvSpPr/>
          <p:nvPr/>
        </p:nvSpPr>
        <p:spPr>
          <a:xfrm>
            <a:off x="834154" y="9018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0000">
                <a:schemeClr val="accent1">
                  <a:lumMod val="20000"/>
                  <a:lumOff val="80000"/>
                  <a:alpha val="2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5" name="任意形状 14"/>
          <p:cNvSpPr/>
          <p:nvPr/>
        </p:nvSpPr>
        <p:spPr>
          <a:xfrm>
            <a:off x="12922" y="0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50000">
                <a:schemeClr val="accent1">
                  <a:alpha val="95000"/>
                </a:schemeClr>
              </a:gs>
              <a:gs pos="99000">
                <a:schemeClr val="accent1">
                  <a:alpha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755548" y="2185691"/>
            <a:ext cx="2470485" cy="2486619"/>
            <a:chOff x="755548" y="2304350"/>
            <a:chExt cx="2470485" cy="2486619"/>
          </a:xfrm>
        </p:grpSpPr>
        <p:sp>
          <p:nvSpPr>
            <p:cNvPr id="26" name="文本框 25"/>
            <p:cNvSpPr txBox="1"/>
            <p:nvPr/>
          </p:nvSpPr>
          <p:spPr>
            <a:xfrm>
              <a:off x="755548" y="2304350"/>
              <a:ext cx="2470485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3800" b="1" dirty="0">
                  <a:solidFill>
                    <a:schemeClr val="bg1"/>
                  </a:solidFill>
                </a:rPr>
                <a:t>01</a:t>
              </a:r>
              <a:endParaRPr kumimoji="1" lang="zh-CN" altLang="en-US" sz="138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891888" y="4267749"/>
              <a:ext cx="21978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PART</a:t>
              </a:r>
              <a:r>
                <a:rPr kumimoji="1" lang="zh-CN" altLang="en-US" sz="28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ONE</a:t>
              </a:r>
              <a:endParaRPr kumimoji="1"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cxnSp>
        <p:nvCxnSpPr>
          <p:cNvPr id="30" name="直线连接符 29"/>
          <p:cNvCxnSpPr/>
          <p:nvPr/>
        </p:nvCxnSpPr>
        <p:spPr>
          <a:xfrm>
            <a:off x="5834743" y="3773714"/>
            <a:ext cx="57548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431315" y="4149090"/>
            <a:ext cx="3106057" cy="1308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个人信息</a:t>
            </a:r>
            <a:endParaRPr kumimoji="1" lang="en-US" altLang="zh-CN" sz="28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荣誉奖项</a:t>
            </a:r>
            <a:endParaRPr kumimoji="1" lang="zh-CN" altLang="en-US" sz="2800"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-2" y="1537960"/>
            <a:ext cx="2703742" cy="921872"/>
            <a:chOff x="-2" y="1537960"/>
            <a:chExt cx="2703742" cy="921872"/>
          </a:xfrm>
        </p:grpSpPr>
        <p:sp>
          <p:nvSpPr>
            <p:cNvPr id="10" name="矩形 9"/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图形 15"/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bg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</p:grpSpPr>
        <p:sp>
          <p:nvSpPr>
            <p:cNvPr id="21" name="任意形状 20"/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/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/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/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/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930467" y="212442"/>
            <a:ext cx="1712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个人信息</a:t>
            </a:r>
            <a:endParaRPr kumimoji="1" lang="zh-CN" altLang="en-US" sz="2400" b="1" dirty="0"/>
          </a:p>
        </p:txBody>
      </p:sp>
      <p:cxnSp>
        <p:nvCxnSpPr>
          <p:cNvPr id="31" name="直线连接符 30"/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/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/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/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/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7" name="矩形 36"/>
          <p:cNvSpPr/>
          <p:nvPr/>
        </p:nvSpPr>
        <p:spPr>
          <a:xfrm>
            <a:off x="3018746" y="1121379"/>
            <a:ext cx="9022782" cy="1550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 cstate="email"/>
          <a:srcRect/>
          <a:stretch>
            <a:fillRect/>
          </a:stretch>
        </p:blipFill>
        <p:spPr>
          <a:xfrm>
            <a:off x="10227938" y="968916"/>
            <a:ext cx="1353781" cy="184606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</p:pic>
      <p:sp>
        <p:nvSpPr>
          <p:cNvPr id="39" name="文本框 38"/>
          <p:cNvSpPr txBox="1"/>
          <p:nvPr/>
        </p:nvSpPr>
        <p:spPr>
          <a:xfrm>
            <a:off x="3092267" y="2097888"/>
            <a:ext cx="1463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基本信息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40" name="图形 20" descr="基本资料"/>
          <p:cNvSpPr/>
          <p:nvPr/>
        </p:nvSpPr>
        <p:spPr>
          <a:xfrm>
            <a:off x="3357520" y="1506975"/>
            <a:ext cx="570626" cy="496196"/>
          </a:xfrm>
          <a:custGeom>
            <a:avLst/>
            <a:gdLst>
              <a:gd name="connsiteX0" fmla="*/ 299202 w 331526"/>
              <a:gd name="connsiteY0" fmla="*/ 0 h 288283"/>
              <a:gd name="connsiteX1" fmla="*/ 331526 w 331526"/>
              <a:gd name="connsiteY1" fmla="*/ 30345 h 288283"/>
              <a:gd name="connsiteX2" fmla="*/ 331526 w 331526"/>
              <a:gd name="connsiteY2" fmla="*/ 257938 h 288283"/>
              <a:gd name="connsiteX3" fmla="*/ 299202 w 331526"/>
              <a:gd name="connsiteY3" fmla="*/ 288283 h 288283"/>
              <a:gd name="connsiteX4" fmla="*/ 32323 w 331526"/>
              <a:gd name="connsiteY4" fmla="*/ 288283 h 288283"/>
              <a:gd name="connsiteX5" fmla="*/ 0 w 331526"/>
              <a:gd name="connsiteY5" fmla="*/ 257938 h 288283"/>
              <a:gd name="connsiteX6" fmla="*/ 0 w 331526"/>
              <a:gd name="connsiteY6" fmla="*/ 30345 h 288283"/>
              <a:gd name="connsiteX7" fmla="*/ 32323 w 331526"/>
              <a:gd name="connsiteY7" fmla="*/ 0 h 288283"/>
              <a:gd name="connsiteX8" fmla="*/ 299202 w 331526"/>
              <a:gd name="connsiteY8" fmla="*/ 0 h 288283"/>
              <a:gd name="connsiteX9" fmla="*/ 110854 w 331526"/>
              <a:gd name="connsiteY9" fmla="*/ 60693 h 288283"/>
              <a:gd name="connsiteX10" fmla="*/ 70449 w 331526"/>
              <a:gd name="connsiteY10" fmla="*/ 98624 h 288283"/>
              <a:gd name="connsiteX11" fmla="*/ 110854 w 331526"/>
              <a:gd name="connsiteY11" fmla="*/ 136557 h 288283"/>
              <a:gd name="connsiteX12" fmla="*/ 151259 w 331526"/>
              <a:gd name="connsiteY12" fmla="*/ 98624 h 288283"/>
              <a:gd name="connsiteX13" fmla="*/ 110854 w 331526"/>
              <a:gd name="connsiteY13" fmla="*/ 60693 h 288283"/>
              <a:gd name="connsiteX14" fmla="*/ 183583 w 331526"/>
              <a:gd name="connsiteY14" fmla="*/ 227593 h 288283"/>
              <a:gd name="connsiteX15" fmla="*/ 183583 w 331526"/>
              <a:gd name="connsiteY15" fmla="*/ 197247 h 288283"/>
              <a:gd name="connsiteX16" fmla="*/ 135097 w 331526"/>
              <a:gd name="connsiteY16" fmla="*/ 151727 h 288283"/>
              <a:gd name="connsiteX17" fmla="*/ 86612 w 331526"/>
              <a:gd name="connsiteY17" fmla="*/ 151727 h 288283"/>
              <a:gd name="connsiteX18" fmla="*/ 38126 w 331526"/>
              <a:gd name="connsiteY18" fmla="*/ 197247 h 288283"/>
              <a:gd name="connsiteX19" fmla="*/ 38126 w 331526"/>
              <a:gd name="connsiteY19" fmla="*/ 227593 h 288283"/>
              <a:gd name="connsiteX20" fmla="*/ 183583 w 331526"/>
              <a:gd name="connsiteY20" fmla="*/ 227593 h 288283"/>
              <a:gd name="connsiteX21" fmla="*/ 218507 w 331526"/>
              <a:gd name="connsiteY21" fmla="*/ 75857 h 288283"/>
              <a:gd name="connsiteX22" fmla="*/ 210971 w 331526"/>
              <a:gd name="connsiteY22" fmla="*/ 83391 h 288283"/>
              <a:gd name="connsiteX23" fmla="*/ 210971 w 331526"/>
              <a:gd name="connsiteY23" fmla="*/ 91081 h 288283"/>
              <a:gd name="connsiteX24" fmla="*/ 218507 w 331526"/>
              <a:gd name="connsiteY24" fmla="*/ 98616 h 288283"/>
              <a:gd name="connsiteX25" fmla="*/ 278782 w 331526"/>
              <a:gd name="connsiteY25" fmla="*/ 98616 h 288283"/>
              <a:gd name="connsiteX26" fmla="*/ 286318 w 331526"/>
              <a:gd name="connsiteY26" fmla="*/ 91081 h 288283"/>
              <a:gd name="connsiteX27" fmla="*/ 286318 w 331526"/>
              <a:gd name="connsiteY27" fmla="*/ 83391 h 288283"/>
              <a:gd name="connsiteX28" fmla="*/ 278782 w 331526"/>
              <a:gd name="connsiteY28" fmla="*/ 75857 h 288283"/>
              <a:gd name="connsiteX29" fmla="*/ 218507 w 331526"/>
              <a:gd name="connsiteY29" fmla="*/ 75857 h 288283"/>
              <a:gd name="connsiteX30" fmla="*/ 218507 w 331526"/>
              <a:gd name="connsiteY30" fmla="*/ 136548 h 288283"/>
              <a:gd name="connsiteX31" fmla="*/ 210971 w 331526"/>
              <a:gd name="connsiteY31" fmla="*/ 144082 h 288283"/>
              <a:gd name="connsiteX32" fmla="*/ 210971 w 331526"/>
              <a:gd name="connsiteY32" fmla="*/ 151772 h 288283"/>
              <a:gd name="connsiteX33" fmla="*/ 218507 w 331526"/>
              <a:gd name="connsiteY33" fmla="*/ 159308 h 288283"/>
              <a:gd name="connsiteX34" fmla="*/ 278782 w 331526"/>
              <a:gd name="connsiteY34" fmla="*/ 159308 h 288283"/>
              <a:gd name="connsiteX35" fmla="*/ 286318 w 331526"/>
              <a:gd name="connsiteY35" fmla="*/ 151772 h 288283"/>
              <a:gd name="connsiteX36" fmla="*/ 286318 w 331526"/>
              <a:gd name="connsiteY36" fmla="*/ 144082 h 288283"/>
              <a:gd name="connsiteX37" fmla="*/ 278782 w 331526"/>
              <a:gd name="connsiteY37" fmla="*/ 136548 h 288283"/>
              <a:gd name="connsiteX38" fmla="*/ 218507 w 331526"/>
              <a:gd name="connsiteY38" fmla="*/ 136548 h 288283"/>
              <a:gd name="connsiteX39" fmla="*/ 218507 w 331526"/>
              <a:gd name="connsiteY39" fmla="*/ 197240 h 288283"/>
              <a:gd name="connsiteX40" fmla="*/ 210971 w 331526"/>
              <a:gd name="connsiteY40" fmla="*/ 204774 h 288283"/>
              <a:gd name="connsiteX41" fmla="*/ 210971 w 331526"/>
              <a:gd name="connsiteY41" fmla="*/ 212463 h 288283"/>
              <a:gd name="connsiteX42" fmla="*/ 218507 w 331526"/>
              <a:gd name="connsiteY42" fmla="*/ 219998 h 288283"/>
              <a:gd name="connsiteX43" fmla="*/ 278782 w 331526"/>
              <a:gd name="connsiteY43" fmla="*/ 219998 h 288283"/>
              <a:gd name="connsiteX44" fmla="*/ 286318 w 331526"/>
              <a:gd name="connsiteY44" fmla="*/ 212463 h 288283"/>
              <a:gd name="connsiteX45" fmla="*/ 286318 w 331526"/>
              <a:gd name="connsiteY45" fmla="*/ 204774 h 288283"/>
              <a:gd name="connsiteX46" fmla="*/ 278782 w 331526"/>
              <a:gd name="connsiteY46" fmla="*/ 197240 h 288283"/>
              <a:gd name="connsiteX47" fmla="*/ 218507 w 331526"/>
              <a:gd name="connsiteY47" fmla="*/ 197240 h 28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31526" h="288283">
                <a:moveTo>
                  <a:pt x="299202" y="0"/>
                </a:moveTo>
                <a:cubicBezTo>
                  <a:pt x="316980" y="0"/>
                  <a:pt x="331526" y="13657"/>
                  <a:pt x="331526" y="30345"/>
                </a:cubicBezTo>
                <a:lnTo>
                  <a:pt x="331526" y="257938"/>
                </a:lnTo>
                <a:cubicBezTo>
                  <a:pt x="331526" y="274626"/>
                  <a:pt x="316980" y="288283"/>
                  <a:pt x="299202" y="288283"/>
                </a:cubicBezTo>
                <a:lnTo>
                  <a:pt x="32323" y="288283"/>
                </a:lnTo>
                <a:cubicBezTo>
                  <a:pt x="14546" y="288283"/>
                  <a:pt x="0" y="274626"/>
                  <a:pt x="0" y="257938"/>
                </a:cubicBezTo>
                <a:lnTo>
                  <a:pt x="0" y="30345"/>
                </a:lnTo>
                <a:cubicBezTo>
                  <a:pt x="0" y="13657"/>
                  <a:pt x="14546" y="0"/>
                  <a:pt x="32323" y="0"/>
                </a:cubicBezTo>
                <a:lnTo>
                  <a:pt x="299202" y="0"/>
                </a:lnTo>
                <a:moveTo>
                  <a:pt x="110854" y="60693"/>
                </a:moveTo>
                <a:cubicBezTo>
                  <a:pt x="88229" y="60693"/>
                  <a:pt x="70449" y="77382"/>
                  <a:pt x="70449" y="98624"/>
                </a:cubicBezTo>
                <a:cubicBezTo>
                  <a:pt x="70449" y="119864"/>
                  <a:pt x="88229" y="136557"/>
                  <a:pt x="110854" y="136557"/>
                </a:cubicBezTo>
                <a:cubicBezTo>
                  <a:pt x="133481" y="136557"/>
                  <a:pt x="151259" y="119864"/>
                  <a:pt x="151259" y="98624"/>
                </a:cubicBezTo>
                <a:cubicBezTo>
                  <a:pt x="151259" y="77382"/>
                  <a:pt x="133481" y="60693"/>
                  <a:pt x="110854" y="60693"/>
                </a:cubicBezTo>
                <a:moveTo>
                  <a:pt x="183583" y="227593"/>
                </a:moveTo>
                <a:lnTo>
                  <a:pt x="183583" y="197247"/>
                </a:lnTo>
                <a:cubicBezTo>
                  <a:pt x="183583" y="172211"/>
                  <a:pt x="161765" y="151727"/>
                  <a:pt x="135097" y="151727"/>
                </a:cubicBezTo>
                <a:lnTo>
                  <a:pt x="86612" y="151727"/>
                </a:lnTo>
                <a:cubicBezTo>
                  <a:pt x="59945" y="151727"/>
                  <a:pt x="38126" y="172211"/>
                  <a:pt x="38126" y="197247"/>
                </a:cubicBezTo>
                <a:lnTo>
                  <a:pt x="38126" y="227593"/>
                </a:lnTo>
                <a:lnTo>
                  <a:pt x="183583" y="227593"/>
                </a:lnTo>
                <a:moveTo>
                  <a:pt x="218507" y="75857"/>
                </a:moveTo>
                <a:cubicBezTo>
                  <a:pt x="214345" y="75857"/>
                  <a:pt x="210971" y="79230"/>
                  <a:pt x="210971" y="83391"/>
                </a:cubicBezTo>
                <a:lnTo>
                  <a:pt x="210971" y="91081"/>
                </a:lnTo>
                <a:cubicBezTo>
                  <a:pt x="210971" y="95242"/>
                  <a:pt x="214345" y="98616"/>
                  <a:pt x="218507" y="98616"/>
                </a:cubicBezTo>
                <a:lnTo>
                  <a:pt x="278782" y="98616"/>
                </a:lnTo>
                <a:cubicBezTo>
                  <a:pt x="282944" y="98616"/>
                  <a:pt x="286318" y="95242"/>
                  <a:pt x="286318" y="91081"/>
                </a:cubicBezTo>
                <a:lnTo>
                  <a:pt x="286318" y="83391"/>
                </a:lnTo>
                <a:cubicBezTo>
                  <a:pt x="286318" y="79230"/>
                  <a:pt x="282944" y="75857"/>
                  <a:pt x="278782" y="75857"/>
                </a:cubicBezTo>
                <a:lnTo>
                  <a:pt x="218507" y="75857"/>
                </a:lnTo>
                <a:moveTo>
                  <a:pt x="218507" y="136548"/>
                </a:moveTo>
                <a:cubicBezTo>
                  <a:pt x="214345" y="136548"/>
                  <a:pt x="210971" y="139921"/>
                  <a:pt x="210971" y="144082"/>
                </a:cubicBezTo>
                <a:lnTo>
                  <a:pt x="210971" y="151772"/>
                </a:lnTo>
                <a:cubicBezTo>
                  <a:pt x="210971" y="155934"/>
                  <a:pt x="214345" y="159308"/>
                  <a:pt x="218507" y="159308"/>
                </a:cubicBezTo>
                <a:lnTo>
                  <a:pt x="278782" y="159308"/>
                </a:lnTo>
                <a:cubicBezTo>
                  <a:pt x="282944" y="159308"/>
                  <a:pt x="286318" y="155934"/>
                  <a:pt x="286318" y="151772"/>
                </a:cubicBezTo>
                <a:lnTo>
                  <a:pt x="286318" y="144082"/>
                </a:lnTo>
                <a:cubicBezTo>
                  <a:pt x="286318" y="139921"/>
                  <a:pt x="282944" y="136548"/>
                  <a:pt x="278782" y="136548"/>
                </a:cubicBezTo>
                <a:lnTo>
                  <a:pt x="218507" y="136548"/>
                </a:lnTo>
                <a:moveTo>
                  <a:pt x="218507" y="197240"/>
                </a:moveTo>
                <a:cubicBezTo>
                  <a:pt x="214345" y="197240"/>
                  <a:pt x="210971" y="200613"/>
                  <a:pt x="210971" y="204774"/>
                </a:cubicBezTo>
                <a:lnTo>
                  <a:pt x="210971" y="212463"/>
                </a:lnTo>
                <a:cubicBezTo>
                  <a:pt x="210971" y="216626"/>
                  <a:pt x="214345" y="219998"/>
                  <a:pt x="218507" y="219998"/>
                </a:cubicBezTo>
                <a:lnTo>
                  <a:pt x="278782" y="219998"/>
                </a:lnTo>
                <a:cubicBezTo>
                  <a:pt x="282944" y="219998"/>
                  <a:pt x="286318" y="216626"/>
                  <a:pt x="286318" y="212463"/>
                </a:cubicBezTo>
                <a:lnTo>
                  <a:pt x="286318" y="204774"/>
                </a:lnTo>
                <a:cubicBezTo>
                  <a:pt x="286318" y="200613"/>
                  <a:pt x="282944" y="197240"/>
                  <a:pt x="278782" y="197240"/>
                </a:cubicBezTo>
                <a:lnTo>
                  <a:pt x="218507" y="197240"/>
                </a:lnTo>
              </a:path>
            </a:pathLst>
          </a:custGeom>
          <a:solidFill>
            <a:schemeClr val="bg1"/>
          </a:solidFill>
          <a:ln w="126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2" name="文本框 58"/>
          <p:cNvSpPr txBox="1">
            <a:spLocks noChangeArrowheads="1"/>
          </p:cNvSpPr>
          <p:nvPr/>
        </p:nvSpPr>
        <p:spPr bwMode="auto">
          <a:xfrm>
            <a:off x="4418200" y="1222082"/>
            <a:ext cx="2625375" cy="13982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just" rtl="0" eaLnBrk="1" fontAlgn="auto" latinLnBrk="0" hangingPunct="1">
              <a:lnSpc>
                <a:spcPct val="150000"/>
              </a:lnSpc>
            </a:pPr>
            <a:r>
              <a:rPr lang="en-US" altLang="zh-CN" kern="1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姓    名：陈飞扬</a:t>
            </a:r>
            <a:endParaRPr lang="en-US" altLang="zh-CN" kern="100" dirty="0" err="1">
              <a:solidFill>
                <a:schemeClr val="bg1"/>
              </a:solidFill>
              <a:latin typeface="微软雅黑"/>
              <a:ea typeface="微软雅黑"/>
              <a:cs typeface="微软雅黑"/>
              <a:sym typeface="Times New Roman" panose="02020503050405090304"/>
            </a:endParaRPr>
          </a:p>
          <a:p>
            <a:pPr algn="just" rtl="0" eaLnBrk="1" fontAlgn="auto" latinLnBrk="0" hangingPunct="1">
              <a:lnSpc>
                <a:spcPct val="150000"/>
              </a:lnSpc>
            </a:pPr>
            <a:r>
              <a:rPr lang="en-US" altLang="zh-CN" kern="1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性    别：男</a:t>
            </a:r>
            <a:endParaRPr lang="en-US" altLang="zh-CN" kern="100" dirty="0" err="1">
              <a:solidFill>
                <a:schemeClr val="bg1"/>
              </a:solidFill>
              <a:latin typeface="微软雅黑"/>
              <a:ea typeface="微软雅黑"/>
              <a:cs typeface="微软雅黑"/>
              <a:sym typeface="Times New Roman" panose="02020503050405090304"/>
            </a:endParaRPr>
          </a:p>
          <a:p>
            <a:pPr algn="just" rtl="0" eaLnBrk="1" fontAlgn="auto" latinLnBrk="0" hangingPunct="1">
              <a:lnSpc>
                <a:spcPct val="150000"/>
              </a:lnSpc>
            </a:pPr>
            <a:r>
              <a:rPr lang="en-US" altLang="zh-CN" kern="1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民    族：汉族</a:t>
            </a:r>
            <a:endParaRPr lang="en-US" altLang="zh-CN" kern="100" dirty="0" err="1">
              <a:solidFill>
                <a:schemeClr val="bg1"/>
              </a:solidFill>
              <a:latin typeface="微软雅黑"/>
              <a:ea typeface="微软雅黑"/>
              <a:cs typeface="微软雅黑"/>
              <a:sym typeface="Times New Roman" panose="02020503050405090304"/>
            </a:endParaRPr>
          </a:p>
        </p:txBody>
      </p:sp>
      <p:sp>
        <p:nvSpPr>
          <p:cNvPr id="43" name="文本框 58"/>
          <p:cNvSpPr txBox="1">
            <a:spLocks noChangeArrowheads="1"/>
          </p:cNvSpPr>
          <p:nvPr/>
        </p:nvSpPr>
        <p:spPr bwMode="auto">
          <a:xfrm>
            <a:off x="6978859" y="1222082"/>
            <a:ext cx="2928339" cy="13982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just" rtl="0" eaLnBrk="1" fontAlgn="auto" latinLnBrk="0" hangingPunct="1">
              <a:lnSpc>
                <a:spcPct val="150000"/>
              </a:lnSpc>
            </a:pPr>
            <a:r>
              <a:rPr lang="zh-CN" altLang="en-US" kern="1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出生年月：2004.12</a:t>
            </a:r>
            <a:endParaRPr lang="zh-CN" altLang="en-US" kern="100" dirty="0">
              <a:solidFill>
                <a:schemeClr val="bg1"/>
              </a:solidFill>
              <a:latin typeface="微软雅黑"/>
              <a:ea typeface="微软雅黑"/>
              <a:cs typeface="微软雅黑"/>
              <a:sym typeface="Times New Roman" panose="02020503050405090304"/>
            </a:endParaRPr>
          </a:p>
          <a:p>
            <a:pPr algn="just" rtl="0" eaLnBrk="1" fontAlgn="auto" latinLnBrk="0" hangingPunct="1">
              <a:lnSpc>
                <a:spcPct val="150000"/>
              </a:lnSpc>
            </a:pPr>
            <a:r>
              <a:rPr lang="zh-CN" altLang="en-US" kern="1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政治面貌：中共党员</a:t>
            </a:r>
            <a:endParaRPr lang="zh-CN" altLang="en-US" kern="100" dirty="0">
              <a:solidFill>
                <a:schemeClr val="bg1"/>
              </a:solidFill>
              <a:latin typeface="微软雅黑"/>
              <a:ea typeface="微软雅黑"/>
              <a:cs typeface="微软雅黑"/>
              <a:sym typeface="Times New Roman" panose="02020503050405090304"/>
            </a:endParaRPr>
          </a:p>
          <a:p>
            <a:pPr algn="just" rtl="0" eaLnBrk="1" fontAlgn="auto" latinLnBrk="0" hangingPunct="1">
              <a:lnSpc>
                <a:spcPct val="150000"/>
              </a:lnSpc>
            </a:pPr>
            <a:r>
              <a:rPr lang="zh-CN" altLang="en-US" kern="1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籍    贯：湖北黄冈</a:t>
            </a:r>
            <a:endParaRPr lang="zh-CN" altLang="en-US" kern="100" dirty="0">
              <a:solidFill>
                <a:schemeClr val="bg1"/>
              </a:solidFill>
              <a:latin typeface="微软雅黑"/>
              <a:ea typeface="微软雅黑"/>
              <a:cs typeface="微软雅黑"/>
              <a:sym typeface="Times New Roman" panose="02020503050405090304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122295" y="4490085"/>
            <a:ext cx="8622665" cy="2273300"/>
          </a:xfrm>
          <a:prstGeom prst="rect">
            <a:avLst/>
          </a:prstGeom>
          <a:solidFill>
            <a:schemeClr val="accent1">
              <a:lumMod val="20000"/>
              <a:lumOff val="8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 dirty="0"/>
          </a:p>
        </p:txBody>
      </p:sp>
      <p:grpSp>
        <p:nvGrpSpPr>
          <p:cNvPr id="2" name="组合 1"/>
          <p:cNvGrpSpPr/>
          <p:nvPr/>
        </p:nvGrpSpPr>
        <p:grpSpPr>
          <a:xfrm>
            <a:off x="3559175" y="4538345"/>
            <a:ext cx="7531735" cy="369570"/>
            <a:chOff x="5605" y="5882"/>
            <a:chExt cx="11861" cy="582"/>
          </a:xfrm>
        </p:grpSpPr>
        <p:sp>
          <p:nvSpPr>
            <p:cNvPr id="47" name="文本框 46"/>
            <p:cNvSpPr txBox="1"/>
            <p:nvPr/>
          </p:nvSpPr>
          <p:spPr>
            <a:xfrm>
              <a:off x="6219" y="5882"/>
              <a:ext cx="2145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学业经历</a:t>
              </a:r>
              <a:endPara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48" name="直接连接符 19"/>
            <p:cNvCxnSpPr/>
            <p:nvPr/>
          </p:nvCxnSpPr>
          <p:spPr>
            <a:xfrm>
              <a:off x="8212" y="6172"/>
              <a:ext cx="9255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图形 21" descr="工作"/>
            <p:cNvSpPr/>
            <p:nvPr/>
          </p:nvSpPr>
          <p:spPr>
            <a:xfrm>
              <a:off x="5605" y="5930"/>
              <a:ext cx="522" cy="485"/>
            </a:xfrm>
            <a:custGeom>
              <a:avLst/>
              <a:gdLst>
                <a:gd name="connsiteX0" fmla="*/ 206207 w 331525"/>
                <a:gd name="connsiteY0" fmla="*/ 185513 h 307761"/>
                <a:gd name="connsiteX1" fmla="*/ 206207 w 331525"/>
                <a:gd name="connsiteY1" fmla="*/ 190909 h 307761"/>
                <a:gd name="connsiteX2" fmla="*/ 199728 w 331525"/>
                <a:gd name="connsiteY2" fmla="*/ 197422 h 307761"/>
                <a:gd name="connsiteX3" fmla="*/ 132535 w 331525"/>
                <a:gd name="connsiteY3" fmla="*/ 197422 h 307761"/>
                <a:gd name="connsiteX4" fmla="*/ 126056 w 331525"/>
                <a:gd name="connsiteY4" fmla="*/ 190909 h 307761"/>
                <a:gd name="connsiteX5" fmla="*/ 126056 w 331525"/>
                <a:gd name="connsiteY5" fmla="*/ 185513 h 307761"/>
                <a:gd name="connsiteX6" fmla="*/ 0 w 331525"/>
                <a:gd name="connsiteY6" fmla="*/ 185513 h 307761"/>
                <a:gd name="connsiteX7" fmla="*/ 0 w 331525"/>
                <a:gd name="connsiteY7" fmla="*/ 281154 h 307761"/>
                <a:gd name="connsiteX8" fmla="*/ 26285 w 331525"/>
                <a:gd name="connsiteY8" fmla="*/ 307762 h 307761"/>
                <a:gd name="connsiteX9" fmla="*/ 305239 w 331525"/>
                <a:gd name="connsiteY9" fmla="*/ 307762 h 307761"/>
                <a:gd name="connsiteX10" fmla="*/ 331522 w 331525"/>
                <a:gd name="connsiteY10" fmla="*/ 281154 h 307761"/>
                <a:gd name="connsiteX11" fmla="*/ 331522 w 331525"/>
                <a:gd name="connsiteY11" fmla="*/ 185513 h 307761"/>
                <a:gd name="connsiteX12" fmla="*/ 206207 w 331525"/>
                <a:gd name="connsiteY12" fmla="*/ 185513 h 307761"/>
                <a:gd name="connsiteX13" fmla="*/ 126056 w 331525"/>
                <a:gd name="connsiteY13" fmla="*/ 165790 h 307761"/>
                <a:gd name="connsiteX14" fmla="*/ 126056 w 331525"/>
                <a:gd name="connsiteY14" fmla="*/ 160394 h 307761"/>
                <a:gd name="connsiteX15" fmla="*/ 132535 w 331525"/>
                <a:gd name="connsiteY15" fmla="*/ 153881 h 307761"/>
                <a:gd name="connsiteX16" fmla="*/ 199728 w 331525"/>
                <a:gd name="connsiteY16" fmla="*/ 153881 h 307761"/>
                <a:gd name="connsiteX17" fmla="*/ 206207 w 331525"/>
                <a:gd name="connsiteY17" fmla="*/ 160394 h 307761"/>
                <a:gd name="connsiteX18" fmla="*/ 206207 w 331525"/>
                <a:gd name="connsiteY18" fmla="*/ 165790 h 307761"/>
                <a:gd name="connsiteX19" fmla="*/ 331525 w 331525"/>
                <a:gd name="connsiteY19" fmla="*/ 165790 h 307761"/>
                <a:gd name="connsiteX20" fmla="*/ 331522 w 331525"/>
                <a:gd name="connsiteY20" fmla="*/ 72754 h 307761"/>
                <a:gd name="connsiteX21" fmla="*/ 305424 w 331525"/>
                <a:gd name="connsiteY21" fmla="*/ 46146 h 307761"/>
                <a:gd name="connsiteX22" fmla="*/ 228419 w 331525"/>
                <a:gd name="connsiteY22" fmla="*/ 46146 h 307761"/>
                <a:gd name="connsiteX23" fmla="*/ 228419 w 331525"/>
                <a:gd name="connsiteY23" fmla="*/ 21398 h 307761"/>
                <a:gd name="connsiteX24" fmla="*/ 208984 w 331525"/>
                <a:gd name="connsiteY24" fmla="*/ 0 h 307761"/>
                <a:gd name="connsiteX25" fmla="*/ 122910 w 331525"/>
                <a:gd name="connsiteY25" fmla="*/ 0 h 307761"/>
                <a:gd name="connsiteX26" fmla="*/ 103474 w 331525"/>
                <a:gd name="connsiteY26" fmla="*/ 21398 h 307761"/>
                <a:gd name="connsiteX27" fmla="*/ 103474 w 331525"/>
                <a:gd name="connsiteY27" fmla="*/ 46146 h 307761"/>
                <a:gd name="connsiteX28" fmla="*/ 26285 w 331525"/>
                <a:gd name="connsiteY28" fmla="*/ 46146 h 307761"/>
                <a:gd name="connsiteX29" fmla="*/ 0 w 331525"/>
                <a:gd name="connsiteY29" fmla="*/ 72754 h 307761"/>
                <a:gd name="connsiteX30" fmla="*/ 0 w 331525"/>
                <a:gd name="connsiteY30" fmla="*/ 165790 h 307761"/>
                <a:gd name="connsiteX31" fmla="*/ 126056 w 331525"/>
                <a:gd name="connsiteY31" fmla="*/ 165790 h 307761"/>
                <a:gd name="connsiteX32" fmla="*/ 126797 w 331525"/>
                <a:gd name="connsiteY32" fmla="*/ 26794 h 307761"/>
                <a:gd name="connsiteX33" fmla="*/ 131609 w 331525"/>
                <a:gd name="connsiteY33" fmla="*/ 21957 h 307761"/>
                <a:gd name="connsiteX34" fmla="*/ 200099 w 331525"/>
                <a:gd name="connsiteY34" fmla="*/ 21957 h 307761"/>
                <a:gd name="connsiteX35" fmla="*/ 204911 w 331525"/>
                <a:gd name="connsiteY35" fmla="*/ 26794 h 307761"/>
                <a:gd name="connsiteX36" fmla="*/ 204911 w 331525"/>
                <a:gd name="connsiteY36" fmla="*/ 45960 h 307761"/>
                <a:gd name="connsiteX37" fmla="*/ 126797 w 331525"/>
                <a:gd name="connsiteY37" fmla="*/ 45960 h 307761"/>
                <a:gd name="connsiteX38" fmla="*/ 126797 w 331525"/>
                <a:gd name="connsiteY38" fmla="*/ 26794 h 307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31525" h="307761">
                  <a:moveTo>
                    <a:pt x="206207" y="185513"/>
                  </a:moveTo>
                  <a:lnTo>
                    <a:pt x="206207" y="190909"/>
                  </a:lnTo>
                  <a:cubicBezTo>
                    <a:pt x="206207" y="194445"/>
                    <a:pt x="203244" y="197422"/>
                    <a:pt x="199728" y="197422"/>
                  </a:cubicBezTo>
                  <a:lnTo>
                    <a:pt x="132535" y="197422"/>
                  </a:lnTo>
                  <a:cubicBezTo>
                    <a:pt x="129018" y="197422"/>
                    <a:pt x="126056" y="194445"/>
                    <a:pt x="126056" y="190909"/>
                  </a:cubicBezTo>
                  <a:lnTo>
                    <a:pt x="126056" y="185513"/>
                  </a:lnTo>
                  <a:lnTo>
                    <a:pt x="0" y="185513"/>
                  </a:lnTo>
                  <a:lnTo>
                    <a:pt x="0" y="281154"/>
                  </a:lnTo>
                  <a:cubicBezTo>
                    <a:pt x="0" y="295854"/>
                    <a:pt x="11847" y="307762"/>
                    <a:pt x="26285" y="307762"/>
                  </a:cubicBezTo>
                  <a:lnTo>
                    <a:pt x="305239" y="307762"/>
                  </a:lnTo>
                  <a:cubicBezTo>
                    <a:pt x="319862" y="307762"/>
                    <a:pt x="331522" y="295854"/>
                    <a:pt x="331522" y="281154"/>
                  </a:cubicBezTo>
                  <a:lnTo>
                    <a:pt x="331522" y="185513"/>
                  </a:lnTo>
                  <a:lnTo>
                    <a:pt x="206207" y="185513"/>
                  </a:lnTo>
                  <a:moveTo>
                    <a:pt x="126056" y="165790"/>
                  </a:moveTo>
                  <a:lnTo>
                    <a:pt x="126056" y="160394"/>
                  </a:lnTo>
                  <a:cubicBezTo>
                    <a:pt x="126056" y="156858"/>
                    <a:pt x="129018" y="153881"/>
                    <a:pt x="132535" y="153881"/>
                  </a:cubicBezTo>
                  <a:lnTo>
                    <a:pt x="199728" y="153881"/>
                  </a:lnTo>
                  <a:cubicBezTo>
                    <a:pt x="203244" y="153881"/>
                    <a:pt x="206207" y="156858"/>
                    <a:pt x="206207" y="160394"/>
                  </a:cubicBezTo>
                  <a:lnTo>
                    <a:pt x="206207" y="165790"/>
                  </a:lnTo>
                  <a:lnTo>
                    <a:pt x="331525" y="165790"/>
                  </a:lnTo>
                  <a:lnTo>
                    <a:pt x="331522" y="72754"/>
                  </a:lnTo>
                  <a:cubicBezTo>
                    <a:pt x="331708" y="58054"/>
                    <a:pt x="319862" y="46146"/>
                    <a:pt x="305424" y="46146"/>
                  </a:cubicBezTo>
                  <a:lnTo>
                    <a:pt x="228419" y="46146"/>
                  </a:lnTo>
                  <a:lnTo>
                    <a:pt x="228419" y="21398"/>
                  </a:lnTo>
                  <a:cubicBezTo>
                    <a:pt x="228419" y="10606"/>
                    <a:pt x="219719" y="0"/>
                    <a:pt x="208984" y="0"/>
                  </a:cubicBezTo>
                  <a:lnTo>
                    <a:pt x="122910" y="0"/>
                  </a:lnTo>
                  <a:cubicBezTo>
                    <a:pt x="112174" y="0"/>
                    <a:pt x="103474" y="10606"/>
                    <a:pt x="103474" y="21398"/>
                  </a:cubicBezTo>
                  <a:lnTo>
                    <a:pt x="103474" y="46146"/>
                  </a:lnTo>
                  <a:lnTo>
                    <a:pt x="26285" y="46146"/>
                  </a:lnTo>
                  <a:cubicBezTo>
                    <a:pt x="11847" y="46146"/>
                    <a:pt x="0" y="58054"/>
                    <a:pt x="0" y="72754"/>
                  </a:cubicBezTo>
                  <a:lnTo>
                    <a:pt x="0" y="165790"/>
                  </a:lnTo>
                  <a:lnTo>
                    <a:pt x="126056" y="165790"/>
                  </a:lnTo>
                  <a:moveTo>
                    <a:pt x="126797" y="26794"/>
                  </a:moveTo>
                  <a:cubicBezTo>
                    <a:pt x="126797" y="24189"/>
                    <a:pt x="128833" y="21957"/>
                    <a:pt x="131609" y="21957"/>
                  </a:cubicBezTo>
                  <a:lnTo>
                    <a:pt x="200099" y="21957"/>
                  </a:lnTo>
                  <a:cubicBezTo>
                    <a:pt x="202690" y="21957"/>
                    <a:pt x="204911" y="24003"/>
                    <a:pt x="204911" y="26794"/>
                  </a:cubicBezTo>
                  <a:lnTo>
                    <a:pt x="204911" y="45960"/>
                  </a:lnTo>
                  <a:lnTo>
                    <a:pt x="126797" y="45960"/>
                  </a:lnTo>
                  <a:lnTo>
                    <a:pt x="126797" y="26794"/>
                  </a:ln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0" name="文本框 55"/>
          <p:cNvSpPr txBox="1"/>
          <p:nvPr/>
        </p:nvSpPr>
        <p:spPr>
          <a:xfrm>
            <a:off x="3228975" y="4963795"/>
            <a:ext cx="8424545" cy="1501775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285750" indent="-285750" algn="just" rtl="0" eaLnBrk="1" fontAlgn="auto" latinLnBrk="0" hangingPunct="1">
              <a:lnSpc>
                <a:spcPts val="2500"/>
              </a:lnSpc>
              <a:buFont typeface="Arial" panose="020B0604020202090204" pitchFamily="34" charset="0"/>
              <a:buChar char="•"/>
            </a:pPr>
            <a:r>
              <a:rPr lang="zh-CN" altLang="en-US" sz="1600" b="1" kern="100" spc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核心课程</a:t>
            </a:r>
            <a:r>
              <a:rPr lang="zh-CN" altLang="en-US" sz="1600" kern="100" spc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：计算机组成原理（91）、数字逻辑与数字系统（90）、Python 数据分析与机器学习（90）</a:t>
            </a:r>
            <a:endParaRPr lang="en-US" altLang="zh-CN" sz="1600" kern="100" spc="0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Times New Roman" panose="02020503050405090304"/>
            </a:endParaRPr>
          </a:p>
          <a:p>
            <a:pPr marL="285750" indent="-285750" algn="just" rtl="0" eaLnBrk="1" fontAlgn="auto" latinLnBrk="0" hangingPunct="1">
              <a:lnSpc>
                <a:spcPts val="2500"/>
              </a:lnSpc>
              <a:buFont typeface="Arial" panose="020B0604020202090204" pitchFamily="34" charset="0"/>
              <a:buChar char="•"/>
            </a:pPr>
            <a:r>
              <a:rPr lang="zh-CN" altLang="en-US" sz="1600" b="1" kern="100" spc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英语水平</a:t>
            </a:r>
            <a:r>
              <a:rPr lang="zh-CN" altLang="en-US" sz="1600" kern="100" spc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：CET-4</a:t>
            </a:r>
            <a:endParaRPr lang="en-US" altLang="zh-CN" sz="1600" kern="100" spc="0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Times New Roman" panose="02020503050405090304"/>
            </a:endParaRPr>
          </a:p>
          <a:p>
            <a:pPr marL="285750" indent="-285750" algn="just" rtl="0" eaLnBrk="1" fontAlgn="auto" latinLnBrk="0" hangingPunct="1">
              <a:lnSpc>
                <a:spcPts val="2500"/>
              </a:lnSpc>
              <a:buFont typeface="Arial" panose="020B0604020202090204" pitchFamily="34" charset="0"/>
              <a:buChar char="•"/>
            </a:pPr>
            <a:r>
              <a:rPr lang="zh-CN" altLang="en-US" sz="1600" b="1" kern="100" spc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个人优势</a:t>
            </a:r>
            <a:r>
              <a:rPr lang="zh-CN" altLang="en-US" sz="1600" kern="100" spc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：有过研究所、大厂等三段实习经历</a:t>
            </a:r>
            <a:r>
              <a:rPr lang="en-US" altLang="zh-CN" sz="1600" kern="100" spc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，</a:t>
            </a:r>
            <a:r>
              <a:rPr lang="zh-CN" altLang="en-US" sz="1600" kern="100" spc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Times New Roman" panose="02020503050405090304"/>
              </a:rPr>
              <a:t>具备极强的代码实现、工程协作和快速学习能力</a:t>
            </a:r>
            <a:endParaRPr lang="zh-CN" altLang="en-US" sz="1600" kern="100" spc="0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Times New Roman" panose="02020503050405090304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417116" y="2968466"/>
            <a:ext cx="1856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武汉科技大学</a:t>
            </a:r>
            <a:endParaRPr kumimoji="1"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56" name="图形 54"/>
          <p:cNvSpPr/>
          <p:nvPr/>
        </p:nvSpPr>
        <p:spPr>
          <a:xfrm>
            <a:off x="3061323" y="3026444"/>
            <a:ext cx="344457" cy="277506"/>
          </a:xfrm>
          <a:custGeom>
            <a:avLst/>
            <a:gdLst>
              <a:gd name="connsiteX0" fmla="*/ 1313241 w 1594567"/>
              <a:gd name="connsiteY0" fmla="*/ 601734 h 1284637"/>
              <a:gd name="connsiteX1" fmla="*/ 1313241 w 1594567"/>
              <a:gd name="connsiteY1" fmla="*/ 1086200 h 1284637"/>
              <a:gd name="connsiteX2" fmla="*/ 797303 w 1594567"/>
              <a:gd name="connsiteY2" fmla="*/ 1284637 h 1284637"/>
              <a:gd name="connsiteX3" fmla="*/ 281564 w 1594567"/>
              <a:gd name="connsiteY3" fmla="*/ 1091756 h 1284637"/>
              <a:gd name="connsiteX4" fmla="*/ 281366 w 1594567"/>
              <a:gd name="connsiteY4" fmla="*/ 1086200 h 1284637"/>
              <a:gd name="connsiteX5" fmla="*/ 281366 w 1594567"/>
              <a:gd name="connsiteY5" fmla="*/ 601734 h 1284637"/>
              <a:gd name="connsiteX6" fmla="*/ 765157 w 1594567"/>
              <a:gd name="connsiteY6" fmla="*/ 816206 h 1284637"/>
              <a:gd name="connsiteX7" fmla="*/ 822545 w 1594567"/>
              <a:gd name="connsiteY7" fmla="*/ 818904 h 1284637"/>
              <a:gd name="connsiteX8" fmla="*/ 829490 w 1594567"/>
              <a:gd name="connsiteY8" fmla="*/ 816206 h 1284637"/>
              <a:gd name="connsiteX9" fmla="*/ 1313241 w 1594567"/>
              <a:gd name="connsiteY9" fmla="*/ 601734 h 1284637"/>
              <a:gd name="connsiteX10" fmla="*/ 829450 w 1594567"/>
              <a:gd name="connsiteY10" fmla="*/ 6819 h 1284637"/>
              <a:gd name="connsiteX11" fmla="*/ 1570972 w 1594567"/>
              <a:gd name="connsiteY11" fmla="*/ 335550 h 1284637"/>
              <a:gd name="connsiteX12" fmla="*/ 1591144 w 1594567"/>
              <a:gd name="connsiteY12" fmla="*/ 387926 h 1284637"/>
              <a:gd name="connsiteX13" fmla="*/ 1570972 w 1594567"/>
              <a:gd name="connsiteY13" fmla="*/ 408099 h 1284637"/>
              <a:gd name="connsiteX14" fmla="*/ 1471991 w 1594567"/>
              <a:gd name="connsiteY14" fmla="*/ 451993 h 1284637"/>
              <a:gd name="connsiteX15" fmla="*/ 1471991 w 1594567"/>
              <a:gd name="connsiteY15" fmla="*/ 819103 h 1284637"/>
              <a:gd name="connsiteX16" fmla="*/ 1500882 w 1594567"/>
              <a:gd name="connsiteY16" fmla="*/ 927575 h 1284637"/>
              <a:gd name="connsiteX17" fmla="*/ 1392410 w 1594567"/>
              <a:gd name="connsiteY17" fmla="*/ 956465 h 1284637"/>
              <a:gd name="connsiteX18" fmla="*/ 1363519 w 1594567"/>
              <a:gd name="connsiteY18" fmla="*/ 847993 h 1284637"/>
              <a:gd name="connsiteX19" fmla="*/ 1392616 w 1594567"/>
              <a:gd name="connsiteY19" fmla="*/ 818984 h 1284637"/>
              <a:gd name="connsiteX20" fmla="*/ 1392616 w 1594567"/>
              <a:gd name="connsiteY20" fmla="*/ 487077 h 1284637"/>
              <a:gd name="connsiteX21" fmla="*/ 829450 w 1594567"/>
              <a:gd name="connsiteY21" fmla="*/ 736791 h 1284637"/>
              <a:gd name="connsiteX22" fmla="*/ 765157 w 1594567"/>
              <a:gd name="connsiteY22" fmla="*/ 736791 h 1284637"/>
              <a:gd name="connsiteX23" fmla="*/ 23596 w 1594567"/>
              <a:gd name="connsiteY23" fmla="*/ 408099 h 1284637"/>
              <a:gd name="connsiteX24" fmla="*/ 3423 w 1594567"/>
              <a:gd name="connsiteY24" fmla="*/ 355723 h 1284637"/>
              <a:gd name="connsiteX25" fmla="*/ 23596 w 1594567"/>
              <a:gd name="connsiteY25" fmla="*/ 335550 h 1284637"/>
              <a:gd name="connsiteX26" fmla="*/ 765077 w 1594567"/>
              <a:gd name="connsiteY26" fmla="*/ 6819 h 1284637"/>
              <a:gd name="connsiteX27" fmla="*/ 829450 w 1594567"/>
              <a:gd name="connsiteY27" fmla="*/ 6819 h 1284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594567" h="1284637">
                <a:moveTo>
                  <a:pt x="1313241" y="601734"/>
                </a:moveTo>
                <a:lnTo>
                  <a:pt x="1313241" y="1086200"/>
                </a:lnTo>
                <a:cubicBezTo>
                  <a:pt x="1313241" y="1195777"/>
                  <a:pt x="1082260" y="1284637"/>
                  <a:pt x="797303" y="1284637"/>
                </a:cubicBezTo>
                <a:cubicBezTo>
                  <a:pt x="517189" y="1284637"/>
                  <a:pt x="289224" y="1198793"/>
                  <a:pt x="281564" y="1091756"/>
                </a:cubicBezTo>
                <a:lnTo>
                  <a:pt x="281366" y="1086200"/>
                </a:lnTo>
                <a:lnTo>
                  <a:pt x="281366" y="601734"/>
                </a:lnTo>
                <a:lnTo>
                  <a:pt x="765157" y="816206"/>
                </a:lnTo>
                <a:cubicBezTo>
                  <a:pt x="783278" y="824239"/>
                  <a:pt x="803749" y="825202"/>
                  <a:pt x="822545" y="818904"/>
                </a:cubicBezTo>
                <a:lnTo>
                  <a:pt x="829490" y="816206"/>
                </a:lnTo>
                <a:lnTo>
                  <a:pt x="1313241" y="601734"/>
                </a:lnTo>
                <a:close/>
                <a:moveTo>
                  <a:pt x="829450" y="6819"/>
                </a:moveTo>
                <a:lnTo>
                  <a:pt x="1570972" y="335550"/>
                </a:lnTo>
                <a:cubicBezTo>
                  <a:pt x="1591005" y="344443"/>
                  <a:pt x="1600037" y="367893"/>
                  <a:pt x="1591144" y="387926"/>
                </a:cubicBezTo>
                <a:cubicBezTo>
                  <a:pt x="1587153" y="396918"/>
                  <a:pt x="1579964" y="404108"/>
                  <a:pt x="1570972" y="408099"/>
                </a:cubicBezTo>
                <a:lnTo>
                  <a:pt x="1471991" y="451993"/>
                </a:lnTo>
                <a:lnTo>
                  <a:pt x="1471991" y="819103"/>
                </a:lnTo>
                <a:cubicBezTo>
                  <a:pt x="1509923" y="841079"/>
                  <a:pt x="1522857" y="889643"/>
                  <a:pt x="1500882" y="927575"/>
                </a:cubicBezTo>
                <a:cubicBezTo>
                  <a:pt x="1478906" y="965506"/>
                  <a:pt x="1430341" y="978441"/>
                  <a:pt x="1392410" y="956465"/>
                </a:cubicBezTo>
                <a:cubicBezTo>
                  <a:pt x="1354478" y="934489"/>
                  <a:pt x="1341544" y="885925"/>
                  <a:pt x="1363519" y="847993"/>
                </a:cubicBezTo>
                <a:cubicBezTo>
                  <a:pt x="1370504" y="835937"/>
                  <a:pt x="1380539" y="825932"/>
                  <a:pt x="1392616" y="818984"/>
                </a:cubicBezTo>
                <a:lnTo>
                  <a:pt x="1392616" y="487077"/>
                </a:lnTo>
                <a:lnTo>
                  <a:pt x="829450" y="736791"/>
                </a:lnTo>
                <a:cubicBezTo>
                  <a:pt x="808978" y="745859"/>
                  <a:pt x="785629" y="745859"/>
                  <a:pt x="765157" y="736791"/>
                </a:cubicBezTo>
                <a:lnTo>
                  <a:pt x="23596" y="408099"/>
                </a:lnTo>
                <a:cubicBezTo>
                  <a:pt x="3562" y="399206"/>
                  <a:pt x="-5470" y="375757"/>
                  <a:pt x="3423" y="355723"/>
                </a:cubicBezTo>
                <a:cubicBezTo>
                  <a:pt x="7415" y="346731"/>
                  <a:pt x="14604" y="339542"/>
                  <a:pt x="23596" y="335550"/>
                </a:cubicBezTo>
                <a:lnTo>
                  <a:pt x="765077" y="6819"/>
                </a:lnTo>
                <a:cubicBezTo>
                  <a:pt x="785572" y="-2273"/>
                  <a:pt x="808956" y="-2273"/>
                  <a:pt x="829450" y="6819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 rot="0">
            <a:off x="3121660" y="3409950"/>
            <a:ext cx="7764316" cy="368300"/>
            <a:chOff x="7956" y="4694"/>
            <a:chExt cx="10723" cy="580"/>
          </a:xfrm>
        </p:grpSpPr>
        <p:sp>
          <p:nvSpPr>
            <p:cNvPr id="52" name="文本框 51"/>
            <p:cNvSpPr txBox="1"/>
            <p:nvPr/>
          </p:nvSpPr>
          <p:spPr>
            <a:xfrm>
              <a:off x="8363" y="4694"/>
              <a:ext cx="1031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chemeClr val="accent1"/>
                  </a:solidFill>
                </a:rPr>
                <a:t>专业</a:t>
              </a:r>
              <a:r>
                <a:rPr kumimoji="1" lang="en-US" altLang="zh-CN" b="1" dirty="0">
                  <a:solidFill>
                    <a:schemeClr val="accent1"/>
                  </a:solidFill>
                </a:rPr>
                <a:t>：</a:t>
              </a:r>
              <a:r>
                <a:rPr kumimoji="1" lang="zh-CN" altLang="en-US" b="1" dirty="0">
                  <a:solidFill>
                    <a:schemeClr val="accent1"/>
                  </a:solidFill>
                </a:rPr>
                <a:t>计算机科学与技术</a:t>
              </a:r>
              <a:r>
                <a:rPr kumimoji="1" lang="en-US" altLang="zh-CN" b="1" dirty="0">
                  <a:solidFill>
                    <a:schemeClr val="accent1"/>
                  </a:solidFill>
                </a:rPr>
                <a:t>【ESI</a:t>
              </a:r>
              <a:r>
                <a:rPr kumimoji="1" lang="zh-CN" altLang="en-US" b="1" dirty="0">
                  <a:solidFill>
                    <a:schemeClr val="accent1"/>
                  </a:solidFill>
                </a:rPr>
                <a:t>全球前</a:t>
              </a:r>
              <a:r>
                <a:rPr kumimoji="1" lang="en-US" altLang="zh-CN" b="1" dirty="0">
                  <a:solidFill>
                    <a:schemeClr val="accent1"/>
                  </a:solidFill>
                </a:rPr>
                <a:t>0.5%｜</a:t>
              </a:r>
              <a:r>
                <a:rPr kumimoji="1" lang="zh-CN" altLang="en-US" b="1" dirty="0">
                  <a:solidFill>
                    <a:schemeClr val="accent1"/>
                  </a:solidFill>
                </a:rPr>
                <a:t>国家级一流专业</a:t>
              </a:r>
              <a:r>
                <a:rPr kumimoji="1" lang="en-US" altLang="zh-CN" b="1" dirty="0">
                  <a:solidFill>
                    <a:schemeClr val="accent1"/>
                  </a:solidFill>
                </a:rPr>
                <a:t>】</a:t>
              </a:r>
              <a:endParaRPr kumimoji="1" lang="en-US" altLang="zh-CN" b="1" dirty="0">
                <a:solidFill>
                  <a:schemeClr val="accent1"/>
                </a:solidFill>
              </a:endParaRPr>
            </a:p>
          </p:txBody>
        </p:sp>
        <p:sp>
          <p:nvSpPr>
            <p:cNvPr id="57" name="图形 82"/>
            <p:cNvSpPr/>
            <p:nvPr/>
          </p:nvSpPr>
          <p:spPr>
            <a:xfrm>
              <a:off x="7956" y="4772"/>
              <a:ext cx="408" cy="425"/>
            </a:xfrm>
            <a:custGeom>
              <a:avLst/>
              <a:gdLst>
                <a:gd name="connsiteX0" fmla="*/ 213405 w 1562695"/>
                <a:gd name="connsiteY0" fmla="*/ 1338809 h 1629667"/>
                <a:gd name="connsiteX1" fmla="*/ 111316 w 1562695"/>
                <a:gd name="connsiteY1" fmla="*/ 1428633 h 1629667"/>
                <a:gd name="connsiteX2" fmla="*/ 211688 w 1562695"/>
                <a:gd name="connsiteY2" fmla="*/ 1518445 h 1629667"/>
                <a:gd name="connsiteX3" fmla="*/ 213405 w 1562695"/>
                <a:gd name="connsiteY3" fmla="*/ 1518456 h 1629667"/>
                <a:gd name="connsiteX4" fmla="*/ 1507037 w 1562695"/>
                <a:gd name="connsiteY4" fmla="*/ 1518456 h 1629667"/>
                <a:gd name="connsiteX5" fmla="*/ 1562695 w 1562695"/>
                <a:gd name="connsiteY5" fmla="*/ 1574062 h 1629667"/>
                <a:gd name="connsiteX6" fmla="*/ 1508351 w 1562695"/>
                <a:gd name="connsiteY6" fmla="*/ 1629653 h 1629667"/>
                <a:gd name="connsiteX7" fmla="*/ 1507037 w 1562695"/>
                <a:gd name="connsiteY7" fmla="*/ 1629668 h 1629667"/>
                <a:gd name="connsiteX8" fmla="*/ 213405 w 1562695"/>
                <a:gd name="connsiteY8" fmla="*/ 1629668 h 1629667"/>
                <a:gd name="connsiteX9" fmla="*/ 0 w 1562695"/>
                <a:gd name="connsiteY9" fmla="*/ 1428633 h 1629667"/>
                <a:gd name="connsiteX10" fmla="*/ 49264 w 1562695"/>
                <a:gd name="connsiteY10" fmla="*/ 1300070 h 1629667"/>
                <a:gd name="connsiteX11" fmla="*/ 0 w 1562695"/>
                <a:gd name="connsiteY11" fmla="*/ 1189100 h 1629667"/>
                <a:gd name="connsiteX12" fmla="*/ 0 w 1562695"/>
                <a:gd name="connsiteY12" fmla="*/ 149706 h 1629667"/>
                <a:gd name="connsiteX13" fmla="*/ 149848 w 1562695"/>
                <a:gd name="connsiteY13" fmla="*/ 0 h 1629667"/>
                <a:gd name="connsiteX14" fmla="*/ 372478 w 1562695"/>
                <a:gd name="connsiteY14" fmla="*/ 0 h 1629667"/>
                <a:gd name="connsiteX15" fmla="*/ 372478 w 1562695"/>
                <a:gd name="connsiteY15" fmla="*/ 524601 h 1629667"/>
                <a:gd name="connsiteX16" fmla="*/ 372493 w 1562695"/>
                <a:gd name="connsiteY16" fmla="*/ 525795 h 1629667"/>
                <a:gd name="connsiteX17" fmla="*/ 372534 w 1562695"/>
                <a:gd name="connsiteY17" fmla="*/ 526967 h 1629667"/>
                <a:gd name="connsiteX18" fmla="*/ 449132 w 1562695"/>
                <a:gd name="connsiteY18" fmla="*/ 560100 h 1629667"/>
                <a:gd name="connsiteX19" fmla="*/ 450021 w 1562695"/>
                <a:gd name="connsiteY19" fmla="*/ 559333 h 1629667"/>
                <a:gd name="connsiteX20" fmla="*/ 571561 w 1562695"/>
                <a:gd name="connsiteY20" fmla="*/ 452294 h 1629667"/>
                <a:gd name="connsiteX21" fmla="*/ 693102 w 1562695"/>
                <a:gd name="connsiteY21" fmla="*/ 559333 h 1629667"/>
                <a:gd name="connsiteX22" fmla="*/ 694010 w 1562695"/>
                <a:gd name="connsiteY22" fmla="*/ 560115 h 1629667"/>
                <a:gd name="connsiteX23" fmla="*/ 770630 w 1562695"/>
                <a:gd name="connsiteY23" fmla="*/ 525784 h 1629667"/>
                <a:gd name="connsiteX24" fmla="*/ 770645 w 1562695"/>
                <a:gd name="connsiteY24" fmla="*/ 524602 h 1629667"/>
                <a:gd name="connsiteX25" fmla="*/ 770643 w 1562695"/>
                <a:gd name="connsiteY25" fmla="*/ 0 h 1629667"/>
                <a:gd name="connsiteX26" fmla="*/ 1357190 w 1562695"/>
                <a:gd name="connsiteY26" fmla="*/ 0 h 1629667"/>
                <a:gd name="connsiteX27" fmla="*/ 1507037 w 1562695"/>
                <a:gd name="connsiteY27" fmla="*/ 149706 h 1629667"/>
                <a:gd name="connsiteX28" fmla="*/ 1507037 w 1562695"/>
                <a:gd name="connsiteY28" fmla="*/ 1189103 h 1629667"/>
                <a:gd name="connsiteX29" fmla="*/ 1357190 w 1562695"/>
                <a:gd name="connsiteY29" fmla="*/ 1338809 h 1629667"/>
                <a:gd name="connsiteX30" fmla="*/ 213405 w 1562695"/>
                <a:gd name="connsiteY30" fmla="*/ 1338809 h 1629667"/>
                <a:gd name="connsiteX31" fmla="*/ 719268 w 1562695"/>
                <a:gd name="connsiteY31" fmla="*/ 0 h 1629667"/>
                <a:gd name="connsiteX32" fmla="*/ 719268 w 1562695"/>
                <a:gd name="connsiteY32" fmla="*/ 513282 h 1629667"/>
                <a:gd name="connsiteX33" fmla="*/ 614709 w 1562695"/>
                <a:gd name="connsiteY33" fmla="*/ 413528 h 1629667"/>
                <a:gd name="connsiteX34" fmla="*/ 613401 w 1562695"/>
                <a:gd name="connsiteY34" fmla="*/ 412312 h 1629667"/>
                <a:gd name="connsiteX35" fmla="*/ 612658 w 1562695"/>
                <a:gd name="connsiteY35" fmla="*/ 411651 h 1629667"/>
                <a:gd name="connsiteX36" fmla="*/ 529136 w 1562695"/>
                <a:gd name="connsiteY36" fmla="*/ 412849 h 1629667"/>
                <a:gd name="connsiteX37" fmla="*/ 528414 w 1562695"/>
                <a:gd name="connsiteY37" fmla="*/ 413528 h 1629667"/>
                <a:gd name="connsiteX38" fmla="*/ 423855 w 1562695"/>
                <a:gd name="connsiteY38" fmla="*/ 513277 h 1629667"/>
                <a:gd name="connsiteX39" fmla="*/ 423855 w 1562695"/>
                <a:gd name="connsiteY39" fmla="*/ 0 h 1629667"/>
                <a:gd name="connsiteX40" fmla="*/ 719268 w 1562695"/>
                <a:gd name="connsiteY40" fmla="*/ 0 h 162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562695" h="1629667">
                  <a:moveTo>
                    <a:pt x="213405" y="1338809"/>
                  </a:moveTo>
                  <a:cubicBezTo>
                    <a:pt x="156069" y="1338809"/>
                    <a:pt x="111316" y="1380067"/>
                    <a:pt x="111316" y="1428633"/>
                  </a:cubicBezTo>
                  <a:cubicBezTo>
                    <a:pt x="111316" y="1476714"/>
                    <a:pt x="155178" y="1517632"/>
                    <a:pt x="211688" y="1518445"/>
                  </a:cubicBezTo>
                  <a:lnTo>
                    <a:pt x="213405" y="1518456"/>
                  </a:lnTo>
                  <a:lnTo>
                    <a:pt x="1507037" y="1518456"/>
                  </a:lnTo>
                  <a:cubicBezTo>
                    <a:pt x="1537776" y="1518456"/>
                    <a:pt x="1562695" y="1543353"/>
                    <a:pt x="1562695" y="1574062"/>
                  </a:cubicBezTo>
                  <a:cubicBezTo>
                    <a:pt x="1562695" y="1604334"/>
                    <a:pt x="1538483" y="1628956"/>
                    <a:pt x="1508351" y="1629653"/>
                  </a:cubicBezTo>
                  <a:lnTo>
                    <a:pt x="1507037" y="1629668"/>
                  </a:lnTo>
                  <a:lnTo>
                    <a:pt x="213405" y="1629668"/>
                  </a:lnTo>
                  <a:cubicBezTo>
                    <a:pt x="96500" y="1629668"/>
                    <a:pt x="0" y="1540704"/>
                    <a:pt x="0" y="1428633"/>
                  </a:cubicBezTo>
                  <a:cubicBezTo>
                    <a:pt x="0" y="1379482"/>
                    <a:pt x="18561" y="1334776"/>
                    <a:pt x="49264" y="1300070"/>
                  </a:cubicBezTo>
                  <a:cubicBezTo>
                    <a:pt x="19007" y="1272685"/>
                    <a:pt x="0" y="1233110"/>
                    <a:pt x="0" y="1189100"/>
                  </a:cubicBezTo>
                  <a:lnTo>
                    <a:pt x="0" y="149706"/>
                  </a:lnTo>
                  <a:cubicBezTo>
                    <a:pt x="0" y="67028"/>
                    <a:pt x="67090" y="0"/>
                    <a:pt x="149848" y="0"/>
                  </a:cubicBezTo>
                  <a:lnTo>
                    <a:pt x="372478" y="0"/>
                  </a:lnTo>
                  <a:lnTo>
                    <a:pt x="372478" y="524601"/>
                  </a:lnTo>
                  <a:lnTo>
                    <a:pt x="372493" y="525795"/>
                  </a:lnTo>
                  <a:lnTo>
                    <a:pt x="372534" y="526967"/>
                  </a:lnTo>
                  <a:cubicBezTo>
                    <a:pt x="374342" y="565026"/>
                    <a:pt x="419608" y="584909"/>
                    <a:pt x="449132" y="560100"/>
                  </a:cubicBezTo>
                  <a:lnTo>
                    <a:pt x="450021" y="559333"/>
                  </a:lnTo>
                  <a:lnTo>
                    <a:pt x="571561" y="452294"/>
                  </a:lnTo>
                  <a:lnTo>
                    <a:pt x="693102" y="559333"/>
                  </a:lnTo>
                  <a:lnTo>
                    <a:pt x="694010" y="560115"/>
                  </a:lnTo>
                  <a:cubicBezTo>
                    <a:pt x="723837" y="585155"/>
                    <a:pt x="769715" y="564604"/>
                    <a:pt x="770630" y="525784"/>
                  </a:cubicBezTo>
                  <a:lnTo>
                    <a:pt x="770645" y="524602"/>
                  </a:lnTo>
                  <a:lnTo>
                    <a:pt x="770643" y="0"/>
                  </a:lnTo>
                  <a:lnTo>
                    <a:pt x="1357190" y="0"/>
                  </a:lnTo>
                  <a:cubicBezTo>
                    <a:pt x="1439949" y="0"/>
                    <a:pt x="1507037" y="67027"/>
                    <a:pt x="1507037" y="149706"/>
                  </a:cubicBezTo>
                  <a:lnTo>
                    <a:pt x="1507037" y="1189103"/>
                  </a:lnTo>
                  <a:cubicBezTo>
                    <a:pt x="1507037" y="1271783"/>
                    <a:pt x="1439949" y="1338809"/>
                    <a:pt x="1357190" y="1338809"/>
                  </a:cubicBezTo>
                  <a:lnTo>
                    <a:pt x="213405" y="1338809"/>
                  </a:lnTo>
                  <a:close/>
                  <a:moveTo>
                    <a:pt x="719268" y="0"/>
                  </a:moveTo>
                  <a:lnTo>
                    <a:pt x="719268" y="513282"/>
                  </a:lnTo>
                  <a:lnTo>
                    <a:pt x="614709" y="413528"/>
                  </a:lnTo>
                  <a:lnTo>
                    <a:pt x="613401" y="412312"/>
                  </a:lnTo>
                  <a:lnTo>
                    <a:pt x="612658" y="411651"/>
                  </a:lnTo>
                  <a:cubicBezTo>
                    <a:pt x="588306" y="390261"/>
                    <a:pt x="553084" y="390661"/>
                    <a:pt x="529136" y="412849"/>
                  </a:cubicBezTo>
                  <a:lnTo>
                    <a:pt x="528414" y="413528"/>
                  </a:lnTo>
                  <a:lnTo>
                    <a:pt x="423855" y="513277"/>
                  </a:lnTo>
                  <a:lnTo>
                    <a:pt x="423855" y="0"/>
                  </a:lnTo>
                  <a:lnTo>
                    <a:pt x="719268" y="0"/>
                  </a:ln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092450" y="3851275"/>
            <a:ext cx="5877794" cy="368300"/>
            <a:chOff x="12197" y="4694"/>
            <a:chExt cx="6766" cy="580"/>
          </a:xfrm>
        </p:grpSpPr>
        <p:sp>
          <p:nvSpPr>
            <p:cNvPr id="53" name="文本框 52"/>
            <p:cNvSpPr txBox="1"/>
            <p:nvPr/>
          </p:nvSpPr>
          <p:spPr>
            <a:xfrm>
              <a:off x="12604" y="4694"/>
              <a:ext cx="635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altLang="zh-CN" b="1" dirty="0">
                  <a:solidFill>
                    <a:schemeClr val="accent1"/>
                  </a:solidFill>
                  <a:latin typeface="+mn-ea"/>
                </a:rPr>
                <a:t>GPA：3.36/4.0</a:t>
              </a:r>
              <a:r>
                <a:rPr lang="en-US" altLang="en-GB" b="1" dirty="0">
                  <a:solidFill>
                    <a:schemeClr val="accent1"/>
                  </a:solidFill>
                  <a:latin typeface="+mn-ea"/>
                </a:rPr>
                <a:t>【</a:t>
              </a:r>
              <a:r>
                <a:rPr lang="zh-CN" altLang="en-GB" b="1" dirty="0">
                  <a:solidFill>
                    <a:schemeClr val="accent1"/>
                  </a:solidFill>
                  <a:latin typeface="+mn-ea"/>
                </a:rPr>
                <a:t>加权</a:t>
              </a:r>
              <a:r>
                <a:rPr lang="en-GB" altLang="zh-CN" b="1" dirty="0">
                  <a:solidFill>
                    <a:schemeClr val="accent1"/>
                  </a:solidFill>
                  <a:latin typeface="+mn-ea"/>
                </a:rPr>
                <a:t>排名 16/207，前 7.7%</a:t>
              </a:r>
              <a:r>
                <a:rPr lang="en-US" altLang="en-GB" b="1" dirty="0">
                  <a:solidFill>
                    <a:schemeClr val="accent1"/>
                  </a:solidFill>
                  <a:latin typeface="+mn-ea"/>
                </a:rPr>
                <a:t>】</a:t>
              </a:r>
              <a:endParaRPr lang="en-US" altLang="en-GB" b="1" dirty="0">
                <a:solidFill>
                  <a:schemeClr val="accent1"/>
                </a:solidFill>
                <a:latin typeface="+mn-ea"/>
              </a:endParaRPr>
            </a:p>
          </p:txBody>
        </p:sp>
        <p:sp>
          <p:nvSpPr>
            <p:cNvPr id="60" name="图形 58"/>
            <p:cNvSpPr/>
            <p:nvPr/>
          </p:nvSpPr>
          <p:spPr>
            <a:xfrm>
              <a:off x="12197" y="4772"/>
              <a:ext cx="398" cy="425"/>
            </a:xfrm>
            <a:custGeom>
              <a:avLst/>
              <a:gdLst>
                <a:gd name="connsiteX0" fmla="*/ 211931 w 252830"/>
                <a:gd name="connsiteY0" fmla="*/ 0 h 270137"/>
                <a:gd name="connsiteX1" fmla="*/ 252830 w 252830"/>
                <a:gd name="connsiteY1" fmla="*/ 42941 h 270137"/>
                <a:gd name="connsiteX2" fmla="*/ 252830 w 252830"/>
                <a:gd name="connsiteY2" fmla="*/ 227197 h 270137"/>
                <a:gd name="connsiteX3" fmla="*/ 211931 w 252830"/>
                <a:gd name="connsiteY3" fmla="*/ 270138 h 270137"/>
                <a:gd name="connsiteX4" fmla="*/ 40899 w 252830"/>
                <a:gd name="connsiteY4" fmla="*/ 270138 h 270137"/>
                <a:gd name="connsiteX5" fmla="*/ 0 w 252830"/>
                <a:gd name="connsiteY5" fmla="*/ 227197 h 270137"/>
                <a:gd name="connsiteX6" fmla="*/ 0 w 252830"/>
                <a:gd name="connsiteY6" fmla="*/ 42941 h 270137"/>
                <a:gd name="connsiteX7" fmla="*/ 40899 w 252830"/>
                <a:gd name="connsiteY7" fmla="*/ 0 h 270137"/>
                <a:gd name="connsiteX8" fmla="*/ 211931 w 252830"/>
                <a:gd name="connsiteY8" fmla="*/ 0 h 270137"/>
                <a:gd name="connsiteX9" fmla="*/ 186888 w 252830"/>
                <a:gd name="connsiteY9" fmla="*/ 195186 h 270137"/>
                <a:gd name="connsiteX10" fmla="*/ 65161 w 252830"/>
                <a:gd name="connsiteY10" fmla="*/ 195186 h 270137"/>
                <a:gd name="connsiteX11" fmla="*/ 59306 w 252830"/>
                <a:gd name="connsiteY11" fmla="*/ 201042 h 270137"/>
                <a:gd name="connsiteX12" fmla="*/ 65161 w 252830"/>
                <a:gd name="connsiteY12" fmla="*/ 206897 h 270137"/>
                <a:gd name="connsiteX13" fmla="*/ 186888 w 252830"/>
                <a:gd name="connsiteY13" fmla="*/ 206897 h 270137"/>
                <a:gd name="connsiteX14" fmla="*/ 192744 w 252830"/>
                <a:gd name="connsiteY14" fmla="*/ 201042 h 270137"/>
                <a:gd name="connsiteX15" fmla="*/ 186888 w 252830"/>
                <a:gd name="connsiteY15" fmla="*/ 195186 h 270137"/>
                <a:gd name="connsiteX16" fmla="*/ 186888 w 252830"/>
                <a:gd name="connsiteY16" fmla="*/ 143657 h 270137"/>
                <a:gd name="connsiteX17" fmla="*/ 65942 w 252830"/>
                <a:gd name="connsiteY17" fmla="*/ 143657 h 270137"/>
                <a:gd name="connsiteX18" fmla="*/ 60086 w 252830"/>
                <a:gd name="connsiteY18" fmla="*/ 149513 h 270137"/>
                <a:gd name="connsiteX19" fmla="*/ 65942 w 252830"/>
                <a:gd name="connsiteY19" fmla="*/ 155368 h 270137"/>
                <a:gd name="connsiteX20" fmla="*/ 186888 w 252830"/>
                <a:gd name="connsiteY20" fmla="*/ 155368 h 270137"/>
                <a:gd name="connsiteX21" fmla="*/ 192744 w 252830"/>
                <a:gd name="connsiteY21" fmla="*/ 149513 h 270137"/>
                <a:gd name="connsiteX22" fmla="*/ 186888 w 252830"/>
                <a:gd name="connsiteY22" fmla="*/ 143657 h 270137"/>
                <a:gd name="connsiteX23" fmla="*/ 92379 w 252830"/>
                <a:gd name="connsiteY23" fmla="*/ 36815 h 270137"/>
                <a:gd name="connsiteX24" fmla="*/ 80944 w 252830"/>
                <a:gd name="connsiteY24" fmla="*/ 40360 h 270137"/>
                <a:gd name="connsiteX25" fmla="*/ 53953 w 252830"/>
                <a:gd name="connsiteY25" fmla="*/ 101473 h 270137"/>
                <a:gd name="connsiteX26" fmla="*/ 53876 w 252830"/>
                <a:gd name="connsiteY26" fmla="*/ 101654 h 270137"/>
                <a:gd name="connsiteX27" fmla="*/ 56940 w 252830"/>
                <a:gd name="connsiteY27" fmla="*/ 109195 h 270137"/>
                <a:gd name="connsiteX28" fmla="*/ 57122 w 252830"/>
                <a:gd name="connsiteY28" fmla="*/ 109272 h 270137"/>
                <a:gd name="connsiteX29" fmla="*/ 64659 w 252830"/>
                <a:gd name="connsiteY29" fmla="*/ 106206 h 270137"/>
                <a:gd name="connsiteX30" fmla="*/ 71393 w 252830"/>
                <a:gd name="connsiteY30" fmla="*/ 90957 h 270137"/>
                <a:gd name="connsiteX31" fmla="*/ 106113 w 252830"/>
                <a:gd name="connsiteY31" fmla="*/ 90957 h 270137"/>
                <a:gd name="connsiteX32" fmla="*/ 113312 w 252830"/>
                <a:gd name="connsiteY32" fmla="*/ 106324 h 270137"/>
                <a:gd name="connsiteX33" fmla="*/ 113399 w 252830"/>
                <a:gd name="connsiteY33" fmla="*/ 106502 h 270137"/>
                <a:gd name="connsiteX34" fmla="*/ 121095 w 252830"/>
                <a:gd name="connsiteY34" fmla="*/ 109142 h 270137"/>
                <a:gd name="connsiteX35" fmla="*/ 123911 w 252830"/>
                <a:gd name="connsiteY35" fmla="*/ 101354 h 270137"/>
                <a:gd name="connsiteX36" fmla="*/ 95257 w 252830"/>
                <a:gd name="connsiteY36" fmla="*/ 40186 h 270137"/>
                <a:gd name="connsiteX37" fmla="*/ 95125 w 252830"/>
                <a:gd name="connsiteY37" fmla="*/ 39917 h 270137"/>
                <a:gd name="connsiteX38" fmla="*/ 92379 w 252830"/>
                <a:gd name="connsiteY38" fmla="*/ 36815 h 270137"/>
                <a:gd name="connsiteX39" fmla="*/ 182027 w 252830"/>
                <a:gd name="connsiteY39" fmla="*/ 97984 h 270137"/>
                <a:gd name="connsiteX40" fmla="*/ 141241 w 252830"/>
                <a:gd name="connsiteY40" fmla="*/ 97984 h 270137"/>
                <a:gd name="connsiteX41" fmla="*/ 141052 w 252830"/>
                <a:gd name="connsiteY41" fmla="*/ 97987 h 270137"/>
                <a:gd name="connsiteX42" fmla="*/ 135389 w 252830"/>
                <a:gd name="connsiteY42" fmla="*/ 103839 h 270137"/>
                <a:gd name="connsiteX43" fmla="*/ 141241 w 252830"/>
                <a:gd name="connsiteY43" fmla="*/ 109695 h 270137"/>
                <a:gd name="connsiteX44" fmla="*/ 182027 w 252830"/>
                <a:gd name="connsiteY44" fmla="*/ 109695 h 270137"/>
                <a:gd name="connsiteX45" fmla="*/ 182216 w 252830"/>
                <a:gd name="connsiteY45" fmla="*/ 109692 h 270137"/>
                <a:gd name="connsiteX46" fmla="*/ 187880 w 252830"/>
                <a:gd name="connsiteY46" fmla="*/ 103839 h 270137"/>
                <a:gd name="connsiteX47" fmla="*/ 182027 w 252830"/>
                <a:gd name="connsiteY47" fmla="*/ 97984 h 270137"/>
                <a:gd name="connsiteX48" fmla="*/ 160360 w 252830"/>
                <a:gd name="connsiteY48" fmla="*/ 42941 h 270137"/>
                <a:gd name="connsiteX49" fmla="*/ 154507 w 252830"/>
                <a:gd name="connsiteY49" fmla="*/ 48794 h 270137"/>
                <a:gd name="connsiteX50" fmla="*/ 154507 w 252830"/>
                <a:gd name="connsiteY50" fmla="*/ 57776 h 270137"/>
                <a:gd name="connsiteX51" fmla="*/ 145146 w 252830"/>
                <a:gd name="connsiteY51" fmla="*/ 57776 h 270137"/>
                <a:gd name="connsiteX52" fmla="*/ 138900 w 252830"/>
                <a:gd name="connsiteY52" fmla="*/ 64021 h 270137"/>
                <a:gd name="connsiteX53" fmla="*/ 145146 w 252830"/>
                <a:gd name="connsiteY53" fmla="*/ 70267 h 270137"/>
                <a:gd name="connsiteX54" fmla="*/ 154507 w 252830"/>
                <a:gd name="connsiteY54" fmla="*/ 70267 h 270137"/>
                <a:gd name="connsiteX55" fmla="*/ 154507 w 252830"/>
                <a:gd name="connsiteY55" fmla="*/ 79249 h 270137"/>
                <a:gd name="connsiteX56" fmla="*/ 160360 w 252830"/>
                <a:gd name="connsiteY56" fmla="*/ 85102 h 270137"/>
                <a:gd name="connsiteX57" fmla="*/ 166212 w 252830"/>
                <a:gd name="connsiteY57" fmla="*/ 79249 h 270137"/>
                <a:gd name="connsiteX58" fmla="*/ 166212 w 252830"/>
                <a:gd name="connsiteY58" fmla="*/ 70267 h 270137"/>
                <a:gd name="connsiteX59" fmla="*/ 175573 w 252830"/>
                <a:gd name="connsiteY59" fmla="*/ 70267 h 270137"/>
                <a:gd name="connsiteX60" fmla="*/ 181819 w 252830"/>
                <a:gd name="connsiteY60" fmla="*/ 64021 h 270137"/>
                <a:gd name="connsiteX61" fmla="*/ 175573 w 252830"/>
                <a:gd name="connsiteY61" fmla="*/ 57776 h 270137"/>
                <a:gd name="connsiteX62" fmla="*/ 166212 w 252830"/>
                <a:gd name="connsiteY62" fmla="*/ 57776 h 270137"/>
                <a:gd name="connsiteX63" fmla="*/ 166212 w 252830"/>
                <a:gd name="connsiteY63" fmla="*/ 48794 h 270137"/>
                <a:gd name="connsiteX64" fmla="*/ 160360 w 252830"/>
                <a:gd name="connsiteY64" fmla="*/ 42941 h 270137"/>
                <a:gd name="connsiteX65" fmla="*/ 88243 w 252830"/>
                <a:gd name="connsiteY65" fmla="*/ 52808 h 270137"/>
                <a:gd name="connsiteX66" fmla="*/ 100627 w 252830"/>
                <a:gd name="connsiteY66" fmla="*/ 79245 h 270137"/>
                <a:gd name="connsiteX67" fmla="*/ 76566 w 252830"/>
                <a:gd name="connsiteY67" fmla="*/ 79245 h 270137"/>
                <a:gd name="connsiteX68" fmla="*/ 88243 w 252830"/>
                <a:gd name="connsiteY68" fmla="*/ 52808 h 270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252830" h="270137">
                  <a:moveTo>
                    <a:pt x="211931" y="0"/>
                  </a:moveTo>
                  <a:cubicBezTo>
                    <a:pt x="234519" y="0"/>
                    <a:pt x="252830" y="19225"/>
                    <a:pt x="252830" y="42941"/>
                  </a:cubicBezTo>
                  <a:lnTo>
                    <a:pt x="252830" y="227197"/>
                  </a:lnTo>
                  <a:cubicBezTo>
                    <a:pt x="252830" y="250913"/>
                    <a:pt x="234519" y="270138"/>
                    <a:pt x="211931" y="270138"/>
                  </a:cubicBezTo>
                  <a:lnTo>
                    <a:pt x="40899" y="270138"/>
                  </a:lnTo>
                  <a:cubicBezTo>
                    <a:pt x="18311" y="270138"/>
                    <a:pt x="0" y="250913"/>
                    <a:pt x="0" y="227197"/>
                  </a:cubicBezTo>
                  <a:lnTo>
                    <a:pt x="0" y="42941"/>
                  </a:lnTo>
                  <a:cubicBezTo>
                    <a:pt x="0" y="19225"/>
                    <a:pt x="18311" y="0"/>
                    <a:pt x="40899" y="0"/>
                  </a:cubicBezTo>
                  <a:lnTo>
                    <a:pt x="211931" y="0"/>
                  </a:lnTo>
                  <a:close/>
                  <a:moveTo>
                    <a:pt x="186888" y="195186"/>
                  </a:moveTo>
                  <a:lnTo>
                    <a:pt x="65161" y="195186"/>
                  </a:lnTo>
                  <a:cubicBezTo>
                    <a:pt x="61927" y="195186"/>
                    <a:pt x="59306" y="197808"/>
                    <a:pt x="59306" y="201042"/>
                  </a:cubicBezTo>
                  <a:cubicBezTo>
                    <a:pt x="59306" y="204276"/>
                    <a:pt x="61927" y="206897"/>
                    <a:pt x="65161" y="206897"/>
                  </a:cubicBezTo>
                  <a:lnTo>
                    <a:pt x="186888" y="206897"/>
                  </a:lnTo>
                  <a:cubicBezTo>
                    <a:pt x="190122" y="206897"/>
                    <a:pt x="192744" y="204276"/>
                    <a:pt x="192744" y="201042"/>
                  </a:cubicBezTo>
                  <a:cubicBezTo>
                    <a:pt x="192744" y="197808"/>
                    <a:pt x="190122" y="195186"/>
                    <a:pt x="186888" y="195186"/>
                  </a:cubicBezTo>
                  <a:close/>
                  <a:moveTo>
                    <a:pt x="186888" y="143657"/>
                  </a:moveTo>
                  <a:lnTo>
                    <a:pt x="65942" y="143657"/>
                  </a:lnTo>
                  <a:cubicBezTo>
                    <a:pt x="62708" y="143657"/>
                    <a:pt x="60086" y="146279"/>
                    <a:pt x="60086" y="149513"/>
                  </a:cubicBezTo>
                  <a:cubicBezTo>
                    <a:pt x="60086" y="152747"/>
                    <a:pt x="62708" y="155368"/>
                    <a:pt x="65942" y="155368"/>
                  </a:cubicBezTo>
                  <a:lnTo>
                    <a:pt x="186888" y="155368"/>
                  </a:lnTo>
                  <a:cubicBezTo>
                    <a:pt x="190122" y="155368"/>
                    <a:pt x="192744" y="152747"/>
                    <a:pt x="192744" y="149513"/>
                  </a:cubicBezTo>
                  <a:cubicBezTo>
                    <a:pt x="192744" y="146279"/>
                    <a:pt x="190122" y="143657"/>
                    <a:pt x="186888" y="143657"/>
                  </a:cubicBezTo>
                  <a:close/>
                  <a:moveTo>
                    <a:pt x="92379" y="36815"/>
                  </a:moveTo>
                  <a:cubicBezTo>
                    <a:pt x="88177" y="34020"/>
                    <a:pt x="82894" y="35946"/>
                    <a:pt x="80944" y="40360"/>
                  </a:cubicBezTo>
                  <a:lnTo>
                    <a:pt x="53953" y="101473"/>
                  </a:lnTo>
                  <a:lnTo>
                    <a:pt x="53876" y="101654"/>
                  </a:lnTo>
                  <a:cubicBezTo>
                    <a:pt x="52702" y="104571"/>
                    <a:pt x="54044" y="107915"/>
                    <a:pt x="56940" y="109195"/>
                  </a:cubicBezTo>
                  <a:lnTo>
                    <a:pt x="57122" y="109272"/>
                  </a:lnTo>
                  <a:cubicBezTo>
                    <a:pt x="60037" y="110447"/>
                    <a:pt x="63379" y="109104"/>
                    <a:pt x="64659" y="106206"/>
                  </a:cubicBezTo>
                  <a:lnTo>
                    <a:pt x="71393" y="90957"/>
                  </a:lnTo>
                  <a:lnTo>
                    <a:pt x="106113" y="90957"/>
                  </a:lnTo>
                  <a:lnTo>
                    <a:pt x="113312" y="106324"/>
                  </a:lnTo>
                  <a:lnTo>
                    <a:pt x="113399" y="106502"/>
                  </a:lnTo>
                  <a:cubicBezTo>
                    <a:pt x="114826" y="109303"/>
                    <a:pt x="118228" y="110486"/>
                    <a:pt x="121095" y="109142"/>
                  </a:cubicBezTo>
                  <a:cubicBezTo>
                    <a:pt x="124022" y="107769"/>
                    <a:pt x="125283" y="104283"/>
                    <a:pt x="123911" y="101354"/>
                  </a:cubicBezTo>
                  <a:lnTo>
                    <a:pt x="95257" y="40186"/>
                  </a:lnTo>
                  <a:lnTo>
                    <a:pt x="95125" y="39917"/>
                  </a:lnTo>
                  <a:cubicBezTo>
                    <a:pt x="94489" y="38672"/>
                    <a:pt x="93555" y="37597"/>
                    <a:pt x="92379" y="36815"/>
                  </a:cubicBezTo>
                  <a:close/>
                  <a:moveTo>
                    <a:pt x="182027" y="97984"/>
                  </a:moveTo>
                  <a:lnTo>
                    <a:pt x="141241" y="97984"/>
                  </a:lnTo>
                  <a:lnTo>
                    <a:pt x="141052" y="97987"/>
                  </a:lnTo>
                  <a:cubicBezTo>
                    <a:pt x="137907" y="98087"/>
                    <a:pt x="135389" y="100669"/>
                    <a:pt x="135389" y="103839"/>
                  </a:cubicBezTo>
                  <a:cubicBezTo>
                    <a:pt x="135389" y="107074"/>
                    <a:pt x="138009" y="109695"/>
                    <a:pt x="141241" y="109695"/>
                  </a:cubicBezTo>
                  <a:lnTo>
                    <a:pt x="182027" y="109695"/>
                  </a:lnTo>
                  <a:lnTo>
                    <a:pt x="182216" y="109692"/>
                  </a:lnTo>
                  <a:cubicBezTo>
                    <a:pt x="185361" y="109592"/>
                    <a:pt x="187880" y="107010"/>
                    <a:pt x="187880" y="103839"/>
                  </a:cubicBezTo>
                  <a:cubicBezTo>
                    <a:pt x="187880" y="100605"/>
                    <a:pt x="185259" y="97984"/>
                    <a:pt x="182027" y="97984"/>
                  </a:cubicBezTo>
                  <a:close/>
                  <a:moveTo>
                    <a:pt x="160360" y="42941"/>
                  </a:moveTo>
                  <a:cubicBezTo>
                    <a:pt x="157128" y="42941"/>
                    <a:pt x="154507" y="45561"/>
                    <a:pt x="154507" y="48794"/>
                  </a:cubicBezTo>
                  <a:lnTo>
                    <a:pt x="154507" y="57776"/>
                  </a:lnTo>
                  <a:lnTo>
                    <a:pt x="145146" y="57776"/>
                  </a:lnTo>
                  <a:cubicBezTo>
                    <a:pt x="141697" y="57776"/>
                    <a:pt x="138900" y="60572"/>
                    <a:pt x="138900" y="64021"/>
                  </a:cubicBezTo>
                  <a:cubicBezTo>
                    <a:pt x="138900" y="67471"/>
                    <a:pt x="141697" y="70267"/>
                    <a:pt x="145146" y="70267"/>
                  </a:cubicBezTo>
                  <a:lnTo>
                    <a:pt x="154507" y="70267"/>
                  </a:lnTo>
                  <a:lnTo>
                    <a:pt x="154507" y="79249"/>
                  </a:lnTo>
                  <a:cubicBezTo>
                    <a:pt x="154507" y="82481"/>
                    <a:pt x="157128" y="85102"/>
                    <a:pt x="160360" y="85102"/>
                  </a:cubicBezTo>
                  <a:cubicBezTo>
                    <a:pt x="163592" y="85102"/>
                    <a:pt x="166212" y="82481"/>
                    <a:pt x="166212" y="79249"/>
                  </a:cubicBezTo>
                  <a:lnTo>
                    <a:pt x="166212" y="70267"/>
                  </a:lnTo>
                  <a:lnTo>
                    <a:pt x="175573" y="70267"/>
                  </a:lnTo>
                  <a:cubicBezTo>
                    <a:pt x="179023" y="70267"/>
                    <a:pt x="181819" y="67471"/>
                    <a:pt x="181819" y="64021"/>
                  </a:cubicBezTo>
                  <a:cubicBezTo>
                    <a:pt x="181819" y="60572"/>
                    <a:pt x="179023" y="57776"/>
                    <a:pt x="175573" y="57776"/>
                  </a:cubicBezTo>
                  <a:lnTo>
                    <a:pt x="166212" y="57776"/>
                  </a:lnTo>
                  <a:lnTo>
                    <a:pt x="166212" y="48794"/>
                  </a:lnTo>
                  <a:cubicBezTo>
                    <a:pt x="166212" y="45562"/>
                    <a:pt x="163592" y="42941"/>
                    <a:pt x="160360" y="42941"/>
                  </a:cubicBezTo>
                  <a:close/>
                  <a:moveTo>
                    <a:pt x="88243" y="52808"/>
                  </a:moveTo>
                  <a:lnTo>
                    <a:pt x="100627" y="79245"/>
                  </a:lnTo>
                  <a:lnTo>
                    <a:pt x="76566" y="79245"/>
                  </a:lnTo>
                  <a:lnTo>
                    <a:pt x="88243" y="52808"/>
                  </a:lnTo>
                  <a:close/>
                </a:path>
              </a:pathLst>
            </a:custGeom>
            <a:solidFill>
              <a:schemeClr val="accent1"/>
            </a:solidFill>
            <a:ln w="3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-2" y="1537960"/>
            <a:ext cx="2703742" cy="921872"/>
            <a:chOff x="-2" y="1537960"/>
            <a:chExt cx="2703742" cy="921872"/>
          </a:xfrm>
        </p:grpSpPr>
        <p:sp>
          <p:nvSpPr>
            <p:cNvPr id="10" name="矩形 9"/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图形 15"/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bg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</p:grpSpPr>
        <p:sp>
          <p:nvSpPr>
            <p:cNvPr id="21" name="任意形状 20"/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/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/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/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/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930467" y="212442"/>
            <a:ext cx="1712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荣誉证书</a:t>
            </a:r>
            <a:endParaRPr kumimoji="1" lang="zh-CN" altLang="en-US" sz="2400" b="1" dirty="0"/>
          </a:p>
        </p:txBody>
      </p:sp>
      <p:cxnSp>
        <p:nvCxnSpPr>
          <p:cNvPr id="31" name="直线连接符 30"/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/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/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/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/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275330" y="1055370"/>
            <a:ext cx="83064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+mn-ea"/>
              </a:rPr>
              <a:t>荣获国家级荣誉 2 项、省级奖项 1 项、校级荣誉</a:t>
            </a:r>
            <a:r>
              <a:rPr lang="en-US" altLang="zh-CN" sz="2400" b="1" dirty="0">
                <a:solidFill>
                  <a:schemeClr val="accent1"/>
                </a:solidFill>
                <a:latin typeface="+mn-ea"/>
              </a:rPr>
              <a:t>19</a:t>
            </a:r>
            <a:r>
              <a:rPr lang="zh-CN" altLang="en-US" sz="2400" b="1" dirty="0">
                <a:solidFill>
                  <a:schemeClr val="accent1"/>
                </a:solidFill>
                <a:latin typeface="+mn-ea"/>
              </a:rPr>
              <a:t>项</a:t>
            </a:r>
            <a:endParaRPr lang="zh-CN" altLang="en-US" sz="2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810510" y="2005965"/>
            <a:ext cx="9086215" cy="4480560"/>
          </a:xfrm>
          <a:prstGeom prst="roundRect">
            <a:avLst>
              <a:gd name="adj" fmla="val 10293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/>
          </a:p>
        </p:txBody>
      </p:sp>
      <p:sp>
        <p:nvSpPr>
          <p:cNvPr id="14" name="文本框 13"/>
          <p:cNvSpPr txBox="1"/>
          <p:nvPr/>
        </p:nvSpPr>
        <p:spPr>
          <a:xfrm>
            <a:off x="2813685" y="2851785"/>
            <a:ext cx="4805045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+mn-ea"/>
              </a:rPr>
              <a:t>2024 年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>
                <a:latin typeface="+mn-ea"/>
              </a:rPr>
              <a:t>2025 年国家励志奖学金</a:t>
            </a:r>
            <a:endParaRPr lang="en-US" altLang="zh-CN" sz="20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+mn-ea"/>
              </a:rPr>
              <a:t>2024 年中国机器人及人工智能大赛湖北赛区三等奖</a:t>
            </a:r>
            <a:endParaRPr lang="en-US" altLang="zh-CN" sz="20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+mn-ea"/>
              </a:rPr>
              <a:t>中国国际大学生创新大赛校级银奖</a:t>
            </a:r>
            <a:endParaRPr lang="en-US" altLang="zh-CN" sz="20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+mn-ea"/>
              </a:rPr>
              <a:t>校级二等奖学金、</a:t>
            </a:r>
            <a:endParaRPr lang="en-US" altLang="zh-CN" sz="20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+mn-ea"/>
              </a:rPr>
              <a:t>优秀学生、先进个人</a:t>
            </a:r>
            <a:endParaRPr lang="en-US" altLang="zh-CN" sz="2000" dirty="0">
              <a:latin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+mn-ea"/>
              </a:rPr>
              <a:t>优秀共青团员、优秀学生干部</a:t>
            </a:r>
            <a:r>
              <a:rPr lang="zh-CN" altLang="en-US" sz="2000" dirty="0">
                <a:latin typeface="+mn-ea"/>
              </a:rPr>
              <a:t>等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8" name="图形 15"/>
          <p:cNvSpPr/>
          <p:nvPr/>
        </p:nvSpPr>
        <p:spPr>
          <a:xfrm>
            <a:off x="3526245" y="2223450"/>
            <a:ext cx="524058" cy="500844"/>
          </a:xfrm>
          <a:custGeom>
            <a:avLst/>
            <a:gdLst>
              <a:gd name="connsiteX0" fmla="*/ 1659454 w 1680234"/>
              <a:gd name="connsiteY0" fmla="*/ 20955 h 1605805"/>
              <a:gd name="connsiteX1" fmla="*/ 1608939 w 1680234"/>
              <a:gd name="connsiteY1" fmla="*/ 0 h 1605805"/>
              <a:gd name="connsiteX2" fmla="*/ 69304 w 1680234"/>
              <a:gd name="connsiteY2" fmla="*/ 0 h 1605805"/>
              <a:gd name="connsiteX3" fmla="*/ 33 w 1680234"/>
              <a:gd name="connsiteY3" fmla="*/ 73604 h 1605805"/>
              <a:gd name="connsiteX4" fmla="*/ 69304 w 1680234"/>
              <a:gd name="connsiteY4" fmla="*/ 142875 h 1605805"/>
              <a:gd name="connsiteX5" fmla="*/ 172372 w 1680234"/>
              <a:gd name="connsiteY5" fmla="*/ 142875 h 1605805"/>
              <a:gd name="connsiteX6" fmla="*/ 172372 w 1680234"/>
              <a:gd name="connsiteY6" fmla="*/ 1196340 h 1605805"/>
              <a:gd name="connsiteX7" fmla="*/ 221836 w 1680234"/>
              <a:gd name="connsiteY7" fmla="*/ 1279766 h 1605805"/>
              <a:gd name="connsiteX8" fmla="*/ 794978 w 1680234"/>
              <a:gd name="connsiteY8" fmla="*/ 1594091 h 1605805"/>
              <a:gd name="connsiteX9" fmla="*/ 886747 w 1680234"/>
              <a:gd name="connsiteY9" fmla="*/ 1593959 h 1605805"/>
              <a:gd name="connsiteX10" fmla="*/ 1456670 w 1680234"/>
              <a:gd name="connsiteY10" fmla="*/ 1279832 h 1605805"/>
              <a:gd name="connsiteX11" fmla="*/ 1505937 w 1680234"/>
              <a:gd name="connsiteY11" fmla="*/ 1196406 h 1605805"/>
              <a:gd name="connsiteX12" fmla="*/ 1505806 w 1680234"/>
              <a:gd name="connsiteY12" fmla="*/ 142941 h 1605805"/>
              <a:gd name="connsiteX13" fmla="*/ 1608939 w 1680234"/>
              <a:gd name="connsiteY13" fmla="*/ 142941 h 1605805"/>
              <a:gd name="connsiteX14" fmla="*/ 1680234 w 1680234"/>
              <a:gd name="connsiteY14" fmla="*/ 71296 h 1605805"/>
              <a:gd name="connsiteX15" fmla="*/ 1659388 w 1680234"/>
              <a:gd name="connsiteY15" fmla="*/ 21021 h 1605805"/>
              <a:gd name="connsiteX16" fmla="*/ 517111 w 1680234"/>
              <a:gd name="connsiteY16" fmla="*/ 645861 h 1605805"/>
              <a:gd name="connsiteX17" fmla="*/ 527621 w 1680234"/>
              <a:gd name="connsiteY17" fmla="*/ 625825 h 1605805"/>
              <a:gd name="connsiteX18" fmla="*/ 532088 w 1680234"/>
              <a:gd name="connsiteY18" fmla="*/ 620702 h 1605805"/>
              <a:gd name="connsiteX19" fmla="*/ 567626 w 1680234"/>
              <a:gd name="connsiteY19" fmla="*/ 602637 h 1605805"/>
              <a:gd name="connsiteX20" fmla="*/ 716742 w 1680234"/>
              <a:gd name="connsiteY20" fmla="*/ 580894 h 1605805"/>
              <a:gd name="connsiteX21" fmla="*/ 783351 w 1680234"/>
              <a:gd name="connsiteY21" fmla="*/ 445836 h 1605805"/>
              <a:gd name="connsiteX22" fmla="*/ 866681 w 1680234"/>
              <a:gd name="connsiteY22" fmla="*/ 417624 h 1605805"/>
              <a:gd name="connsiteX23" fmla="*/ 894892 w 1680234"/>
              <a:gd name="connsiteY23" fmla="*/ 445836 h 1605805"/>
              <a:gd name="connsiteX24" fmla="*/ 961567 w 1680234"/>
              <a:gd name="connsiteY24" fmla="*/ 580894 h 1605805"/>
              <a:gd name="connsiteX25" fmla="*/ 1110683 w 1680234"/>
              <a:gd name="connsiteY25" fmla="*/ 602571 h 1605805"/>
              <a:gd name="connsiteX26" fmla="*/ 1163891 w 1680234"/>
              <a:gd name="connsiteY26" fmla="*/ 666684 h 1605805"/>
              <a:gd name="connsiteX27" fmla="*/ 1163234 w 1680234"/>
              <a:gd name="connsiteY27" fmla="*/ 673056 h 1605805"/>
              <a:gd name="connsiteX28" fmla="*/ 1145104 w 1680234"/>
              <a:gd name="connsiteY28" fmla="*/ 708660 h 1605805"/>
              <a:gd name="connsiteX29" fmla="*/ 1037242 w 1680234"/>
              <a:gd name="connsiteY29" fmla="*/ 813763 h 1605805"/>
              <a:gd name="connsiteX30" fmla="*/ 1062729 w 1680234"/>
              <a:gd name="connsiteY30" fmla="*/ 962222 h 1605805"/>
              <a:gd name="connsiteX31" fmla="*/ 1018126 w 1680234"/>
              <a:gd name="connsiteY31" fmla="*/ 1032641 h 1605805"/>
              <a:gd name="connsiteX32" fmla="*/ 1011951 w 1680234"/>
              <a:gd name="connsiteY32" fmla="*/ 1034087 h 1605805"/>
              <a:gd name="connsiteX33" fmla="*/ 972537 w 1680234"/>
              <a:gd name="connsiteY33" fmla="*/ 1027780 h 1605805"/>
              <a:gd name="connsiteX34" fmla="*/ 839187 w 1680234"/>
              <a:gd name="connsiteY34" fmla="*/ 957689 h 1605805"/>
              <a:gd name="connsiteX35" fmla="*/ 705837 w 1680234"/>
              <a:gd name="connsiteY35" fmla="*/ 1027780 h 1605805"/>
              <a:gd name="connsiteX36" fmla="*/ 625039 w 1680234"/>
              <a:gd name="connsiteY36" fmla="*/ 1007220 h 1605805"/>
              <a:gd name="connsiteX37" fmla="*/ 621820 w 1680234"/>
              <a:gd name="connsiteY37" fmla="*/ 1001702 h 1605805"/>
              <a:gd name="connsiteX38" fmla="*/ 615580 w 1680234"/>
              <a:gd name="connsiteY38" fmla="*/ 962288 h 1605805"/>
              <a:gd name="connsiteX39" fmla="*/ 641002 w 1680234"/>
              <a:gd name="connsiteY39" fmla="*/ 813829 h 1605805"/>
              <a:gd name="connsiteX40" fmla="*/ 533139 w 1680234"/>
              <a:gd name="connsiteY40" fmla="*/ 708726 h 1605805"/>
              <a:gd name="connsiteX41" fmla="*/ 517111 w 1680234"/>
              <a:gd name="connsiteY41" fmla="*/ 645861 h 1605805"/>
              <a:gd name="connsiteX42" fmla="*/ 999470 w 1680234"/>
              <a:gd name="connsiteY42" fmla="*/ 697296 h 1605805"/>
              <a:gd name="connsiteX43" fmla="*/ 888717 w 1680234"/>
              <a:gd name="connsiteY43" fmla="*/ 681267 h 1605805"/>
              <a:gd name="connsiteX44" fmla="*/ 839122 w 1680234"/>
              <a:gd name="connsiteY44" fmla="*/ 580762 h 1605805"/>
              <a:gd name="connsiteX45" fmla="*/ 789592 w 1680234"/>
              <a:gd name="connsiteY45" fmla="*/ 681267 h 1605805"/>
              <a:gd name="connsiteX46" fmla="*/ 678773 w 1680234"/>
              <a:gd name="connsiteY46" fmla="*/ 697296 h 1605805"/>
              <a:gd name="connsiteX47" fmla="*/ 758915 w 1680234"/>
              <a:gd name="connsiteY47" fmla="*/ 775466 h 1605805"/>
              <a:gd name="connsiteX48" fmla="*/ 739996 w 1680234"/>
              <a:gd name="connsiteY48" fmla="*/ 885825 h 1605805"/>
              <a:gd name="connsiteX49" fmla="*/ 839187 w 1680234"/>
              <a:gd name="connsiteY49" fmla="*/ 833733 h 1605805"/>
              <a:gd name="connsiteX50" fmla="*/ 938247 w 1680234"/>
              <a:gd name="connsiteY50" fmla="*/ 885891 h 1605805"/>
              <a:gd name="connsiteX51" fmla="*/ 919329 w 1680234"/>
              <a:gd name="connsiteY51" fmla="*/ 775532 h 1605805"/>
              <a:gd name="connsiteX52" fmla="*/ 999470 w 1680234"/>
              <a:gd name="connsiteY52" fmla="*/ 697296 h 1605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680234" h="1605805">
                <a:moveTo>
                  <a:pt x="1659454" y="20955"/>
                </a:moveTo>
                <a:cubicBezTo>
                  <a:pt x="1646060" y="7549"/>
                  <a:pt x="1627889" y="12"/>
                  <a:pt x="1608939" y="0"/>
                </a:cubicBezTo>
                <a:lnTo>
                  <a:pt x="69304" y="0"/>
                </a:lnTo>
                <a:cubicBezTo>
                  <a:pt x="29851" y="1197"/>
                  <a:pt x="-1163" y="34150"/>
                  <a:pt x="33" y="73604"/>
                </a:cubicBezTo>
                <a:cubicBezTo>
                  <a:pt x="1179" y="111377"/>
                  <a:pt x="31532" y="141729"/>
                  <a:pt x="69304" y="142875"/>
                </a:cubicBezTo>
                <a:lnTo>
                  <a:pt x="172372" y="142875"/>
                </a:lnTo>
                <a:lnTo>
                  <a:pt x="172372" y="1196340"/>
                </a:lnTo>
                <a:cubicBezTo>
                  <a:pt x="172407" y="1231090"/>
                  <a:pt x="191364" y="1263062"/>
                  <a:pt x="221836" y="1279766"/>
                </a:cubicBezTo>
                <a:lnTo>
                  <a:pt x="794978" y="1594091"/>
                </a:lnTo>
                <a:cubicBezTo>
                  <a:pt x="823574" y="1609757"/>
                  <a:pt x="858196" y="1609707"/>
                  <a:pt x="886747" y="1593959"/>
                </a:cubicBezTo>
                <a:lnTo>
                  <a:pt x="1456670" y="1279832"/>
                </a:lnTo>
                <a:cubicBezTo>
                  <a:pt x="1487066" y="1263076"/>
                  <a:pt x="1505941" y="1231114"/>
                  <a:pt x="1505937" y="1196406"/>
                </a:cubicBezTo>
                <a:lnTo>
                  <a:pt x="1505806" y="142941"/>
                </a:lnTo>
                <a:lnTo>
                  <a:pt x="1608939" y="142941"/>
                </a:lnTo>
                <a:cubicBezTo>
                  <a:pt x="1648411" y="142844"/>
                  <a:pt x="1680331" y="110768"/>
                  <a:pt x="1680234" y="71296"/>
                </a:cubicBezTo>
                <a:cubicBezTo>
                  <a:pt x="1680188" y="52444"/>
                  <a:pt x="1672696" y="34374"/>
                  <a:pt x="1659388" y="21021"/>
                </a:cubicBezTo>
                <a:close/>
                <a:moveTo>
                  <a:pt x="517111" y="645861"/>
                </a:moveTo>
                <a:cubicBezTo>
                  <a:pt x="519359" y="638595"/>
                  <a:pt x="522921" y="631804"/>
                  <a:pt x="527621" y="625825"/>
                </a:cubicBezTo>
                <a:lnTo>
                  <a:pt x="532088" y="620702"/>
                </a:lnTo>
                <a:cubicBezTo>
                  <a:pt x="541617" y="610925"/>
                  <a:pt x="554112" y="604573"/>
                  <a:pt x="567626" y="602637"/>
                </a:cubicBezTo>
                <a:lnTo>
                  <a:pt x="716742" y="580894"/>
                </a:lnTo>
                <a:lnTo>
                  <a:pt x="783351" y="445836"/>
                </a:lnTo>
                <a:cubicBezTo>
                  <a:pt x="798571" y="415034"/>
                  <a:pt x="835879" y="402404"/>
                  <a:pt x="866681" y="417624"/>
                </a:cubicBezTo>
                <a:cubicBezTo>
                  <a:pt x="878927" y="423676"/>
                  <a:pt x="888841" y="433590"/>
                  <a:pt x="894892" y="445836"/>
                </a:cubicBezTo>
                <a:lnTo>
                  <a:pt x="961567" y="580894"/>
                </a:lnTo>
                <a:lnTo>
                  <a:pt x="1110683" y="602571"/>
                </a:lnTo>
                <a:cubicBezTo>
                  <a:pt x="1142224" y="607155"/>
                  <a:pt x="1165199" y="634838"/>
                  <a:pt x="1163891" y="666684"/>
                </a:cubicBezTo>
                <a:lnTo>
                  <a:pt x="1163234" y="673056"/>
                </a:lnTo>
                <a:cubicBezTo>
                  <a:pt x="1161270" y="686595"/>
                  <a:pt x="1154898" y="699109"/>
                  <a:pt x="1145104" y="708660"/>
                </a:cubicBezTo>
                <a:lnTo>
                  <a:pt x="1037242" y="813763"/>
                </a:lnTo>
                <a:lnTo>
                  <a:pt x="1062729" y="962222"/>
                </a:lnTo>
                <a:cubicBezTo>
                  <a:pt x="1068080" y="993652"/>
                  <a:pt x="1048828" y="1024047"/>
                  <a:pt x="1018126" y="1032641"/>
                </a:cubicBezTo>
                <a:lnTo>
                  <a:pt x="1011951" y="1034087"/>
                </a:lnTo>
                <a:cubicBezTo>
                  <a:pt x="998477" y="1036371"/>
                  <a:pt x="984626" y="1034155"/>
                  <a:pt x="972537" y="1027780"/>
                </a:cubicBezTo>
                <a:lnTo>
                  <a:pt x="839187" y="957689"/>
                </a:lnTo>
                <a:lnTo>
                  <a:pt x="705837" y="1027780"/>
                </a:lnTo>
                <a:cubicBezTo>
                  <a:pt x="677617" y="1042659"/>
                  <a:pt x="642715" y="1033777"/>
                  <a:pt x="625039" y="1007220"/>
                </a:cubicBezTo>
                <a:lnTo>
                  <a:pt x="621820" y="1001702"/>
                </a:lnTo>
                <a:cubicBezTo>
                  <a:pt x="615468" y="989605"/>
                  <a:pt x="613275" y="975755"/>
                  <a:pt x="615580" y="962288"/>
                </a:cubicBezTo>
                <a:lnTo>
                  <a:pt x="641002" y="813829"/>
                </a:lnTo>
                <a:lnTo>
                  <a:pt x="533139" y="708726"/>
                </a:lnTo>
                <a:cubicBezTo>
                  <a:pt x="516427" y="692436"/>
                  <a:pt x="510239" y="668163"/>
                  <a:pt x="517111" y="645861"/>
                </a:cubicBezTo>
                <a:close/>
                <a:moveTo>
                  <a:pt x="999470" y="697296"/>
                </a:moveTo>
                <a:lnTo>
                  <a:pt x="888717" y="681267"/>
                </a:lnTo>
                <a:lnTo>
                  <a:pt x="839122" y="580762"/>
                </a:lnTo>
                <a:lnTo>
                  <a:pt x="789592" y="681267"/>
                </a:lnTo>
                <a:lnTo>
                  <a:pt x="678773" y="697296"/>
                </a:lnTo>
                <a:lnTo>
                  <a:pt x="758915" y="775466"/>
                </a:lnTo>
                <a:lnTo>
                  <a:pt x="739996" y="885825"/>
                </a:lnTo>
                <a:lnTo>
                  <a:pt x="839187" y="833733"/>
                </a:lnTo>
                <a:lnTo>
                  <a:pt x="938247" y="885891"/>
                </a:lnTo>
                <a:lnTo>
                  <a:pt x="919329" y="775532"/>
                </a:lnTo>
                <a:lnTo>
                  <a:pt x="999470" y="697296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064181" y="2168362"/>
            <a:ext cx="1881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</a:rPr>
              <a:t>相关奖项</a:t>
            </a:r>
            <a:endParaRPr kumimoji="1" lang="zh-CN" altLang="en-US" sz="2800" b="1" dirty="0">
              <a:solidFill>
                <a:schemeClr val="accent1"/>
              </a:solidFill>
            </a:endParaRPr>
          </a:p>
        </p:txBody>
      </p:sp>
      <p:pic>
        <p:nvPicPr>
          <p:cNvPr id="15" name="图片 14" descr="电子证书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9555" y="2390140"/>
            <a:ext cx="2762885" cy="4019550"/>
          </a:xfrm>
          <a:prstGeom prst="rect">
            <a:avLst/>
          </a:prstGeom>
        </p:spPr>
      </p:pic>
      <p:pic>
        <p:nvPicPr>
          <p:cNvPr id="2" name="图片 1" descr="实体证书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205" y="1747520"/>
            <a:ext cx="2762885" cy="401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-2" y="1537960"/>
            <a:ext cx="2703742" cy="921872"/>
            <a:chOff x="-2" y="1537960"/>
            <a:chExt cx="2703742" cy="921872"/>
          </a:xfrm>
        </p:grpSpPr>
        <p:sp>
          <p:nvSpPr>
            <p:cNvPr id="10" name="矩形 9"/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矩形 55"/>
          <p:cNvSpPr/>
          <p:nvPr/>
        </p:nvSpPr>
        <p:spPr>
          <a:xfrm>
            <a:off x="3251835" y="1166495"/>
            <a:ext cx="5812790" cy="10433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图形 15"/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bg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</p:grpSpPr>
        <p:sp>
          <p:nvSpPr>
            <p:cNvPr id="21" name="任意形状 20"/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/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/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/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/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930467" y="212442"/>
            <a:ext cx="1712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荣誉证书</a:t>
            </a:r>
            <a:endParaRPr kumimoji="1" lang="zh-CN" altLang="en-US" sz="2400" b="1" dirty="0"/>
          </a:p>
        </p:txBody>
      </p:sp>
      <p:cxnSp>
        <p:nvCxnSpPr>
          <p:cNvPr id="31" name="直线连接符 30"/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/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/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/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/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5" name="文本框 54"/>
          <p:cNvSpPr txBox="1"/>
          <p:nvPr/>
        </p:nvSpPr>
        <p:spPr>
          <a:xfrm>
            <a:off x="3704025" y="1243319"/>
            <a:ext cx="51198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大厂证书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项</a:t>
            </a:r>
            <a:endParaRPr lang="zh-CN" altLang="en-US" sz="24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腾讯科技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</a:rPr>
              <a:t>，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华为技术</a:t>
            </a:r>
            <a:r>
              <a:rPr lang="en-US" altLang="zh-CN" sz="2400" b="1" dirty="0">
                <a:solidFill>
                  <a:schemeClr val="bg1"/>
                </a:solidFill>
                <a:latin typeface="+mn-ea"/>
              </a:rPr>
              <a:t>，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金山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办公</a:t>
            </a:r>
            <a:endParaRPr lang="zh-CN" altLang="en-US" sz="2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7" name="左大括号 56"/>
          <p:cNvSpPr/>
          <p:nvPr/>
        </p:nvSpPr>
        <p:spPr>
          <a:xfrm rot="5400000">
            <a:off x="6357620" y="-762635"/>
            <a:ext cx="453390" cy="6520815"/>
          </a:xfrm>
          <a:prstGeom prst="leftBrace">
            <a:avLst>
              <a:gd name="adj1" fmla="val 61821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67" name="组合 66"/>
          <p:cNvGrpSpPr/>
          <p:nvPr/>
        </p:nvGrpSpPr>
        <p:grpSpPr>
          <a:xfrm>
            <a:off x="11423595" y="1499658"/>
            <a:ext cx="359992" cy="710158"/>
            <a:chOff x="10210147" y="766557"/>
            <a:chExt cx="965551" cy="1904748"/>
          </a:xfrm>
          <a:solidFill>
            <a:schemeClr val="accent1"/>
          </a:solidFill>
        </p:grpSpPr>
        <p:sp>
          <p:nvSpPr>
            <p:cNvPr id="65" name="任意形状 64"/>
            <p:cNvSpPr/>
            <p:nvPr/>
          </p:nvSpPr>
          <p:spPr>
            <a:xfrm>
              <a:off x="10370794" y="766557"/>
              <a:ext cx="804904" cy="1646825"/>
            </a:xfrm>
            <a:custGeom>
              <a:avLst/>
              <a:gdLst>
                <a:gd name="connsiteX0" fmla="*/ 203092 w 804904"/>
                <a:gd name="connsiteY0" fmla="*/ 186291 h 1646825"/>
                <a:gd name="connsiteX1" fmla="*/ 1638 w 804904"/>
                <a:gd name="connsiteY1" fmla="*/ 26450 h 1646825"/>
                <a:gd name="connsiteX2" fmla="*/ 24081 w 804904"/>
                <a:gd name="connsiteY2" fmla="*/ 554 h 1646825"/>
                <a:gd name="connsiteX3" fmla="*/ 194222 w 804904"/>
                <a:gd name="connsiteY3" fmla="*/ 67229 h 1646825"/>
                <a:gd name="connsiteX4" fmla="*/ 240477 w 804904"/>
                <a:gd name="connsiteY4" fmla="*/ 129856 h 1646825"/>
                <a:gd name="connsiteX5" fmla="*/ 203032 w 804904"/>
                <a:gd name="connsiteY5" fmla="*/ 186291 h 1646825"/>
                <a:gd name="connsiteX6" fmla="*/ 570400 w 804904"/>
                <a:gd name="connsiteY6" fmla="*/ 1274880 h 1646825"/>
                <a:gd name="connsiteX7" fmla="*/ 577246 w 804904"/>
                <a:gd name="connsiteY7" fmla="*/ 1208205 h 1646825"/>
                <a:gd name="connsiteX8" fmla="*/ 580639 w 804904"/>
                <a:gd name="connsiteY8" fmla="*/ 1202073 h 1646825"/>
                <a:gd name="connsiteX9" fmla="*/ 790844 w 804904"/>
                <a:gd name="connsiteY9" fmla="*/ 1095929 h 1646825"/>
                <a:gd name="connsiteX10" fmla="*/ 790844 w 804904"/>
                <a:gd name="connsiteY10" fmla="*/ 1114324 h 1646825"/>
                <a:gd name="connsiteX11" fmla="*/ 629633 w 804904"/>
                <a:gd name="connsiteY11" fmla="*/ 1274880 h 1646825"/>
                <a:gd name="connsiteX12" fmla="*/ 570459 w 804904"/>
                <a:gd name="connsiteY12" fmla="*/ 1274880 h 1646825"/>
                <a:gd name="connsiteX13" fmla="*/ 672496 w 804904"/>
                <a:gd name="connsiteY13" fmla="*/ 856494 h 1646825"/>
                <a:gd name="connsiteX14" fmla="*/ 624871 w 804904"/>
                <a:gd name="connsiteY14" fmla="*/ 839468 h 1646825"/>
                <a:gd name="connsiteX15" fmla="*/ 760245 w 804904"/>
                <a:gd name="connsiteY15" fmla="*/ 618369 h 1646825"/>
                <a:gd name="connsiteX16" fmla="*/ 759590 w 804904"/>
                <a:gd name="connsiteY16" fmla="*/ 731955 h 1646825"/>
                <a:gd name="connsiteX17" fmla="*/ 672496 w 804904"/>
                <a:gd name="connsiteY17" fmla="*/ 856494 h 1646825"/>
                <a:gd name="connsiteX18" fmla="*/ 647314 w 804904"/>
                <a:gd name="connsiteY18" fmla="*/ 1076224 h 1646825"/>
                <a:gd name="connsiteX19" fmla="*/ 626895 w 804904"/>
                <a:gd name="connsiteY19" fmla="*/ 1057829 h 1646825"/>
                <a:gd name="connsiteX20" fmla="*/ 671781 w 804904"/>
                <a:gd name="connsiteY20" fmla="*/ 917692 h 1646825"/>
                <a:gd name="connsiteX21" fmla="*/ 790844 w 804904"/>
                <a:gd name="connsiteY21" fmla="*/ 846969 h 1646825"/>
                <a:gd name="connsiteX22" fmla="*/ 798345 w 804904"/>
                <a:gd name="connsiteY22" fmla="*/ 856494 h 1646825"/>
                <a:gd name="connsiteX23" fmla="*/ 802453 w 804904"/>
                <a:gd name="connsiteY23" fmla="*/ 861912 h 1646825"/>
                <a:gd name="connsiteX24" fmla="*/ 647314 w 804904"/>
                <a:gd name="connsiteY24" fmla="*/ 1076224 h 1646825"/>
                <a:gd name="connsiteX25" fmla="*/ 465684 w 804904"/>
                <a:gd name="connsiteY25" fmla="*/ 1420493 h 1646825"/>
                <a:gd name="connsiteX26" fmla="*/ 665709 w 804904"/>
                <a:gd name="connsiteY26" fmla="*/ 1318457 h 1646825"/>
                <a:gd name="connsiteX27" fmla="*/ 710596 w 804904"/>
                <a:gd name="connsiteY27" fmla="*/ 1349711 h 1646825"/>
                <a:gd name="connsiteX28" fmla="*/ 496938 w 804904"/>
                <a:gd name="connsiteY28" fmla="*/ 1474905 h 1646825"/>
                <a:gd name="connsiteX29" fmla="*/ 465684 w 804904"/>
                <a:gd name="connsiteY29" fmla="*/ 1420493 h 1646825"/>
                <a:gd name="connsiteX30" fmla="*/ 311201 w 804904"/>
                <a:gd name="connsiteY30" fmla="*/ 1636830 h 1646825"/>
                <a:gd name="connsiteX31" fmla="*/ 301676 w 804904"/>
                <a:gd name="connsiteY31" fmla="*/ 1604207 h 1646825"/>
                <a:gd name="connsiteX32" fmla="*/ 582008 w 804904"/>
                <a:gd name="connsiteY32" fmla="*/ 1540211 h 1646825"/>
                <a:gd name="connsiteX33" fmla="*/ 583378 w 804904"/>
                <a:gd name="connsiteY33" fmla="*/ 1543604 h 1646825"/>
                <a:gd name="connsiteX34" fmla="*/ 311201 w 804904"/>
                <a:gd name="connsiteY34" fmla="*/ 1636830 h 164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804904" h="1646825">
                  <a:moveTo>
                    <a:pt x="203092" y="186291"/>
                  </a:moveTo>
                  <a:cubicBezTo>
                    <a:pt x="102365" y="184982"/>
                    <a:pt x="27475" y="125093"/>
                    <a:pt x="1638" y="26450"/>
                  </a:cubicBezTo>
                  <a:cubicBezTo>
                    <a:pt x="-3779" y="4662"/>
                    <a:pt x="4377" y="-2125"/>
                    <a:pt x="24081" y="554"/>
                  </a:cubicBezTo>
                  <a:cubicBezTo>
                    <a:pt x="85994" y="9424"/>
                    <a:pt x="145882" y="25736"/>
                    <a:pt x="194222" y="67229"/>
                  </a:cubicBezTo>
                  <a:cubicBezTo>
                    <a:pt x="213272" y="83600"/>
                    <a:pt x="229583" y="106698"/>
                    <a:pt x="240477" y="129856"/>
                  </a:cubicBezTo>
                  <a:cubicBezTo>
                    <a:pt x="261552" y="175457"/>
                    <a:pt x="252681" y="187006"/>
                    <a:pt x="203032" y="186291"/>
                  </a:cubicBezTo>
                  <a:close/>
                  <a:moveTo>
                    <a:pt x="570400" y="1274880"/>
                  </a:moveTo>
                  <a:cubicBezTo>
                    <a:pt x="572483" y="1252437"/>
                    <a:pt x="575162" y="1230648"/>
                    <a:pt x="577246" y="1208205"/>
                  </a:cubicBezTo>
                  <a:cubicBezTo>
                    <a:pt x="577246" y="1206181"/>
                    <a:pt x="579270" y="1204157"/>
                    <a:pt x="580639" y="1202073"/>
                  </a:cubicBezTo>
                  <a:cubicBezTo>
                    <a:pt x="614631" y="1136113"/>
                    <a:pt x="703809" y="1089142"/>
                    <a:pt x="790844" y="1095929"/>
                  </a:cubicBezTo>
                  <a:cubicBezTo>
                    <a:pt x="790844" y="1103430"/>
                    <a:pt x="792213" y="1109562"/>
                    <a:pt x="790844" y="1114324"/>
                  </a:cubicBezTo>
                  <a:cubicBezTo>
                    <a:pt x="760959" y="1191893"/>
                    <a:pt x="715358" y="1254461"/>
                    <a:pt x="629633" y="1274880"/>
                  </a:cubicBezTo>
                  <a:cubicBezTo>
                    <a:pt x="610583" y="1278988"/>
                    <a:pt x="590164" y="1275594"/>
                    <a:pt x="570459" y="1274880"/>
                  </a:cubicBezTo>
                  <a:close/>
                  <a:moveTo>
                    <a:pt x="672496" y="856494"/>
                  </a:moveTo>
                  <a:cubicBezTo>
                    <a:pt x="650052" y="868698"/>
                    <a:pt x="636420" y="866019"/>
                    <a:pt x="624871" y="839468"/>
                  </a:cubicBezTo>
                  <a:cubicBezTo>
                    <a:pt x="584747" y="746957"/>
                    <a:pt x="661602" y="646944"/>
                    <a:pt x="760245" y="618369"/>
                  </a:cubicBezTo>
                  <a:cubicBezTo>
                    <a:pt x="760245" y="659148"/>
                    <a:pt x="763638" y="695879"/>
                    <a:pt x="759590" y="731955"/>
                  </a:cubicBezTo>
                  <a:cubicBezTo>
                    <a:pt x="753458" y="787736"/>
                    <a:pt x="722145" y="829229"/>
                    <a:pt x="672496" y="856494"/>
                  </a:cubicBezTo>
                  <a:close/>
                  <a:moveTo>
                    <a:pt x="647314" y="1076224"/>
                  </a:moveTo>
                  <a:cubicBezTo>
                    <a:pt x="640527" y="1076879"/>
                    <a:pt x="628264" y="1065330"/>
                    <a:pt x="626895" y="1057829"/>
                  </a:cubicBezTo>
                  <a:cubicBezTo>
                    <a:pt x="616715" y="1003417"/>
                    <a:pt x="627609" y="952399"/>
                    <a:pt x="671781" y="917692"/>
                  </a:cubicBezTo>
                  <a:cubicBezTo>
                    <a:pt x="707857" y="889832"/>
                    <a:pt x="751434" y="870067"/>
                    <a:pt x="790844" y="846969"/>
                  </a:cubicBezTo>
                  <a:lnTo>
                    <a:pt x="798345" y="856494"/>
                  </a:lnTo>
                  <a:cubicBezTo>
                    <a:pt x="799714" y="858518"/>
                    <a:pt x="802453" y="859887"/>
                    <a:pt x="802453" y="861912"/>
                  </a:cubicBezTo>
                  <a:cubicBezTo>
                    <a:pt x="820788" y="947637"/>
                    <a:pt x="733039" y="1068723"/>
                    <a:pt x="647314" y="1076224"/>
                  </a:cubicBezTo>
                  <a:close/>
                  <a:moveTo>
                    <a:pt x="465684" y="1420493"/>
                  </a:moveTo>
                  <a:cubicBezTo>
                    <a:pt x="510571" y="1338816"/>
                    <a:pt x="590164" y="1326612"/>
                    <a:pt x="665709" y="1318457"/>
                  </a:cubicBezTo>
                  <a:cubicBezTo>
                    <a:pt x="711965" y="1317087"/>
                    <a:pt x="725538" y="1327982"/>
                    <a:pt x="710596" y="1349711"/>
                  </a:cubicBezTo>
                  <a:cubicBezTo>
                    <a:pt x="658208" y="1423232"/>
                    <a:pt x="591533" y="1473536"/>
                    <a:pt x="496938" y="1474905"/>
                  </a:cubicBezTo>
                  <a:cubicBezTo>
                    <a:pt x="451397" y="1475619"/>
                    <a:pt x="443181" y="1459962"/>
                    <a:pt x="465684" y="1420493"/>
                  </a:cubicBezTo>
                  <a:close/>
                  <a:moveTo>
                    <a:pt x="311201" y="1636830"/>
                  </a:moveTo>
                  <a:cubicBezTo>
                    <a:pt x="294234" y="1629329"/>
                    <a:pt x="293520" y="1619149"/>
                    <a:pt x="301676" y="1604207"/>
                  </a:cubicBezTo>
                  <a:cubicBezTo>
                    <a:pt x="344538" y="1526637"/>
                    <a:pt x="507832" y="1489192"/>
                    <a:pt x="582008" y="1540211"/>
                  </a:cubicBezTo>
                  <a:cubicBezTo>
                    <a:pt x="582663" y="1540925"/>
                    <a:pt x="582663" y="1542294"/>
                    <a:pt x="583378" y="1543604"/>
                  </a:cubicBezTo>
                  <a:cubicBezTo>
                    <a:pt x="537777" y="1617780"/>
                    <a:pt x="387401" y="1669512"/>
                    <a:pt x="311201" y="163683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形状 65"/>
            <p:cNvSpPr/>
            <p:nvPr/>
          </p:nvSpPr>
          <p:spPr>
            <a:xfrm>
              <a:off x="10210147" y="784911"/>
              <a:ext cx="838423" cy="1886394"/>
            </a:xfrm>
            <a:custGeom>
              <a:avLst/>
              <a:gdLst>
                <a:gd name="connsiteX0" fmla="*/ 497685 w 838423"/>
                <a:gd name="connsiteY0" fmla="*/ 255032 h 1886394"/>
                <a:gd name="connsiteX1" fmla="*/ 482802 w 838423"/>
                <a:gd name="connsiteY1" fmla="*/ 0 h 1886394"/>
                <a:gd name="connsiteX2" fmla="*/ 551501 w 838423"/>
                <a:gd name="connsiteY2" fmla="*/ 106085 h 1886394"/>
                <a:gd name="connsiteX3" fmla="*/ 546739 w 838423"/>
                <a:gd name="connsiteY3" fmla="*/ 244197 h 1886394"/>
                <a:gd name="connsiteX4" fmla="*/ 497744 w 838423"/>
                <a:gd name="connsiteY4" fmla="*/ 255091 h 1886394"/>
                <a:gd name="connsiteX5" fmla="*/ 782125 w 838423"/>
                <a:gd name="connsiteY5" fmla="*/ 627221 h 1886394"/>
                <a:gd name="connsiteX6" fmla="*/ 734500 w 838423"/>
                <a:gd name="connsiteY6" fmla="*/ 620375 h 1886394"/>
                <a:gd name="connsiteX7" fmla="*/ 729738 w 838423"/>
                <a:gd name="connsiteY7" fmla="*/ 450294 h 1886394"/>
                <a:gd name="connsiteX8" fmla="*/ 790281 w 838423"/>
                <a:gd name="connsiteY8" fmla="*/ 376833 h 1886394"/>
                <a:gd name="connsiteX9" fmla="*/ 802485 w 838423"/>
                <a:gd name="connsiteY9" fmla="*/ 376833 h 1886394"/>
                <a:gd name="connsiteX10" fmla="*/ 828381 w 838423"/>
                <a:gd name="connsiteY10" fmla="*/ 442139 h 1886394"/>
                <a:gd name="connsiteX11" fmla="*/ 782125 w 838423"/>
                <a:gd name="connsiteY11" fmla="*/ 627221 h 1886394"/>
                <a:gd name="connsiteX12" fmla="*/ 207887 w 838423"/>
                <a:gd name="connsiteY12" fmla="*/ 197227 h 1886394"/>
                <a:gd name="connsiteX13" fmla="*/ 492267 w 838423"/>
                <a:gd name="connsiteY13" fmla="*/ 290453 h 1886394"/>
                <a:gd name="connsiteX14" fmla="*/ 207887 w 838423"/>
                <a:gd name="connsiteY14" fmla="*/ 197227 h 1886394"/>
                <a:gd name="connsiteX15" fmla="*/ 635797 w 838423"/>
                <a:gd name="connsiteY15" fmla="*/ 435352 h 1886394"/>
                <a:gd name="connsiteX16" fmla="*/ 641929 w 838423"/>
                <a:gd name="connsiteY16" fmla="*/ 177463 h 1886394"/>
                <a:gd name="connsiteX17" fmla="*/ 700448 w 838423"/>
                <a:gd name="connsiteY17" fmla="*/ 296525 h 1886394"/>
                <a:gd name="connsiteX18" fmla="*/ 678660 w 838423"/>
                <a:gd name="connsiteY18" fmla="*/ 431244 h 1886394"/>
                <a:gd name="connsiteX19" fmla="*/ 635797 w 838423"/>
                <a:gd name="connsiteY19" fmla="*/ 435352 h 1886394"/>
                <a:gd name="connsiteX20" fmla="*/ 329688 w 838423"/>
                <a:gd name="connsiteY20" fmla="*/ 1850469 h 1886394"/>
                <a:gd name="connsiteX21" fmla="*/ 22804 w 838423"/>
                <a:gd name="connsiteY21" fmla="*/ 1823978 h 1886394"/>
                <a:gd name="connsiteX22" fmla="*/ 329688 w 838423"/>
                <a:gd name="connsiteY22" fmla="*/ 1850469 h 1886394"/>
                <a:gd name="connsiteX23" fmla="*/ 558288 w 838423"/>
                <a:gd name="connsiteY23" fmla="*/ 1707594 h 1886394"/>
                <a:gd name="connsiteX24" fmla="*/ 252118 w 838423"/>
                <a:gd name="connsiteY24" fmla="*/ 1733491 h 1886394"/>
                <a:gd name="connsiteX25" fmla="*/ 558288 w 838423"/>
                <a:gd name="connsiteY25" fmla="*/ 1707594 h 1886394"/>
                <a:gd name="connsiteX26" fmla="*/ 665742 w 838423"/>
                <a:gd name="connsiteY26" fmla="*/ 1242953 h 1886394"/>
                <a:gd name="connsiteX27" fmla="*/ 622224 w 838423"/>
                <a:gd name="connsiteY27" fmla="*/ 1000720 h 1886394"/>
                <a:gd name="connsiteX28" fmla="*/ 711997 w 838423"/>
                <a:gd name="connsiteY28" fmla="*/ 1125200 h 1886394"/>
                <a:gd name="connsiteX29" fmla="*/ 699079 w 838423"/>
                <a:gd name="connsiteY29" fmla="*/ 1235452 h 1886394"/>
                <a:gd name="connsiteX30" fmla="*/ 665742 w 838423"/>
                <a:gd name="connsiteY30" fmla="*/ 1242953 h 1886394"/>
                <a:gd name="connsiteX31" fmla="*/ 444642 w 838423"/>
                <a:gd name="connsiteY31" fmla="*/ 1568827 h 1886394"/>
                <a:gd name="connsiteX32" fmla="*/ 395648 w 838423"/>
                <a:gd name="connsiteY32" fmla="*/ 1555194 h 1886394"/>
                <a:gd name="connsiteX33" fmla="*/ 492267 w 838423"/>
                <a:gd name="connsiteY33" fmla="*/ 1334750 h 1886394"/>
                <a:gd name="connsiteX34" fmla="*/ 508579 w 838423"/>
                <a:gd name="connsiteY34" fmla="*/ 1457266 h 1886394"/>
                <a:gd name="connsiteX35" fmla="*/ 444642 w 838423"/>
                <a:gd name="connsiteY35" fmla="*/ 1568827 h 1886394"/>
                <a:gd name="connsiteX36" fmla="*/ 542631 w 838423"/>
                <a:gd name="connsiteY36" fmla="*/ 1406188 h 1886394"/>
                <a:gd name="connsiteX37" fmla="*/ 578647 w 838423"/>
                <a:gd name="connsiteY37" fmla="*/ 1171516 h 1886394"/>
                <a:gd name="connsiteX38" fmla="*/ 603174 w 838423"/>
                <a:gd name="connsiteY38" fmla="*/ 1212294 h 1886394"/>
                <a:gd name="connsiteX39" fmla="*/ 599066 w 838423"/>
                <a:gd name="connsiteY39" fmla="*/ 1406902 h 1886394"/>
                <a:gd name="connsiteX40" fmla="*/ 542631 w 838423"/>
                <a:gd name="connsiteY40" fmla="*/ 1406188 h 1886394"/>
                <a:gd name="connsiteX41" fmla="*/ 196338 w 838423"/>
                <a:gd name="connsiteY41" fmla="*/ 1585853 h 1886394"/>
                <a:gd name="connsiteX42" fmla="*/ 186813 w 838423"/>
                <a:gd name="connsiteY42" fmla="*/ 1625977 h 1886394"/>
                <a:gd name="connsiteX43" fmla="*/ 28936 w 838423"/>
                <a:gd name="connsiteY43" fmla="*/ 1787188 h 1886394"/>
                <a:gd name="connsiteX44" fmla="*/ 361 w 838423"/>
                <a:gd name="connsiteY44" fmla="*/ 1763375 h 1886394"/>
                <a:gd name="connsiteX45" fmla="*/ 35067 w 838423"/>
                <a:gd name="connsiteY45" fmla="*/ 1666101 h 1886394"/>
                <a:gd name="connsiteX46" fmla="*/ 196338 w 838423"/>
                <a:gd name="connsiteY46" fmla="*/ 1585853 h 1886394"/>
                <a:gd name="connsiteX47" fmla="*/ 228306 w 838423"/>
                <a:gd name="connsiteY47" fmla="*/ 1700153 h 1886394"/>
                <a:gd name="connsiteX48" fmla="*/ 218067 w 838423"/>
                <a:gd name="connsiteY48" fmla="*/ 1586508 h 1886394"/>
                <a:gd name="connsiteX49" fmla="*/ 335760 w 838423"/>
                <a:gd name="connsiteY49" fmla="*/ 1481733 h 1886394"/>
                <a:gd name="connsiteX50" fmla="*/ 363680 w 838423"/>
                <a:gd name="connsiteY50" fmla="*/ 1504891 h 1886394"/>
                <a:gd name="connsiteX51" fmla="*/ 228306 w 838423"/>
                <a:gd name="connsiteY51" fmla="*/ 1700153 h 1886394"/>
                <a:gd name="connsiteX52" fmla="*/ 491613 w 838423"/>
                <a:gd name="connsiteY52" fmla="*/ 500003 h 1886394"/>
                <a:gd name="connsiteX53" fmla="*/ 518818 w 838423"/>
                <a:gd name="connsiteY53" fmla="*/ 493871 h 1886394"/>
                <a:gd name="connsiteX54" fmla="*/ 632404 w 838423"/>
                <a:gd name="connsiteY54" fmla="*/ 538758 h 1886394"/>
                <a:gd name="connsiteX55" fmla="*/ 707949 w 838423"/>
                <a:gd name="connsiteY55" fmla="*/ 619720 h 1886394"/>
                <a:gd name="connsiteX56" fmla="*/ 690923 w 838423"/>
                <a:gd name="connsiteY56" fmla="*/ 658475 h 1886394"/>
                <a:gd name="connsiteX57" fmla="*/ 597697 w 838423"/>
                <a:gd name="connsiteY57" fmla="*/ 637401 h 1886394"/>
                <a:gd name="connsiteX58" fmla="*/ 492922 w 838423"/>
                <a:gd name="connsiteY58" fmla="*/ 524470 h 1886394"/>
                <a:gd name="connsiteX59" fmla="*/ 491613 w 838423"/>
                <a:gd name="connsiteY59" fmla="*/ 500003 h 1886394"/>
                <a:gd name="connsiteX60" fmla="*/ 700448 w 838423"/>
                <a:gd name="connsiteY60" fmla="*/ 839450 h 1886394"/>
                <a:gd name="connsiteX61" fmla="*/ 693662 w 838423"/>
                <a:gd name="connsiteY61" fmla="*/ 838140 h 1886394"/>
                <a:gd name="connsiteX62" fmla="*/ 573885 w 838423"/>
                <a:gd name="connsiteY62" fmla="*/ 685026 h 1886394"/>
                <a:gd name="connsiteX63" fmla="*/ 607937 w 838423"/>
                <a:gd name="connsiteY63" fmla="*/ 663238 h 1886394"/>
                <a:gd name="connsiteX64" fmla="*/ 623593 w 838423"/>
                <a:gd name="connsiteY64" fmla="*/ 670084 h 1886394"/>
                <a:gd name="connsiteX65" fmla="*/ 745335 w 838423"/>
                <a:gd name="connsiteY65" fmla="*/ 775514 h 1886394"/>
                <a:gd name="connsiteX66" fmla="*/ 750812 w 838423"/>
                <a:gd name="connsiteY66" fmla="*/ 844927 h 1886394"/>
                <a:gd name="connsiteX67" fmla="*/ 700448 w 838423"/>
                <a:gd name="connsiteY67" fmla="*/ 839450 h 1886394"/>
                <a:gd name="connsiteX68" fmla="*/ 747418 w 838423"/>
                <a:gd name="connsiteY68" fmla="*/ 1049715 h 1886394"/>
                <a:gd name="connsiteX69" fmla="*/ 622879 w 838423"/>
                <a:gd name="connsiteY69" fmla="*/ 826532 h 1886394"/>
                <a:gd name="connsiteX70" fmla="*/ 747418 w 838423"/>
                <a:gd name="connsiteY70" fmla="*/ 1049715 h 1886394"/>
                <a:gd name="connsiteX71" fmla="*/ 616092 w 838423"/>
                <a:gd name="connsiteY71" fmla="*/ 463153 h 1886394"/>
                <a:gd name="connsiteX72" fmla="*/ 357548 w 838423"/>
                <a:gd name="connsiteY72" fmla="*/ 352306 h 1886394"/>
                <a:gd name="connsiteX73" fmla="*/ 616092 w 838423"/>
                <a:gd name="connsiteY73" fmla="*/ 463153 h 188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838423" h="1886394">
                  <a:moveTo>
                    <a:pt x="497685" y="255032"/>
                  </a:moveTo>
                  <a:cubicBezTo>
                    <a:pt x="417437" y="195858"/>
                    <a:pt x="406602" y="92452"/>
                    <a:pt x="482802" y="0"/>
                  </a:cubicBezTo>
                  <a:cubicBezTo>
                    <a:pt x="507984" y="38100"/>
                    <a:pt x="532451" y="70068"/>
                    <a:pt x="551501" y="106085"/>
                  </a:cubicBezTo>
                  <a:cubicBezTo>
                    <a:pt x="576028" y="151686"/>
                    <a:pt x="573290" y="198656"/>
                    <a:pt x="546739" y="244197"/>
                  </a:cubicBezTo>
                  <a:cubicBezTo>
                    <a:pt x="533165" y="266700"/>
                    <a:pt x="520902" y="272117"/>
                    <a:pt x="497744" y="255091"/>
                  </a:cubicBezTo>
                  <a:close/>
                  <a:moveTo>
                    <a:pt x="782125" y="627221"/>
                  </a:moveTo>
                  <a:cubicBezTo>
                    <a:pt x="762361" y="642878"/>
                    <a:pt x="749442" y="641509"/>
                    <a:pt x="734500" y="620375"/>
                  </a:cubicBezTo>
                  <a:cubicBezTo>
                    <a:pt x="696400" y="565309"/>
                    <a:pt x="692947" y="505420"/>
                    <a:pt x="729738" y="450294"/>
                  </a:cubicBezTo>
                  <a:cubicBezTo>
                    <a:pt x="747418" y="423803"/>
                    <a:pt x="769862" y="401300"/>
                    <a:pt x="790281" y="376833"/>
                  </a:cubicBezTo>
                  <a:lnTo>
                    <a:pt x="802485" y="376833"/>
                  </a:lnTo>
                  <a:cubicBezTo>
                    <a:pt x="811355" y="398621"/>
                    <a:pt x="820880" y="419695"/>
                    <a:pt x="828381" y="442139"/>
                  </a:cubicBezTo>
                  <a:cubicBezTo>
                    <a:pt x="852193" y="512207"/>
                    <a:pt x="832429" y="587038"/>
                    <a:pt x="782125" y="627221"/>
                  </a:cubicBezTo>
                  <a:close/>
                  <a:moveTo>
                    <a:pt x="207887" y="197227"/>
                  </a:moveTo>
                  <a:cubicBezTo>
                    <a:pt x="316055" y="156389"/>
                    <a:pt x="463038" y="205383"/>
                    <a:pt x="492267" y="290453"/>
                  </a:cubicBezTo>
                  <a:cubicBezTo>
                    <a:pt x="411960" y="344150"/>
                    <a:pt x="257536" y="305395"/>
                    <a:pt x="207887" y="197227"/>
                  </a:cubicBezTo>
                  <a:close/>
                  <a:moveTo>
                    <a:pt x="635797" y="435352"/>
                  </a:moveTo>
                  <a:cubicBezTo>
                    <a:pt x="556918" y="372070"/>
                    <a:pt x="554835" y="251639"/>
                    <a:pt x="641929" y="177463"/>
                  </a:cubicBezTo>
                  <a:cubicBezTo>
                    <a:pt x="663063" y="219670"/>
                    <a:pt x="688185" y="256401"/>
                    <a:pt x="700448" y="296525"/>
                  </a:cubicBezTo>
                  <a:cubicBezTo>
                    <a:pt x="714081" y="342126"/>
                    <a:pt x="711997" y="390465"/>
                    <a:pt x="678660" y="431244"/>
                  </a:cubicBezTo>
                  <a:cubicBezTo>
                    <a:pt x="665087" y="448270"/>
                    <a:pt x="652823" y="448925"/>
                    <a:pt x="635797" y="435352"/>
                  </a:cubicBezTo>
                  <a:close/>
                  <a:moveTo>
                    <a:pt x="329688" y="1850469"/>
                  </a:moveTo>
                  <a:cubicBezTo>
                    <a:pt x="241224" y="1901488"/>
                    <a:pt x="81323" y="1902857"/>
                    <a:pt x="22804" y="1823978"/>
                  </a:cubicBezTo>
                  <a:cubicBezTo>
                    <a:pt x="109898" y="1749802"/>
                    <a:pt x="260929" y="1772900"/>
                    <a:pt x="329688" y="1850469"/>
                  </a:cubicBezTo>
                  <a:close/>
                  <a:moveTo>
                    <a:pt x="558288" y="1707594"/>
                  </a:moveTo>
                  <a:cubicBezTo>
                    <a:pt x="467086" y="1781770"/>
                    <a:pt x="311947" y="1795403"/>
                    <a:pt x="252118" y="1733491"/>
                  </a:cubicBezTo>
                  <a:cubicBezTo>
                    <a:pt x="318079" y="1655207"/>
                    <a:pt x="494292" y="1641634"/>
                    <a:pt x="558288" y="1707594"/>
                  </a:cubicBezTo>
                  <a:close/>
                  <a:moveTo>
                    <a:pt x="665742" y="1242953"/>
                  </a:moveTo>
                  <a:cubicBezTo>
                    <a:pt x="580731" y="1195983"/>
                    <a:pt x="558942" y="1078944"/>
                    <a:pt x="622224" y="1000720"/>
                  </a:cubicBezTo>
                  <a:cubicBezTo>
                    <a:pt x="659610" y="1025188"/>
                    <a:pt x="705211" y="1086445"/>
                    <a:pt x="711997" y="1125200"/>
                  </a:cubicBezTo>
                  <a:cubicBezTo>
                    <a:pt x="718843" y="1162645"/>
                    <a:pt x="722237" y="1200745"/>
                    <a:pt x="699079" y="1235452"/>
                  </a:cubicBezTo>
                  <a:cubicBezTo>
                    <a:pt x="689554" y="1250394"/>
                    <a:pt x="681398" y="1251109"/>
                    <a:pt x="665742" y="1242953"/>
                  </a:cubicBezTo>
                  <a:close/>
                  <a:moveTo>
                    <a:pt x="444642" y="1568827"/>
                  </a:moveTo>
                  <a:cubicBezTo>
                    <a:pt x="422199" y="1583115"/>
                    <a:pt x="407912" y="1579007"/>
                    <a:pt x="395648" y="1555194"/>
                  </a:cubicBezTo>
                  <a:cubicBezTo>
                    <a:pt x="355524" y="1478994"/>
                    <a:pt x="399042" y="1372195"/>
                    <a:pt x="492267" y="1334750"/>
                  </a:cubicBezTo>
                  <a:cubicBezTo>
                    <a:pt x="498399" y="1376303"/>
                    <a:pt x="508579" y="1417082"/>
                    <a:pt x="508579" y="1457266"/>
                  </a:cubicBezTo>
                  <a:cubicBezTo>
                    <a:pt x="507924" y="1503521"/>
                    <a:pt x="485481" y="1542276"/>
                    <a:pt x="444642" y="1568827"/>
                  </a:cubicBezTo>
                  <a:close/>
                  <a:moveTo>
                    <a:pt x="542631" y="1406188"/>
                  </a:moveTo>
                  <a:cubicBezTo>
                    <a:pt x="487505" y="1336119"/>
                    <a:pt x="502447" y="1229975"/>
                    <a:pt x="578647" y="1171516"/>
                  </a:cubicBezTo>
                  <a:cubicBezTo>
                    <a:pt x="586863" y="1185089"/>
                    <a:pt x="596388" y="1198007"/>
                    <a:pt x="603174" y="1212294"/>
                  </a:cubicBezTo>
                  <a:cubicBezTo>
                    <a:pt x="631749" y="1277600"/>
                    <a:pt x="649430" y="1343620"/>
                    <a:pt x="599066" y="1406902"/>
                  </a:cubicBezTo>
                  <a:cubicBezTo>
                    <a:pt x="577338" y="1434763"/>
                    <a:pt x="565074" y="1434108"/>
                    <a:pt x="542631" y="1406188"/>
                  </a:cubicBezTo>
                  <a:close/>
                  <a:moveTo>
                    <a:pt x="196338" y="1585853"/>
                  </a:moveTo>
                  <a:cubicBezTo>
                    <a:pt x="192230" y="1602165"/>
                    <a:pt x="189492" y="1614428"/>
                    <a:pt x="186813" y="1625977"/>
                  </a:cubicBezTo>
                  <a:cubicBezTo>
                    <a:pt x="174549" y="1696045"/>
                    <a:pt x="98349" y="1772245"/>
                    <a:pt x="28936" y="1787188"/>
                  </a:cubicBezTo>
                  <a:cubicBezTo>
                    <a:pt x="5123" y="1791950"/>
                    <a:pt x="1730" y="1783140"/>
                    <a:pt x="361" y="1763375"/>
                  </a:cubicBezTo>
                  <a:cubicBezTo>
                    <a:pt x="-2378" y="1725275"/>
                    <a:pt x="10600" y="1694021"/>
                    <a:pt x="35067" y="1666101"/>
                  </a:cubicBezTo>
                  <a:cubicBezTo>
                    <a:pt x="76561" y="1619191"/>
                    <a:pt x="132341" y="1600140"/>
                    <a:pt x="196338" y="1585853"/>
                  </a:cubicBezTo>
                  <a:close/>
                  <a:moveTo>
                    <a:pt x="228306" y="1700153"/>
                  </a:moveTo>
                  <a:cubicBezTo>
                    <a:pt x="207887" y="1662708"/>
                    <a:pt x="196338" y="1628001"/>
                    <a:pt x="218067" y="1586508"/>
                  </a:cubicBezTo>
                  <a:cubicBezTo>
                    <a:pt x="244617" y="1535490"/>
                    <a:pt x="287480" y="1505545"/>
                    <a:pt x="335760" y="1481733"/>
                  </a:cubicBezTo>
                  <a:cubicBezTo>
                    <a:pt x="358917" y="1470184"/>
                    <a:pt x="363025" y="1485840"/>
                    <a:pt x="363680" y="1504891"/>
                  </a:cubicBezTo>
                  <a:cubicBezTo>
                    <a:pt x="367073" y="1591925"/>
                    <a:pt x="306530" y="1676995"/>
                    <a:pt x="228306" y="1700153"/>
                  </a:cubicBezTo>
                  <a:close/>
                  <a:moveTo>
                    <a:pt x="491613" y="500003"/>
                  </a:moveTo>
                  <a:cubicBezTo>
                    <a:pt x="497685" y="494526"/>
                    <a:pt x="511317" y="491133"/>
                    <a:pt x="518818" y="493871"/>
                  </a:cubicBezTo>
                  <a:cubicBezTo>
                    <a:pt x="556918" y="507444"/>
                    <a:pt x="595018" y="522446"/>
                    <a:pt x="632404" y="538758"/>
                  </a:cubicBezTo>
                  <a:cubicBezTo>
                    <a:pt x="667825" y="555069"/>
                    <a:pt x="692947" y="582990"/>
                    <a:pt x="707949" y="619720"/>
                  </a:cubicBezTo>
                  <a:cubicBezTo>
                    <a:pt x="714736" y="637401"/>
                    <a:pt x="714736" y="654427"/>
                    <a:pt x="690923" y="658475"/>
                  </a:cubicBezTo>
                  <a:cubicBezTo>
                    <a:pt x="658955" y="651689"/>
                    <a:pt x="626987" y="648950"/>
                    <a:pt x="597697" y="637401"/>
                  </a:cubicBezTo>
                  <a:cubicBezTo>
                    <a:pt x="546024" y="616982"/>
                    <a:pt x="515425" y="574119"/>
                    <a:pt x="492922" y="524470"/>
                  </a:cubicBezTo>
                  <a:cubicBezTo>
                    <a:pt x="489529" y="516969"/>
                    <a:pt x="487505" y="503396"/>
                    <a:pt x="491613" y="500003"/>
                  </a:cubicBezTo>
                  <a:close/>
                  <a:moveTo>
                    <a:pt x="700448" y="839450"/>
                  </a:moveTo>
                  <a:cubicBezTo>
                    <a:pt x="698135" y="839340"/>
                    <a:pt x="695850" y="838899"/>
                    <a:pt x="693662" y="838140"/>
                  </a:cubicBezTo>
                  <a:cubicBezTo>
                    <a:pt x="632404" y="821769"/>
                    <a:pt x="575968" y="749677"/>
                    <a:pt x="573885" y="685026"/>
                  </a:cubicBezTo>
                  <a:cubicBezTo>
                    <a:pt x="573230" y="655082"/>
                    <a:pt x="580016" y="650319"/>
                    <a:pt x="607937" y="663238"/>
                  </a:cubicBezTo>
                  <a:cubicBezTo>
                    <a:pt x="613354" y="665976"/>
                    <a:pt x="618831" y="667345"/>
                    <a:pt x="623593" y="670084"/>
                  </a:cubicBezTo>
                  <a:cubicBezTo>
                    <a:pt x="673242" y="695266"/>
                    <a:pt x="722237" y="722471"/>
                    <a:pt x="745335" y="775514"/>
                  </a:cubicBezTo>
                  <a:cubicBezTo>
                    <a:pt x="754205" y="795933"/>
                    <a:pt x="749442" y="821769"/>
                    <a:pt x="750812" y="844927"/>
                  </a:cubicBezTo>
                  <a:cubicBezTo>
                    <a:pt x="734500" y="842903"/>
                    <a:pt x="717474" y="841534"/>
                    <a:pt x="700448" y="839450"/>
                  </a:cubicBezTo>
                  <a:close/>
                  <a:moveTo>
                    <a:pt x="747418" y="1049715"/>
                  </a:moveTo>
                  <a:cubicBezTo>
                    <a:pt x="644013" y="1033403"/>
                    <a:pt x="593649" y="944940"/>
                    <a:pt x="622879" y="826532"/>
                  </a:cubicBezTo>
                  <a:cubicBezTo>
                    <a:pt x="741287" y="896600"/>
                    <a:pt x="778017" y="965359"/>
                    <a:pt x="747418" y="1049715"/>
                  </a:cubicBezTo>
                  <a:close/>
                  <a:moveTo>
                    <a:pt x="616092" y="463153"/>
                  </a:moveTo>
                  <a:cubicBezTo>
                    <a:pt x="515425" y="499229"/>
                    <a:pt x="390886" y="446187"/>
                    <a:pt x="357548" y="352306"/>
                  </a:cubicBezTo>
                  <a:cubicBezTo>
                    <a:pt x="433748" y="336649"/>
                    <a:pt x="599781" y="378143"/>
                    <a:pt x="616092" y="463153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8" name="组合 67"/>
          <p:cNvGrpSpPr/>
          <p:nvPr/>
        </p:nvGrpSpPr>
        <p:grpSpPr>
          <a:xfrm flipH="1">
            <a:off x="9544178" y="1499658"/>
            <a:ext cx="359992" cy="710158"/>
            <a:chOff x="10210147" y="766557"/>
            <a:chExt cx="965551" cy="1904748"/>
          </a:xfrm>
          <a:solidFill>
            <a:schemeClr val="accent1"/>
          </a:solidFill>
        </p:grpSpPr>
        <p:sp>
          <p:nvSpPr>
            <p:cNvPr id="69" name="任意形状 68"/>
            <p:cNvSpPr/>
            <p:nvPr/>
          </p:nvSpPr>
          <p:spPr>
            <a:xfrm>
              <a:off x="10370794" y="766557"/>
              <a:ext cx="804904" cy="1646825"/>
            </a:xfrm>
            <a:custGeom>
              <a:avLst/>
              <a:gdLst>
                <a:gd name="connsiteX0" fmla="*/ 203092 w 804904"/>
                <a:gd name="connsiteY0" fmla="*/ 186291 h 1646825"/>
                <a:gd name="connsiteX1" fmla="*/ 1638 w 804904"/>
                <a:gd name="connsiteY1" fmla="*/ 26450 h 1646825"/>
                <a:gd name="connsiteX2" fmla="*/ 24081 w 804904"/>
                <a:gd name="connsiteY2" fmla="*/ 554 h 1646825"/>
                <a:gd name="connsiteX3" fmla="*/ 194222 w 804904"/>
                <a:gd name="connsiteY3" fmla="*/ 67229 h 1646825"/>
                <a:gd name="connsiteX4" fmla="*/ 240477 w 804904"/>
                <a:gd name="connsiteY4" fmla="*/ 129856 h 1646825"/>
                <a:gd name="connsiteX5" fmla="*/ 203032 w 804904"/>
                <a:gd name="connsiteY5" fmla="*/ 186291 h 1646825"/>
                <a:gd name="connsiteX6" fmla="*/ 570400 w 804904"/>
                <a:gd name="connsiteY6" fmla="*/ 1274880 h 1646825"/>
                <a:gd name="connsiteX7" fmla="*/ 577246 w 804904"/>
                <a:gd name="connsiteY7" fmla="*/ 1208205 h 1646825"/>
                <a:gd name="connsiteX8" fmla="*/ 580639 w 804904"/>
                <a:gd name="connsiteY8" fmla="*/ 1202073 h 1646825"/>
                <a:gd name="connsiteX9" fmla="*/ 790844 w 804904"/>
                <a:gd name="connsiteY9" fmla="*/ 1095929 h 1646825"/>
                <a:gd name="connsiteX10" fmla="*/ 790844 w 804904"/>
                <a:gd name="connsiteY10" fmla="*/ 1114324 h 1646825"/>
                <a:gd name="connsiteX11" fmla="*/ 629633 w 804904"/>
                <a:gd name="connsiteY11" fmla="*/ 1274880 h 1646825"/>
                <a:gd name="connsiteX12" fmla="*/ 570459 w 804904"/>
                <a:gd name="connsiteY12" fmla="*/ 1274880 h 1646825"/>
                <a:gd name="connsiteX13" fmla="*/ 672496 w 804904"/>
                <a:gd name="connsiteY13" fmla="*/ 856494 h 1646825"/>
                <a:gd name="connsiteX14" fmla="*/ 624871 w 804904"/>
                <a:gd name="connsiteY14" fmla="*/ 839468 h 1646825"/>
                <a:gd name="connsiteX15" fmla="*/ 760245 w 804904"/>
                <a:gd name="connsiteY15" fmla="*/ 618369 h 1646825"/>
                <a:gd name="connsiteX16" fmla="*/ 759590 w 804904"/>
                <a:gd name="connsiteY16" fmla="*/ 731955 h 1646825"/>
                <a:gd name="connsiteX17" fmla="*/ 672496 w 804904"/>
                <a:gd name="connsiteY17" fmla="*/ 856494 h 1646825"/>
                <a:gd name="connsiteX18" fmla="*/ 647314 w 804904"/>
                <a:gd name="connsiteY18" fmla="*/ 1076224 h 1646825"/>
                <a:gd name="connsiteX19" fmla="*/ 626895 w 804904"/>
                <a:gd name="connsiteY19" fmla="*/ 1057829 h 1646825"/>
                <a:gd name="connsiteX20" fmla="*/ 671781 w 804904"/>
                <a:gd name="connsiteY20" fmla="*/ 917692 h 1646825"/>
                <a:gd name="connsiteX21" fmla="*/ 790844 w 804904"/>
                <a:gd name="connsiteY21" fmla="*/ 846969 h 1646825"/>
                <a:gd name="connsiteX22" fmla="*/ 798345 w 804904"/>
                <a:gd name="connsiteY22" fmla="*/ 856494 h 1646825"/>
                <a:gd name="connsiteX23" fmla="*/ 802453 w 804904"/>
                <a:gd name="connsiteY23" fmla="*/ 861912 h 1646825"/>
                <a:gd name="connsiteX24" fmla="*/ 647314 w 804904"/>
                <a:gd name="connsiteY24" fmla="*/ 1076224 h 1646825"/>
                <a:gd name="connsiteX25" fmla="*/ 465684 w 804904"/>
                <a:gd name="connsiteY25" fmla="*/ 1420493 h 1646825"/>
                <a:gd name="connsiteX26" fmla="*/ 665709 w 804904"/>
                <a:gd name="connsiteY26" fmla="*/ 1318457 h 1646825"/>
                <a:gd name="connsiteX27" fmla="*/ 710596 w 804904"/>
                <a:gd name="connsiteY27" fmla="*/ 1349711 h 1646825"/>
                <a:gd name="connsiteX28" fmla="*/ 496938 w 804904"/>
                <a:gd name="connsiteY28" fmla="*/ 1474905 h 1646825"/>
                <a:gd name="connsiteX29" fmla="*/ 465684 w 804904"/>
                <a:gd name="connsiteY29" fmla="*/ 1420493 h 1646825"/>
                <a:gd name="connsiteX30" fmla="*/ 311201 w 804904"/>
                <a:gd name="connsiteY30" fmla="*/ 1636830 h 1646825"/>
                <a:gd name="connsiteX31" fmla="*/ 301676 w 804904"/>
                <a:gd name="connsiteY31" fmla="*/ 1604207 h 1646825"/>
                <a:gd name="connsiteX32" fmla="*/ 582008 w 804904"/>
                <a:gd name="connsiteY32" fmla="*/ 1540211 h 1646825"/>
                <a:gd name="connsiteX33" fmla="*/ 583378 w 804904"/>
                <a:gd name="connsiteY33" fmla="*/ 1543604 h 1646825"/>
                <a:gd name="connsiteX34" fmla="*/ 311201 w 804904"/>
                <a:gd name="connsiteY34" fmla="*/ 1636830 h 164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804904" h="1646825">
                  <a:moveTo>
                    <a:pt x="203092" y="186291"/>
                  </a:moveTo>
                  <a:cubicBezTo>
                    <a:pt x="102365" y="184982"/>
                    <a:pt x="27475" y="125093"/>
                    <a:pt x="1638" y="26450"/>
                  </a:cubicBezTo>
                  <a:cubicBezTo>
                    <a:pt x="-3779" y="4662"/>
                    <a:pt x="4377" y="-2125"/>
                    <a:pt x="24081" y="554"/>
                  </a:cubicBezTo>
                  <a:cubicBezTo>
                    <a:pt x="85994" y="9424"/>
                    <a:pt x="145882" y="25736"/>
                    <a:pt x="194222" y="67229"/>
                  </a:cubicBezTo>
                  <a:cubicBezTo>
                    <a:pt x="213272" y="83600"/>
                    <a:pt x="229583" y="106698"/>
                    <a:pt x="240477" y="129856"/>
                  </a:cubicBezTo>
                  <a:cubicBezTo>
                    <a:pt x="261552" y="175457"/>
                    <a:pt x="252681" y="187006"/>
                    <a:pt x="203032" y="186291"/>
                  </a:cubicBezTo>
                  <a:close/>
                  <a:moveTo>
                    <a:pt x="570400" y="1274880"/>
                  </a:moveTo>
                  <a:cubicBezTo>
                    <a:pt x="572483" y="1252437"/>
                    <a:pt x="575162" y="1230648"/>
                    <a:pt x="577246" y="1208205"/>
                  </a:cubicBezTo>
                  <a:cubicBezTo>
                    <a:pt x="577246" y="1206181"/>
                    <a:pt x="579270" y="1204157"/>
                    <a:pt x="580639" y="1202073"/>
                  </a:cubicBezTo>
                  <a:cubicBezTo>
                    <a:pt x="614631" y="1136113"/>
                    <a:pt x="703809" y="1089142"/>
                    <a:pt x="790844" y="1095929"/>
                  </a:cubicBezTo>
                  <a:cubicBezTo>
                    <a:pt x="790844" y="1103430"/>
                    <a:pt x="792213" y="1109562"/>
                    <a:pt x="790844" y="1114324"/>
                  </a:cubicBezTo>
                  <a:cubicBezTo>
                    <a:pt x="760959" y="1191893"/>
                    <a:pt x="715358" y="1254461"/>
                    <a:pt x="629633" y="1274880"/>
                  </a:cubicBezTo>
                  <a:cubicBezTo>
                    <a:pt x="610583" y="1278988"/>
                    <a:pt x="590164" y="1275594"/>
                    <a:pt x="570459" y="1274880"/>
                  </a:cubicBezTo>
                  <a:close/>
                  <a:moveTo>
                    <a:pt x="672496" y="856494"/>
                  </a:moveTo>
                  <a:cubicBezTo>
                    <a:pt x="650052" y="868698"/>
                    <a:pt x="636420" y="866019"/>
                    <a:pt x="624871" y="839468"/>
                  </a:cubicBezTo>
                  <a:cubicBezTo>
                    <a:pt x="584747" y="746957"/>
                    <a:pt x="661602" y="646944"/>
                    <a:pt x="760245" y="618369"/>
                  </a:cubicBezTo>
                  <a:cubicBezTo>
                    <a:pt x="760245" y="659148"/>
                    <a:pt x="763638" y="695879"/>
                    <a:pt x="759590" y="731955"/>
                  </a:cubicBezTo>
                  <a:cubicBezTo>
                    <a:pt x="753458" y="787736"/>
                    <a:pt x="722145" y="829229"/>
                    <a:pt x="672496" y="856494"/>
                  </a:cubicBezTo>
                  <a:close/>
                  <a:moveTo>
                    <a:pt x="647314" y="1076224"/>
                  </a:moveTo>
                  <a:cubicBezTo>
                    <a:pt x="640527" y="1076879"/>
                    <a:pt x="628264" y="1065330"/>
                    <a:pt x="626895" y="1057829"/>
                  </a:cubicBezTo>
                  <a:cubicBezTo>
                    <a:pt x="616715" y="1003417"/>
                    <a:pt x="627609" y="952399"/>
                    <a:pt x="671781" y="917692"/>
                  </a:cubicBezTo>
                  <a:cubicBezTo>
                    <a:pt x="707857" y="889832"/>
                    <a:pt x="751434" y="870067"/>
                    <a:pt x="790844" y="846969"/>
                  </a:cubicBezTo>
                  <a:lnTo>
                    <a:pt x="798345" y="856494"/>
                  </a:lnTo>
                  <a:cubicBezTo>
                    <a:pt x="799714" y="858518"/>
                    <a:pt x="802453" y="859887"/>
                    <a:pt x="802453" y="861912"/>
                  </a:cubicBezTo>
                  <a:cubicBezTo>
                    <a:pt x="820788" y="947637"/>
                    <a:pt x="733039" y="1068723"/>
                    <a:pt x="647314" y="1076224"/>
                  </a:cubicBezTo>
                  <a:close/>
                  <a:moveTo>
                    <a:pt x="465684" y="1420493"/>
                  </a:moveTo>
                  <a:cubicBezTo>
                    <a:pt x="510571" y="1338816"/>
                    <a:pt x="590164" y="1326612"/>
                    <a:pt x="665709" y="1318457"/>
                  </a:cubicBezTo>
                  <a:cubicBezTo>
                    <a:pt x="711965" y="1317087"/>
                    <a:pt x="725538" y="1327982"/>
                    <a:pt x="710596" y="1349711"/>
                  </a:cubicBezTo>
                  <a:cubicBezTo>
                    <a:pt x="658208" y="1423232"/>
                    <a:pt x="591533" y="1473536"/>
                    <a:pt x="496938" y="1474905"/>
                  </a:cubicBezTo>
                  <a:cubicBezTo>
                    <a:pt x="451397" y="1475619"/>
                    <a:pt x="443181" y="1459962"/>
                    <a:pt x="465684" y="1420493"/>
                  </a:cubicBezTo>
                  <a:close/>
                  <a:moveTo>
                    <a:pt x="311201" y="1636830"/>
                  </a:moveTo>
                  <a:cubicBezTo>
                    <a:pt x="294234" y="1629329"/>
                    <a:pt x="293520" y="1619149"/>
                    <a:pt x="301676" y="1604207"/>
                  </a:cubicBezTo>
                  <a:cubicBezTo>
                    <a:pt x="344538" y="1526637"/>
                    <a:pt x="507832" y="1489192"/>
                    <a:pt x="582008" y="1540211"/>
                  </a:cubicBezTo>
                  <a:cubicBezTo>
                    <a:pt x="582663" y="1540925"/>
                    <a:pt x="582663" y="1542294"/>
                    <a:pt x="583378" y="1543604"/>
                  </a:cubicBezTo>
                  <a:cubicBezTo>
                    <a:pt x="537777" y="1617780"/>
                    <a:pt x="387401" y="1669512"/>
                    <a:pt x="311201" y="163683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形状 69"/>
            <p:cNvSpPr/>
            <p:nvPr/>
          </p:nvSpPr>
          <p:spPr>
            <a:xfrm>
              <a:off x="10210147" y="784911"/>
              <a:ext cx="838423" cy="1886394"/>
            </a:xfrm>
            <a:custGeom>
              <a:avLst/>
              <a:gdLst>
                <a:gd name="connsiteX0" fmla="*/ 497685 w 838423"/>
                <a:gd name="connsiteY0" fmla="*/ 255032 h 1886394"/>
                <a:gd name="connsiteX1" fmla="*/ 482802 w 838423"/>
                <a:gd name="connsiteY1" fmla="*/ 0 h 1886394"/>
                <a:gd name="connsiteX2" fmla="*/ 551501 w 838423"/>
                <a:gd name="connsiteY2" fmla="*/ 106085 h 1886394"/>
                <a:gd name="connsiteX3" fmla="*/ 546739 w 838423"/>
                <a:gd name="connsiteY3" fmla="*/ 244197 h 1886394"/>
                <a:gd name="connsiteX4" fmla="*/ 497744 w 838423"/>
                <a:gd name="connsiteY4" fmla="*/ 255091 h 1886394"/>
                <a:gd name="connsiteX5" fmla="*/ 782125 w 838423"/>
                <a:gd name="connsiteY5" fmla="*/ 627221 h 1886394"/>
                <a:gd name="connsiteX6" fmla="*/ 734500 w 838423"/>
                <a:gd name="connsiteY6" fmla="*/ 620375 h 1886394"/>
                <a:gd name="connsiteX7" fmla="*/ 729738 w 838423"/>
                <a:gd name="connsiteY7" fmla="*/ 450294 h 1886394"/>
                <a:gd name="connsiteX8" fmla="*/ 790281 w 838423"/>
                <a:gd name="connsiteY8" fmla="*/ 376833 h 1886394"/>
                <a:gd name="connsiteX9" fmla="*/ 802485 w 838423"/>
                <a:gd name="connsiteY9" fmla="*/ 376833 h 1886394"/>
                <a:gd name="connsiteX10" fmla="*/ 828381 w 838423"/>
                <a:gd name="connsiteY10" fmla="*/ 442139 h 1886394"/>
                <a:gd name="connsiteX11" fmla="*/ 782125 w 838423"/>
                <a:gd name="connsiteY11" fmla="*/ 627221 h 1886394"/>
                <a:gd name="connsiteX12" fmla="*/ 207887 w 838423"/>
                <a:gd name="connsiteY12" fmla="*/ 197227 h 1886394"/>
                <a:gd name="connsiteX13" fmla="*/ 492267 w 838423"/>
                <a:gd name="connsiteY13" fmla="*/ 290453 h 1886394"/>
                <a:gd name="connsiteX14" fmla="*/ 207887 w 838423"/>
                <a:gd name="connsiteY14" fmla="*/ 197227 h 1886394"/>
                <a:gd name="connsiteX15" fmla="*/ 635797 w 838423"/>
                <a:gd name="connsiteY15" fmla="*/ 435352 h 1886394"/>
                <a:gd name="connsiteX16" fmla="*/ 641929 w 838423"/>
                <a:gd name="connsiteY16" fmla="*/ 177463 h 1886394"/>
                <a:gd name="connsiteX17" fmla="*/ 700448 w 838423"/>
                <a:gd name="connsiteY17" fmla="*/ 296525 h 1886394"/>
                <a:gd name="connsiteX18" fmla="*/ 678660 w 838423"/>
                <a:gd name="connsiteY18" fmla="*/ 431244 h 1886394"/>
                <a:gd name="connsiteX19" fmla="*/ 635797 w 838423"/>
                <a:gd name="connsiteY19" fmla="*/ 435352 h 1886394"/>
                <a:gd name="connsiteX20" fmla="*/ 329688 w 838423"/>
                <a:gd name="connsiteY20" fmla="*/ 1850469 h 1886394"/>
                <a:gd name="connsiteX21" fmla="*/ 22804 w 838423"/>
                <a:gd name="connsiteY21" fmla="*/ 1823978 h 1886394"/>
                <a:gd name="connsiteX22" fmla="*/ 329688 w 838423"/>
                <a:gd name="connsiteY22" fmla="*/ 1850469 h 1886394"/>
                <a:gd name="connsiteX23" fmla="*/ 558288 w 838423"/>
                <a:gd name="connsiteY23" fmla="*/ 1707594 h 1886394"/>
                <a:gd name="connsiteX24" fmla="*/ 252118 w 838423"/>
                <a:gd name="connsiteY24" fmla="*/ 1733491 h 1886394"/>
                <a:gd name="connsiteX25" fmla="*/ 558288 w 838423"/>
                <a:gd name="connsiteY25" fmla="*/ 1707594 h 1886394"/>
                <a:gd name="connsiteX26" fmla="*/ 665742 w 838423"/>
                <a:gd name="connsiteY26" fmla="*/ 1242953 h 1886394"/>
                <a:gd name="connsiteX27" fmla="*/ 622224 w 838423"/>
                <a:gd name="connsiteY27" fmla="*/ 1000720 h 1886394"/>
                <a:gd name="connsiteX28" fmla="*/ 711997 w 838423"/>
                <a:gd name="connsiteY28" fmla="*/ 1125200 h 1886394"/>
                <a:gd name="connsiteX29" fmla="*/ 699079 w 838423"/>
                <a:gd name="connsiteY29" fmla="*/ 1235452 h 1886394"/>
                <a:gd name="connsiteX30" fmla="*/ 665742 w 838423"/>
                <a:gd name="connsiteY30" fmla="*/ 1242953 h 1886394"/>
                <a:gd name="connsiteX31" fmla="*/ 444642 w 838423"/>
                <a:gd name="connsiteY31" fmla="*/ 1568827 h 1886394"/>
                <a:gd name="connsiteX32" fmla="*/ 395648 w 838423"/>
                <a:gd name="connsiteY32" fmla="*/ 1555194 h 1886394"/>
                <a:gd name="connsiteX33" fmla="*/ 492267 w 838423"/>
                <a:gd name="connsiteY33" fmla="*/ 1334750 h 1886394"/>
                <a:gd name="connsiteX34" fmla="*/ 508579 w 838423"/>
                <a:gd name="connsiteY34" fmla="*/ 1457266 h 1886394"/>
                <a:gd name="connsiteX35" fmla="*/ 444642 w 838423"/>
                <a:gd name="connsiteY35" fmla="*/ 1568827 h 1886394"/>
                <a:gd name="connsiteX36" fmla="*/ 542631 w 838423"/>
                <a:gd name="connsiteY36" fmla="*/ 1406188 h 1886394"/>
                <a:gd name="connsiteX37" fmla="*/ 578647 w 838423"/>
                <a:gd name="connsiteY37" fmla="*/ 1171516 h 1886394"/>
                <a:gd name="connsiteX38" fmla="*/ 603174 w 838423"/>
                <a:gd name="connsiteY38" fmla="*/ 1212294 h 1886394"/>
                <a:gd name="connsiteX39" fmla="*/ 599066 w 838423"/>
                <a:gd name="connsiteY39" fmla="*/ 1406902 h 1886394"/>
                <a:gd name="connsiteX40" fmla="*/ 542631 w 838423"/>
                <a:gd name="connsiteY40" fmla="*/ 1406188 h 1886394"/>
                <a:gd name="connsiteX41" fmla="*/ 196338 w 838423"/>
                <a:gd name="connsiteY41" fmla="*/ 1585853 h 1886394"/>
                <a:gd name="connsiteX42" fmla="*/ 186813 w 838423"/>
                <a:gd name="connsiteY42" fmla="*/ 1625977 h 1886394"/>
                <a:gd name="connsiteX43" fmla="*/ 28936 w 838423"/>
                <a:gd name="connsiteY43" fmla="*/ 1787188 h 1886394"/>
                <a:gd name="connsiteX44" fmla="*/ 361 w 838423"/>
                <a:gd name="connsiteY44" fmla="*/ 1763375 h 1886394"/>
                <a:gd name="connsiteX45" fmla="*/ 35067 w 838423"/>
                <a:gd name="connsiteY45" fmla="*/ 1666101 h 1886394"/>
                <a:gd name="connsiteX46" fmla="*/ 196338 w 838423"/>
                <a:gd name="connsiteY46" fmla="*/ 1585853 h 1886394"/>
                <a:gd name="connsiteX47" fmla="*/ 228306 w 838423"/>
                <a:gd name="connsiteY47" fmla="*/ 1700153 h 1886394"/>
                <a:gd name="connsiteX48" fmla="*/ 218067 w 838423"/>
                <a:gd name="connsiteY48" fmla="*/ 1586508 h 1886394"/>
                <a:gd name="connsiteX49" fmla="*/ 335760 w 838423"/>
                <a:gd name="connsiteY49" fmla="*/ 1481733 h 1886394"/>
                <a:gd name="connsiteX50" fmla="*/ 363680 w 838423"/>
                <a:gd name="connsiteY50" fmla="*/ 1504891 h 1886394"/>
                <a:gd name="connsiteX51" fmla="*/ 228306 w 838423"/>
                <a:gd name="connsiteY51" fmla="*/ 1700153 h 1886394"/>
                <a:gd name="connsiteX52" fmla="*/ 491613 w 838423"/>
                <a:gd name="connsiteY52" fmla="*/ 500003 h 1886394"/>
                <a:gd name="connsiteX53" fmla="*/ 518818 w 838423"/>
                <a:gd name="connsiteY53" fmla="*/ 493871 h 1886394"/>
                <a:gd name="connsiteX54" fmla="*/ 632404 w 838423"/>
                <a:gd name="connsiteY54" fmla="*/ 538758 h 1886394"/>
                <a:gd name="connsiteX55" fmla="*/ 707949 w 838423"/>
                <a:gd name="connsiteY55" fmla="*/ 619720 h 1886394"/>
                <a:gd name="connsiteX56" fmla="*/ 690923 w 838423"/>
                <a:gd name="connsiteY56" fmla="*/ 658475 h 1886394"/>
                <a:gd name="connsiteX57" fmla="*/ 597697 w 838423"/>
                <a:gd name="connsiteY57" fmla="*/ 637401 h 1886394"/>
                <a:gd name="connsiteX58" fmla="*/ 492922 w 838423"/>
                <a:gd name="connsiteY58" fmla="*/ 524470 h 1886394"/>
                <a:gd name="connsiteX59" fmla="*/ 491613 w 838423"/>
                <a:gd name="connsiteY59" fmla="*/ 500003 h 1886394"/>
                <a:gd name="connsiteX60" fmla="*/ 700448 w 838423"/>
                <a:gd name="connsiteY60" fmla="*/ 839450 h 1886394"/>
                <a:gd name="connsiteX61" fmla="*/ 693662 w 838423"/>
                <a:gd name="connsiteY61" fmla="*/ 838140 h 1886394"/>
                <a:gd name="connsiteX62" fmla="*/ 573885 w 838423"/>
                <a:gd name="connsiteY62" fmla="*/ 685026 h 1886394"/>
                <a:gd name="connsiteX63" fmla="*/ 607937 w 838423"/>
                <a:gd name="connsiteY63" fmla="*/ 663238 h 1886394"/>
                <a:gd name="connsiteX64" fmla="*/ 623593 w 838423"/>
                <a:gd name="connsiteY64" fmla="*/ 670084 h 1886394"/>
                <a:gd name="connsiteX65" fmla="*/ 745335 w 838423"/>
                <a:gd name="connsiteY65" fmla="*/ 775514 h 1886394"/>
                <a:gd name="connsiteX66" fmla="*/ 750812 w 838423"/>
                <a:gd name="connsiteY66" fmla="*/ 844927 h 1886394"/>
                <a:gd name="connsiteX67" fmla="*/ 700448 w 838423"/>
                <a:gd name="connsiteY67" fmla="*/ 839450 h 1886394"/>
                <a:gd name="connsiteX68" fmla="*/ 747418 w 838423"/>
                <a:gd name="connsiteY68" fmla="*/ 1049715 h 1886394"/>
                <a:gd name="connsiteX69" fmla="*/ 622879 w 838423"/>
                <a:gd name="connsiteY69" fmla="*/ 826532 h 1886394"/>
                <a:gd name="connsiteX70" fmla="*/ 747418 w 838423"/>
                <a:gd name="connsiteY70" fmla="*/ 1049715 h 1886394"/>
                <a:gd name="connsiteX71" fmla="*/ 616092 w 838423"/>
                <a:gd name="connsiteY71" fmla="*/ 463153 h 1886394"/>
                <a:gd name="connsiteX72" fmla="*/ 357548 w 838423"/>
                <a:gd name="connsiteY72" fmla="*/ 352306 h 1886394"/>
                <a:gd name="connsiteX73" fmla="*/ 616092 w 838423"/>
                <a:gd name="connsiteY73" fmla="*/ 463153 h 188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838423" h="1886394">
                  <a:moveTo>
                    <a:pt x="497685" y="255032"/>
                  </a:moveTo>
                  <a:cubicBezTo>
                    <a:pt x="417437" y="195858"/>
                    <a:pt x="406602" y="92452"/>
                    <a:pt x="482802" y="0"/>
                  </a:cubicBezTo>
                  <a:cubicBezTo>
                    <a:pt x="507984" y="38100"/>
                    <a:pt x="532451" y="70068"/>
                    <a:pt x="551501" y="106085"/>
                  </a:cubicBezTo>
                  <a:cubicBezTo>
                    <a:pt x="576028" y="151686"/>
                    <a:pt x="573290" y="198656"/>
                    <a:pt x="546739" y="244197"/>
                  </a:cubicBezTo>
                  <a:cubicBezTo>
                    <a:pt x="533165" y="266700"/>
                    <a:pt x="520902" y="272117"/>
                    <a:pt x="497744" y="255091"/>
                  </a:cubicBezTo>
                  <a:close/>
                  <a:moveTo>
                    <a:pt x="782125" y="627221"/>
                  </a:moveTo>
                  <a:cubicBezTo>
                    <a:pt x="762361" y="642878"/>
                    <a:pt x="749442" y="641509"/>
                    <a:pt x="734500" y="620375"/>
                  </a:cubicBezTo>
                  <a:cubicBezTo>
                    <a:pt x="696400" y="565309"/>
                    <a:pt x="692947" y="505420"/>
                    <a:pt x="729738" y="450294"/>
                  </a:cubicBezTo>
                  <a:cubicBezTo>
                    <a:pt x="747418" y="423803"/>
                    <a:pt x="769862" y="401300"/>
                    <a:pt x="790281" y="376833"/>
                  </a:cubicBezTo>
                  <a:lnTo>
                    <a:pt x="802485" y="376833"/>
                  </a:lnTo>
                  <a:cubicBezTo>
                    <a:pt x="811355" y="398621"/>
                    <a:pt x="820880" y="419695"/>
                    <a:pt x="828381" y="442139"/>
                  </a:cubicBezTo>
                  <a:cubicBezTo>
                    <a:pt x="852193" y="512207"/>
                    <a:pt x="832429" y="587038"/>
                    <a:pt x="782125" y="627221"/>
                  </a:cubicBezTo>
                  <a:close/>
                  <a:moveTo>
                    <a:pt x="207887" y="197227"/>
                  </a:moveTo>
                  <a:cubicBezTo>
                    <a:pt x="316055" y="156389"/>
                    <a:pt x="463038" y="205383"/>
                    <a:pt x="492267" y="290453"/>
                  </a:cubicBezTo>
                  <a:cubicBezTo>
                    <a:pt x="411960" y="344150"/>
                    <a:pt x="257536" y="305395"/>
                    <a:pt x="207887" y="197227"/>
                  </a:cubicBezTo>
                  <a:close/>
                  <a:moveTo>
                    <a:pt x="635797" y="435352"/>
                  </a:moveTo>
                  <a:cubicBezTo>
                    <a:pt x="556918" y="372070"/>
                    <a:pt x="554835" y="251639"/>
                    <a:pt x="641929" y="177463"/>
                  </a:cubicBezTo>
                  <a:cubicBezTo>
                    <a:pt x="663063" y="219670"/>
                    <a:pt x="688185" y="256401"/>
                    <a:pt x="700448" y="296525"/>
                  </a:cubicBezTo>
                  <a:cubicBezTo>
                    <a:pt x="714081" y="342126"/>
                    <a:pt x="711997" y="390465"/>
                    <a:pt x="678660" y="431244"/>
                  </a:cubicBezTo>
                  <a:cubicBezTo>
                    <a:pt x="665087" y="448270"/>
                    <a:pt x="652823" y="448925"/>
                    <a:pt x="635797" y="435352"/>
                  </a:cubicBezTo>
                  <a:close/>
                  <a:moveTo>
                    <a:pt x="329688" y="1850469"/>
                  </a:moveTo>
                  <a:cubicBezTo>
                    <a:pt x="241224" y="1901488"/>
                    <a:pt x="81323" y="1902857"/>
                    <a:pt x="22804" y="1823978"/>
                  </a:cubicBezTo>
                  <a:cubicBezTo>
                    <a:pt x="109898" y="1749802"/>
                    <a:pt x="260929" y="1772900"/>
                    <a:pt x="329688" y="1850469"/>
                  </a:cubicBezTo>
                  <a:close/>
                  <a:moveTo>
                    <a:pt x="558288" y="1707594"/>
                  </a:moveTo>
                  <a:cubicBezTo>
                    <a:pt x="467086" y="1781770"/>
                    <a:pt x="311947" y="1795403"/>
                    <a:pt x="252118" y="1733491"/>
                  </a:cubicBezTo>
                  <a:cubicBezTo>
                    <a:pt x="318079" y="1655207"/>
                    <a:pt x="494292" y="1641634"/>
                    <a:pt x="558288" y="1707594"/>
                  </a:cubicBezTo>
                  <a:close/>
                  <a:moveTo>
                    <a:pt x="665742" y="1242953"/>
                  </a:moveTo>
                  <a:cubicBezTo>
                    <a:pt x="580731" y="1195983"/>
                    <a:pt x="558942" y="1078944"/>
                    <a:pt x="622224" y="1000720"/>
                  </a:cubicBezTo>
                  <a:cubicBezTo>
                    <a:pt x="659610" y="1025188"/>
                    <a:pt x="705211" y="1086445"/>
                    <a:pt x="711997" y="1125200"/>
                  </a:cubicBezTo>
                  <a:cubicBezTo>
                    <a:pt x="718843" y="1162645"/>
                    <a:pt x="722237" y="1200745"/>
                    <a:pt x="699079" y="1235452"/>
                  </a:cubicBezTo>
                  <a:cubicBezTo>
                    <a:pt x="689554" y="1250394"/>
                    <a:pt x="681398" y="1251109"/>
                    <a:pt x="665742" y="1242953"/>
                  </a:cubicBezTo>
                  <a:close/>
                  <a:moveTo>
                    <a:pt x="444642" y="1568827"/>
                  </a:moveTo>
                  <a:cubicBezTo>
                    <a:pt x="422199" y="1583115"/>
                    <a:pt x="407912" y="1579007"/>
                    <a:pt x="395648" y="1555194"/>
                  </a:cubicBezTo>
                  <a:cubicBezTo>
                    <a:pt x="355524" y="1478994"/>
                    <a:pt x="399042" y="1372195"/>
                    <a:pt x="492267" y="1334750"/>
                  </a:cubicBezTo>
                  <a:cubicBezTo>
                    <a:pt x="498399" y="1376303"/>
                    <a:pt x="508579" y="1417082"/>
                    <a:pt x="508579" y="1457266"/>
                  </a:cubicBezTo>
                  <a:cubicBezTo>
                    <a:pt x="507924" y="1503521"/>
                    <a:pt x="485481" y="1542276"/>
                    <a:pt x="444642" y="1568827"/>
                  </a:cubicBezTo>
                  <a:close/>
                  <a:moveTo>
                    <a:pt x="542631" y="1406188"/>
                  </a:moveTo>
                  <a:cubicBezTo>
                    <a:pt x="487505" y="1336119"/>
                    <a:pt x="502447" y="1229975"/>
                    <a:pt x="578647" y="1171516"/>
                  </a:cubicBezTo>
                  <a:cubicBezTo>
                    <a:pt x="586863" y="1185089"/>
                    <a:pt x="596388" y="1198007"/>
                    <a:pt x="603174" y="1212294"/>
                  </a:cubicBezTo>
                  <a:cubicBezTo>
                    <a:pt x="631749" y="1277600"/>
                    <a:pt x="649430" y="1343620"/>
                    <a:pt x="599066" y="1406902"/>
                  </a:cubicBezTo>
                  <a:cubicBezTo>
                    <a:pt x="577338" y="1434763"/>
                    <a:pt x="565074" y="1434108"/>
                    <a:pt x="542631" y="1406188"/>
                  </a:cubicBezTo>
                  <a:close/>
                  <a:moveTo>
                    <a:pt x="196338" y="1585853"/>
                  </a:moveTo>
                  <a:cubicBezTo>
                    <a:pt x="192230" y="1602165"/>
                    <a:pt x="189492" y="1614428"/>
                    <a:pt x="186813" y="1625977"/>
                  </a:cubicBezTo>
                  <a:cubicBezTo>
                    <a:pt x="174549" y="1696045"/>
                    <a:pt x="98349" y="1772245"/>
                    <a:pt x="28936" y="1787188"/>
                  </a:cubicBezTo>
                  <a:cubicBezTo>
                    <a:pt x="5123" y="1791950"/>
                    <a:pt x="1730" y="1783140"/>
                    <a:pt x="361" y="1763375"/>
                  </a:cubicBezTo>
                  <a:cubicBezTo>
                    <a:pt x="-2378" y="1725275"/>
                    <a:pt x="10600" y="1694021"/>
                    <a:pt x="35067" y="1666101"/>
                  </a:cubicBezTo>
                  <a:cubicBezTo>
                    <a:pt x="76561" y="1619191"/>
                    <a:pt x="132341" y="1600140"/>
                    <a:pt x="196338" y="1585853"/>
                  </a:cubicBezTo>
                  <a:close/>
                  <a:moveTo>
                    <a:pt x="228306" y="1700153"/>
                  </a:moveTo>
                  <a:cubicBezTo>
                    <a:pt x="207887" y="1662708"/>
                    <a:pt x="196338" y="1628001"/>
                    <a:pt x="218067" y="1586508"/>
                  </a:cubicBezTo>
                  <a:cubicBezTo>
                    <a:pt x="244617" y="1535490"/>
                    <a:pt x="287480" y="1505545"/>
                    <a:pt x="335760" y="1481733"/>
                  </a:cubicBezTo>
                  <a:cubicBezTo>
                    <a:pt x="358917" y="1470184"/>
                    <a:pt x="363025" y="1485840"/>
                    <a:pt x="363680" y="1504891"/>
                  </a:cubicBezTo>
                  <a:cubicBezTo>
                    <a:pt x="367073" y="1591925"/>
                    <a:pt x="306530" y="1676995"/>
                    <a:pt x="228306" y="1700153"/>
                  </a:cubicBezTo>
                  <a:close/>
                  <a:moveTo>
                    <a:pt x="491613" y="500003"/>
                  </a:moveTo>
                  <a:cubicBezTo>
                    <a:pt x="497685" y="494526"/>
                    <a:pt x="511317" y="491133"/>
                    <a:pt x="518818" y="493871"/>
                  </a:cubicBezTo>
                  <a:cubicBezTo>
                    <a:pt x="556918" y="507444"/>
                    <a:pt x="595018" y="522446"/>
                    <a:pt x="632404" y="538758"/>
                  </a:cubicBezTo>
                  <a:cubicBezTo>
                    <a:pt x="667825" y="555069"/>
                    <a:pt x="692947" y="582990"/>
                    <a:pt x="707949" y="619720"/>
                  </a:cubicBezTo>
                  <a:cubicBezTo>
                    <a:pt x="714736" y="637401"/>
                    <a:pt x="714736" y="654427"/>
                    <a:pt x="690923" y="658475"/>
                  </a:cubicBezTo>
                  <a:cubicBezTo>
                    <a:pt x="658955" y="651689"/>
                    <a:pt x="626987" y="648950"/>
                    <a:pt x="597697" y="637401"/>
                  </a:cubicBezTo>
                  <a:cubicBezTo>
                    <a:pt x="546024" y="616982"/>
                    <a:pt x="515425" y="574119"/>
                    <a:pt x="492922" y="524470"/>
                  </a:cubicBezTo>
                  <a:cubicBezTo>
                    <a:pt x="489529" y="516969"/>
                    <a:pt x="487505" y="503396"/>
                    <a:pt x="491613" y="500003"/>
                  </a:cubicBezTo>
                  <a:close/>
                  <a:moveTo>
                    <a:pt x="700448" y="839450"/>
                  </a:moveTo>
                  <a:cubicBezTo>
                    <a:pt x="698135" y="839340"/>
                    <a:pt x="695850" y="838899"/>
                    <a:pt x="693662" y="838140"/>
                  </a:cubicBezTo>
                  <a:cubicBezTo>
                    <a:pt x="632404" y="821769"/>
                    <a:pt x="575968" y="749677"/>
                    <a:pt x="573885" y="685026"/>
                  </a:cubicBezTo>
                  <a:cubicBezTo>
                    <a:pt x="573230" y="655082"/>
                    <a:pt x="580016" y="650319"/>
                    <a:pt x="607937" y="663238"/>
                  </a:cubicBezTo>
                  <a:cubicBezTo>
                    <a:pt x="613354" y="665976"/>
                    <a:pt x="618831" y="667345"/>
                    <a:pt x="623593" y="670084"/>
                  </a:cubicBezTo>
                  <a:cubicBezTo>
                    <a:pt x="673242" y="695266"/>
                    <a:pt x="722237" y="722471"/>
                    <a:pt x="745335" y="775514"/>
                  </a:cubicBezTo>
                  <a:cubicBezTo>
                    <a:pt x="754205" y="795933"/>
                    <a:pt x="749442" y="821769"/>
                    <a:pt x="750812" y="844927"/>
                  </a:cubicBezTo>
                  <a:cubicBezTo>
                    <a:pt x="734500" y="842903"/>
                    <a:pt x="717474" y="841534"/>
                    <a:pt x="700448" y="839450"/>
                  </a:cubicBezTo>
                  <a:close/>
                  <a:moveTo>
                    <a:pt x="747418" y="1049715"/>
                  </a:moveTo>
                  <a:cubicBezTo>
                    <a:pt x="644013" y="1033403"/>
                    <a:pt x="593649" y="944940"/>
                    <a:pt x="622879" y="826532"/>
                  </a:cubicBezTo>
                  <a:cubicBezTo>
                    <a:pt x="741287" y="896600"/>
                    <a:pt x="778017" y="965359"/>
                    <a:pt x="747418" y="1049715"/>
                  </a:cubicBezTo>
                  <a:close/>
                  <a:moveTo>
                    <a:pt x="616092" y="463153"/>
                  </a:moveTo>
                  <a:cubicBezTo>
                    <a:pt x="515425" y="499229"/>
                    <a:pt x="390886" y="446187"/>
                    <a:pt x="357548" y="352306"/>
                  </a:cubicBezTo>
                  <a:cubicBezTo>
                    <a:pt x="433748" y="336649"/>
                    <a:pt x="599781" y="378143"/>
                    <a:pt x="616092" y="463153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9768606" y="1582298"/>
            <a:ext cx="181128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chemeClr val="accent1"/>
                </a:solidFill>
              </a:rPr>
              <a:t>证书展示</a:t>
            </a:r>
            <a:endParaRPr kumimoji="1" lang="zh-CN" altLang="en-US" sz="2800" b="1" dirty="0">
              <a:solidFill>
                <a:schemeClr val="accent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>
            <a:off x="2757805" y="2724785"/>
            <a:ext cx="2468880" cy="355790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5518785" y="2719070"/>
            <a:ext cx="2470785" cy="356108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39" name="图片 38" descr="金山证书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61655" y="3071495"/>
            <a:ext cx="3573145" cy="2682240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5590154" y="1683692"/>
            <a:ext cx="4947218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200" b="1" dirty="0">
                <a:solidFill>
                  <a:schemeClr val="accent1"/>
                </a:solidFill>
                <a:latin typeface="+mn-ea"/>
              </a:rPr>
              <a:t>项目经历</a:t>
            </a:r>
            <a:endParaRPr kumimoji="1" lang="en-US" altLang="zh-CN" sz="7200" b="1" dirty="0">
              <a:solidFill>
                <a:schemeClr val="accent1"/>
              </a:solidFill>
              <a:latin typeface="+mn-ea"/>
            </a:endParaRPr>
          </a:p>
          <a:p>
            <a:r>
              <a:rPr kumimoji="1" lang="en-GB" altLang="zh-CN" sz="3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Research Experience</a:t>
            </a:r>
            <a:endParaRPr kumimoji="1" lang="en-GB" altLang="zh-CN" sz="3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61" name="组合 60"/>
          <p:cNvGrpSpPr/>
          <p:nvPr/>
        </p:nvGrpSpPr>
        <p:grpSpPr>
          <a:xfrm flipH="1" flipV="1">
            <a:off x="11589615" y="6303377"/>
            <a:ext cx="451913" cy="440249"/>
            <a:chOff x="150471" y="92597"/>
            <a:chExt cx="451913" cy="440249"/>
          </a:xfrm>
        </p:grpSpPr>
        <p:sp>
          <p:nvSpPr>
            <p:cNvPr id="62" name="矩形 61"/>
            <p:cNvSpPr/>
            <p:nvPr/>
          </p:nvSpPr>
          <p:spPr>
            <a:xfrm>
              <a:off x="150471" y="92597"/>
              <a:ext cx="127321" cy="1273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312767" y="92597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475063" y="92597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150471" y="249061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312767" y="249061"/>
              <a:ext cx="127321" cy="12732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475063" y="249061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150471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312767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475063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" name="任意形状 23"/>
          <p:cNvSpPr/>
          <p:nvPr/>
        </p:nvSpPr>
        <p:spPr>
          <a:xfrm>
            <a:off x="834154" y="9018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0000">
                <a:schemeClr val="accent1">
                  <a:lumMod val="20000"/>
                  <a:lumOff val="80000"/>
                  <a:alpha val="2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5" name="任意形状 14"/>
          <p:cNvSpPr/>
          <p:nvPr/>
        </p:nvSpPr>
        <p:spPr>
          <a:xfrm>
            <a:off x="12922" y="0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50000">
                <a:schemeClr val="accent1">
                  <a:alpha val="95000"/>
                </a:schemeClr>
              </a:gs>
              <a:gs pos="99000">
                <a:schemeClr val="accent1">
                  <a:alpha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755548" y="2185691"/>
            <a:ext cx="2470485" cy="2486619"/>
            <a:chOff x="755548" y="2304350"/>
            <a:chExt cx="2470485" cy="2486619"/>
          </a:xfrm>
        </p:grpSpPr>
        <p:sp>
          <p:nvSpPr>
            <p:cNvPr id="26" name="文本框 25"/>
            <p:cNvSpPr txBox="1"/>
            <p:nvPr/>
          </p:nvSpPr>
          <p:spPr>
            <a:xfrm>
              <a:off x="755548" y="2304350"/>
              <a:ext cx="2470485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3800" b="1" dirty="0">
                  <a:solidFill>
                    <a:schemeClr val="bg1"/>
                  </a:solidFill>
                </a:rPr>
                <a:t>02</a:t>
              </a:r>
              <a:endParaRPr kumimoji="1" lang="zh-CN" altLang="en-US" sz="138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891888" y="4267749"/>
              <a:ext cx="21978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PART</a:t>
              </a:r>
              <a:r>
                <a:rPr kumimoji="1" lang="zh-CN" altLang="en-US" sz="28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TWO</a:t>
              </a:r>
              <a:endParaRPr kumimoji="1"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cxnSp>
        <p:nvCxnSpPr>
          <p:cNvPr id="30" name="直线连接符 29"/>
          <p:cNvCxnSpPr/>
          <p:nvPr/>
        </p:nvCxnSpPr>
        <p:spPr>
          <a:xfrm>
            <a:off x="5834743" y="3773714"/>
            <a:ext cx="57548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431315" y="4149090"/>
            <a:ext cx="4610213" cy="1955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科研项目研究过程介绍</a:t>
            </a:r>
            <a:endParaRPr kumimoji="1" lang="en-US" altLang="zh-CN" sz="28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科研论文</a:t>
            </a:r>
            <a:r>
              <a:rPr kumimoji="1" lang="en-US" altLang="zh-CN" sz="2800" dirty="0">
                <a:latin typeface="+mn-ea"/>
              </a:rPr>
              <a:t>/</a:t>
            </a:r>
            <a:r>
              <a:rPr kumimoji="1" lang="zh-CN" altLang="en-US" sz="2800" dirty="0">
                <a:latin typeface="+mn-ea"/>
              </a:rPr>
              <a:t>科研成果</a:t>
            </a:r>
            <a:r>
              <a:rPr kumimoji="1" lang="en-US" altLang="zh-CN" sz="2800" dirty="0">
                <a:latin typeface="+mn-ea"/>
              </a:rPr>
              <a:t>/</a:t>
            </a:r>
            <a:r>
              <a:rPr kumimoji="1" lang="zh-CN" altLang="en-US" sz="2800" dirty="0">
                <a:latin typeface="+mn-ea"/>
              </a:rPr>
              <a:t>专利</a:t>
            </a:r>
            <a:endParaRPr kumimoji="1" lang="en-US" altLang="zh-CN" sz="28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科研结果与分析</a:t>
            </a:r>
            <a:endParaRPr kumimoji="1" lang="zh-CN" altLang="en-US" sz="2800" dirty="0"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-2" y="2548612"/>
            <a:ext cx="2703742" cy="921872"/>
            <a:chOff x="-2" y="1537960"/>
            <a:chExt cx="2703742" cy="921872"/>
          </a:xfrm>
        </p:grpSpPr>
        <p:sp>
          <p:nvSpPr>
            <p:cNvPr id="10" name="矩形 9"/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24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图形 15"/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bg1"/>
          </a:solidFill>
        </p:grpSpPr>
        <p:sp>
          <p:nvSpPr>
            <p:cNvPr id="21" name="任意形状 20"/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/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/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/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/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930650" y="212725"/>
            <a:ext cx="8420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项目一：</a:t>
            </a:r>
            <a:r>
              <a:rPr kumimoji="1" lang="en-US" altLang="zh-CN" sz="2400" b="1" dirty="0"/>
              <a:t>CamTalk-</a:t>
            </a:r>
            <a:r>
              <a:rPr kumimoji="1" lang="zh-CN" altLang="en-US" sz="2400" b="1" dirty="0"/>
              <a:t>面向多模态实时 </a:t>
            </a:r>
            <a:r>
              <a:rPr kumimoji="1" lang="en-US" altLang="zh-CN" sz="2400" b="1" dirty="0"/>
              <a:t>AI </a:t>
            </a:r>
            <a:r>
              <a:rPr kumimoji="1" lang="zh-CN" altLang="en-US" sz="2400" b="1" dirty="0"/>
              <a:t>视觉对话 </a:t>
            </a:r>
            <a:r>
              <a:rPr kumimoji="1" lang="en-US" altLang="zh-CN" sz="2400" b="1" dirty="0"/>
              <a:t>Agent</a:t>
            </a:r>
            <a:endParaRPr kumimoji="1" lang="en-US" altLang="zh-CN" sz="2400" b="1" dirty="0"/>
          </a:p>
        </p:txBody>
      </p:sp>
      <p:cxnSp>
        <p:nvCxnSpPr>
          <p:cNvPr id="31" name="直线连接符 30"/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/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/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/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/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9" name="矩形 28"/>
          <p:cNvSpPr/>
          <p:nvPr/>
        </p:nvSpPr>
        <p:spPr>
          <a:xfrm>
            <a:off x="5080000" y="5546175"/>
            <a:ext cx="6767376" cy="1144539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5875554" y="4261499"/>
            <a:ext cx="5176269" cy="1144539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任意多边形: 形状 33"/>
          <p:cNvSpPr/>
          <p:nvPr/>
        </p:nvSpPr>
        <p:spPr>
          <a:xfrm>
            <a:off x="7871265" y="2074813"/>
            <a:ext cx="1184847" cy="786829"/>
          </a:xfrm>
          <a:custGeom>
            <a:avLst/>
            <a:gdLst>
              <a:gd name="connsiteX0" fmla="*/ 1091605 w 2183210"/>
              <a:gd name="connsiteY0" fmla="*/ 0 h 1759890"/>
              <a:gd name="connsiteX1" fmla="*/ 2183210 w 2183210"/>
              <a:gd name="connsiteY1" fmla="*/ 1026466 h 1759890"/>
              <a:gd name="connsiteX2" fmla="*/ 1568170 w 2183210"/>
              <a:gd name="connsiteY2" fmla="*/ 1026466 h 1759890"/>
              <a:gd name="connsiteX3" fmla="*/ 1661198 w 2183210"/>
              <a:gd name="connsiteY3" fmla="*/ 1400656 h 1759890"/>
              <a:gd name="connsiteX4" fmla="*/ 1747781 w 2183210"/>
              <a:gd name="connsiteY4" fmla="*/ 1697626 h 1759890"/>
              <a:gd name="connsiteX5" fmla="*/ 1768215 w 2183210"/>
              <a:gd name="connsiteY5" fmla="*/ 1759890 h 1759890"/>
              <a:gd name="connsiteX6" fmla="*/ 414996 w 2183210"/>
              <a:gd name="connsiteY6" fmla="*/ 1759890 h 1759890"/>
              <a:gd name="connsiteX7" fmla="*/ 435429 w 2183210"/>
              <a:gd name="connsiteY7" fmla="*/ 1697626 h 1759890"/>
              <a:gd name="connsiteX8" fmla="*/ 522012 w 2183210"/>
              <a:gd name="connsiteY8" fmla="*/ 1400656 h 1759890"/>
              <a:gd name="connsiteX9" fmla="*/ 615041 w 2183210"/>
              <a:gd name="connsiteY9" fmla="*/ 1026466 h 1759890"/>
              <a:gd name="connsiteX10" fmla="*/ 0 w 2183210"/>
              <a:gd name="connsiteY10" fmla="*/ 1026466 h 1759890"/>
              <a:gd name="connsiteX11" fmla="*/ 1091605 w 2183210"/>
              <a:gd name="connsiteY11" fmla="*/ 0 h 1759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83210" h="1759890">
                <a:moveTo>
                  <a:pt x="1091605" y="0"/>
                </a:moveTo>
                <a:lnTo>
                  <a:pt x="2183210" y="1026466"/>
                </a:lnTo>
                <a:lnTo>
                  <a:pt x="1568170" y="1026466"/>
                </a:lnTo>
                <a:lnTo>
                  <a:pt x="1661198" y="1400656"/>
                </a:lnTo>
                <a:cubicBezTo>
                  <a:pt x="1688016" y="1498831"/>
                  <a:pt x="1716877" y="1597876"/>
                  <a:pt x="1747781" y="1697626"/>
                </a:cubicBezTo>
                <a:lnTo>
                  <a:pt x="1768215" y="1759890"/>
                </a:lnTo>
                <a:lnTo>
                  <a:pt x="414996" y="1759890"/>
                </a:lnTo>
                <a:lnTo>
                  <a:pt x="435429" y="1697626"/>
                </a:lnTo>
                <a:cubicBezTo>
                  <a:pt x="466334" y="1597876"/>
                  <a:pt x="495194" y="1498831"/>
                  <a:pt x="522012" y="1400656"/>
                </a:cubicBezTo>
                <a:lnTo>
                  <a:pt x="615041" y="1026466"/>
                </a:lnTo>
                <a:lnTo>
                  <a:pt x="0" y="1026466"/>
                </a:lnTo>
                <a:lnTo>
                  <a:pt x="109160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8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 dirty="0">
              <a:latin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753225" y="2976880"/>
            <a:ext cx="3754120" cy="1144270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4960288" y="6008169"/>
            <a:ext cx="270933" cy="2709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5736789" y="4696498"/>
            <a:ext cx="270933" cy="2709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6617954" y="3413624"/>
            <a:ext cx="270933" cy="2709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3122023" y="5728138"/>
            <a:ext cx="1201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</a:rPr>
              <a:t>项目背景与定位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041509" y="5833241"/>
            <a:ext cx="52552" cy="436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3878378" y="4523947"/>
            <a:ext cx="1201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</a:rPr>
              <a:t>核心方法与创新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797864" y="4629050"/>
            <a:ext cx="52552" cy="436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图形 50" descr="3b32313630313933343b7bad5934"/>
          <p:cNvSpPr/>
          <p:nvPr/>
        </p:nvSpPr>
        <p:spPr>
          <a:xfrm rot="5789565">
            <a:off x="4661079" y="5239856"/>
            <a:ext cx="821486" cy="480934"/>
          </a:xfrm>
          <a:custGeom>
            <a:avLst/>
            <a:gdLst>
              <a:gd name="connsiteX0" fmla="*/ 54336 w 1046432"/>
              <a:gd name="connsiteY0" fmla="*/ 203614 h 612627"/>
              <a:gd name="connsiteX1" fmla="*/ 61124 w 1046432"/>
              <a:gd name="connsiteY1" fmla="*/ 278686 h 612627"/>
              <a:gd name="connsiteX2" fmla="*/ 46039 w 1046432"/>
              <a:gd name="connsiteY2" fmla="*/ 302670 h 612627"/>
              <a:gd name="connsiteX3" fmla="*/ 23965 w 1046432"/>
              <a:gd name="connsiteY3" fmla="*/ 280600 h 612627"/>
              <a:gd name="connsiteX4" fmla="*/ 935 w 1046432"/>
              <a:gd name="connsiteY4" fmla="*/ 81126 h 612627"/>
              <a:gd name="connsiteX5" fmla="*/ 1941 w 1046432"/>
              <a:gd name="connsiteY5" fmla="*/ 32704 h 612627"/>
              <a:gd name="connsiteX6" fmla="*/ 51118 w 1046432"/>
              <a:gd name="connsiteY6" fmla="*/ 7060 h 612627"/>
              <a:gd name="connsiteX7" fmla="*/ 208301 w 1046432"/>
              <a:gd name="connsiteY7" fmla="*/ 104005 h 612627"/>
              <a:gd name="connsiteX8" fmla="*/ 248528 w 1046432"/>
              <a:gd name="connsiteY8" fmla="*/ 126230 h 612627"/>
              <a:gd name="connsiteX9" fmla="*/ 268339 w 1046432"/>
              <a:gd name="connsiteY9" fmla="*/ 167512 h 612627"/>
              <a:gd name="connsiteX10" fmla="*/ 240131 w 1046432"/>
              <a:gd name="connsiteY10" fmla="*/ 174150 h 612627"/>
              <a:gd name="connsiteX11" fmla="*/ 223587 w 1046432"/>
              <a:gd name="connsiteY11" fmla="*/ 168417 h 612627"/>
              <a:gd name="connsiteX12" fmla="*/ 92852 w 1046432"/>
              <a:gd name="connsiteY12" fmla="*/ 100234 h 612627"/>
              <a:gd name="connsiteX13" fmla="*/ 565009 w 1046432"/>
              <a:gd name="connsiteY13" fmla="*/ 492439 h 612627"/>
              <a:gd name="connsiteX14" fmla="*/ 733909 w 1046432"/>
              <a:gd name="connsiteY14" fmla="*/ 537693 h 612627"/>
              <a:gd name="connsiteX15" fmla="*/ 898532 w 1046432"/>
              <a:gd name="connsiteY15" fmla="*/ 555998 h 612627"/>
              <a:gd name="connsiteX16" fmla="*/ 1011621 w 1046432"/>
              <a:gd name="connsiteY16" fmla="*/ 556398 h 612627"/>
              <a:gd name="connsiteX17" fmla="*/ 1046064 w 1046432"/>
              <a:gd name="connsiteY17" fmla="*/ 596627 h 612627"/>
              <a:gd name="connsiteX18" fmla="*/ 1025649 w 1046432"/>
              <a:gd name="connsiteY18" fmla="*/ 612414 h 612627"/>
              <a:gd name="connsiteX19" fmla="*/ 892198 w 1046432"/>
              <a:gd name="connsiteY19" fmla="*/ 611559 h 612627"/>
              <a:gd name="connsiteX20" fmla="*/ 407019 w 1046432"/>
              <a:gd name="connsiteY20" fmla="*/ 488367 h 612627"/>
              <a:gd name="connsiteX21" fmla="*/ 108189 w 1046432"/>
              <a:gd name="connsiteY21" fmla="*/ 230415 h 612627"/>
              <a:gd name="connsiteX22" fmla="*/ 52324 w 1046432"/>
              <a:gd name="connsiteY22" fmla="*/ 149963 h 612627"/>
              <a:gd name="connsiteX23" fmla="*/ 54788 w 1046432"/>
              <a:gd name="connsiteY23" fmla="*/ 204219 h 612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46432" h="612627">
                <a:moveTo>
                  <a:pt x="54336" y="203614"/>
                </a:moveTo>
                <a:cubicBezTo>
                  <a:pt x="56749" y="228755"/>
                  <a:pt x="59364" y="253647"/>
                  <a:pt x="61124" y="278686"/>
                </a:cubicBezTo>
                <a:cubicBezTo>
                  <a:pt x="61878" y="289550"/>
                  <a:pt x="61476" y="301313"/>
                  <a:pt x="46039" y="302670"/>
                </a:cubicBezTo>
                <a:cubicBezTo>
                  <a:pt x="34373" y="303729"/>
                  <a:pt x="25926" y="295380"/>
                  <a:pt x="23965" y="280600"/>
                </a:cubicBezTo>
                <a:cubicBezTo>
                  <a:pt x="16071" y="214175"/>
                  <a:pt x="7975" y="147701"/>
                  <a:pt x="935" y="81126"/>
                </a:cubicBezTo>
                <a:cubicBezTo>
                  <a:pt x="-588" y="65001"/>
                  <a:pt x="-250" y="48753"/>
                  <a:pt x="1941" y="32704"/>
                </a:cubicBezTo>
                <a:cubicBezTo>
                  <a:pt x="5059" y="7563"/>
                  <a:pt x="22859" y="-10640"/>
                  <a:pt x="51118" y="7060"/>
                </a:cubicBezTo>
                <a:cubicBezTo>
                  <a:pt x="103311" y="39593"/>
                  <a:pt x="155957" y="71875"/>
                  <a:pt x="208301" y="104005"/>
                </a:cubicBezTo>
                <a:cubicBezTo>
                  <a:pt x="221325" y="111950"/>
                  <a:pt x="234952" y="119090"/>
                  <a:pt x="248528" y="126230"/>
                </a:cubicBezTo>
                <a:cubicBezTo>
                  <a:pt x="260847" y="133068"/>
                  <a:pt x="272110" y="153483"/>
                  <a:pt x="268339" y="167512"/>
                </a:cubicBezTo>
                <a:cubicBezTo>
                  <a:pt x="264970" y="180083"/>
                  <a:pt x="249684" y="176412"/>
                  <a:pt x="240131" y="174150"/>
                </a:cubicBezTo>
                <a:cubicBezTo>
                  <a:pt x="234388" y="172978"/>
                  <a:pt x="228825" y="171047"/>
                  <a:pt x="223587" y="168417"/>
                </a:cubicBezTo>
                <a:cubicBezTo>
                  <a:pt x="188892" y="149612"/>
                  <a:pt x="101803" y="104910"/>
                  <a:pt x="92852" y="100234"/>
                </a:cubicBezTo>
                <a:cubicBezTo>
                  <a:pt x="183914" y="296034"/>
                  <a:pt x="365284" y="424105"/>
                  <a:pt x="565009" y="492439"/>
                </a:cubicBezTo>
                <a:cubicBezTo>
                  <a:pt x="620308" y="511034"/>
                  <a:pt x="676720" y="526142"/>
                  <a:pt x="733909" y="537693"/>
                </a:cubicBezTo>
                <a:cubicBezTo>
                  <a:pt x="788031" y="549284"/>
                  <a:pt x="843183" y="555413"/>
                  <a:pt x="898532" y="555998"/>
                </a:cubicBezTo>
                <a:cubicBezTo>
                  <a:pt x="936246" y="555998"/>
                  <a:pt x="973956" y="556448"/>
                  <a:pt x="1011621" y="556398"/>
                </a:cubicBezTo>
                <a:cubicBezTo>
                  <a:pt x="1029673" y="556398"/>
                  <a:pt x="1049380" y="578674"/>
                  <a:pt x="1046064" y="596627"/>
                </a:cubicBezTo>
                <a:cubicBezTo>
                  <a:pt x="1044003" y="607589"/>
                  <a:pt x="1036006" y="612414"/>
                  <a:pt x="1025649" y="612414"/>
                </a:cubicBezTo>
                <a:cubicBezTo>
                  <a:pt x="981148" y="612414"/>
                  <a:pt x="936597" y="613268"/>
                  <a:pt x="892198" y="611559"/>
                </a:cubicBezTo>
                <a:cubicBezTo>
                  <a:pt x="723679" y="604584"/>
                  <a:pt x="558450" y="562634"/>
                  <a:pt x="407019" y="488367"/>
                </a:cubicBezTo>
                <a:cubicBezTo>
                  <a:pt x="290564" y="431145"/>
                  <a:pt x="189647" y="330829"/>
                  <a:pt x="108189" y="230415"/>
                </a:cubicBezTo>
                <a:cubicBezTo>
                  <a:pt x="87673" y="205274"/>
                  <a:pt x="70778" y="176714"/>
                  <a:pt x="52324" y="149963"/>
                </a:cubicBezTo>
                <a:cubicBezTo>
                  <a:pt x="51319" y="149963"/>
                  <a:pt x="53079" y="186117"/>
                  <a:pt x="54788" y="204219"/>
                </a:cubicBezTo>
              </a:path>
            </a:pathLst>
          </a:custGeom>
          <a:solidFill>
            <a:schemeClr val="bg1">
              <a:lumMod val="50000"/>
            </a:schemeClr>
          </a:solidFill>
          <a:ln w="40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4630410" y="3236496"/>
            <a:ext cx="1201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</a:rPr>
              <a:t>成果落地与价值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4549896" y="3341599"/>
            <a:ext cx="52552" cy="436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图形 50" descr="3b32313630313933343b7bad5934"/>
          <p:cNvSpPr/>
          <p:nvPr/>
        </p:nvSpPr>
        <p:spPr>
          <a:xfrm rot="5789565">
            <a:off x="5528877" y="3906122"/>
            <a:ext cx="821486" cy="480934"/>
          </a:xfrm>
          <a:custGeom>
            <a:avLst/>
            <a:gdLst>
              <a:gd name="connsiteX0" fmla="*/ 54336 w 1046432"/>
              <a:gd name="connsiteY0" fmla="*/ 203614 h 612627"/>
              <a:gd name="connsiteX1" fmla="*/ 61124 w 1046432"/>
              <a:gd name="connsiteY1" fmla="*/ 278686 h 612627"/>
              <a:gd name="connsiteX2" fmla="*/ 46039 w 1046432"/>
              <a:gd name="connsiteY2" fmla="*/ 302670 h 612627"/>
              <a:gd name="connsiteX3" fmla="*/ 23965 w 1046432"/>
              <a:gd name="connsiteY3" fmla="*/ 280600 h 612627"/>
              <a:gd name="connsiteX4" fmla="*/ 935 w 1046432"/>
              <a:gd name="connsiteY4" fmla="*/ 81126 h 612627"/>
              <a:gd name="connsiteX5" fmla="*/ 1941 w 1046432"/>
              <a:gd name="connsiteY5" fmla="*/ 32704 h 612627"/>
              <a:gd name="connsiteX6" fmla="*/ 51118 w 1046432"/>
              <a:gd name="connsiteY6" fmla="*/ 7060 h 612627"/>
              <a:gd name="connsiteX7" fmla="*/ 208301 w 1046432"/>
              <a:gd name="connsiteY7" fmla="*/ 104005 h 612627"/>
              <a:gd name="connsiteX8" fmla="*/ 248528 w 1046432"/>
              <a:gd name="connsiteY8" fmla="*/ 126230 h 612627"/>
              <a:gd name="connsiteX9" fmla="*/ 268339 w 1046432"/>
              <a:gd name="connsiteY9" fmla="*/ 167512 h 612627"/>
              <a:gd name="connsiteX10" fmla="*/ 240131 w 1046432"/>
              <a:gd name="connsiteY10" fmla="*/ 174150 h 612627"/>
              <a:gd name="connsiteX11" fmla="*/ 223587 w 1046432"/>
              <a:gd name="connsiteY11" fmla="*/ 168417 h 612627"/>
              <a:gd name="connsiteX12" fmla="*/ 92852 w 1046432"/>
              <a:gd name="connsiteY12" fmla="*/ 100234 h 612627"/>
              <a:gd name="connsiteX13" fmla="*/ 565009 w 1046432"/>
              <a:gd name="connsiteY13" fmla="*/ 492439 h 612627"/>
              <a:gd name="connsiteX14" fmla="*/ 733909 w 1046432"/>
              <a:gd name="connsiteY14" fmla="*/ 537693 h 612627"/>
              <a:gd name="connsiteX15" fmla="*/ 898532 w 1046432"/>
              <a:gd name="connsiteY15" fmla="*/ 555998 h 612627"/>
              <a:gd name="connsiteX16" fmla="*/ 1011621 w 1046432"/>
              <a:gd name="connsiteY16" fmla="*/ 556398 h 612627"/>
              <a:gd name="connsiteX17" fmla="*/ 1046064 w 1046432"/>
              <a:gd name="connsiteY17" fmla="*/ 596627 h 612627"/>
              <a:gd name="connsiteX18" fmla="*/ 1025649 w 1046432"/>
              <a:gd name="connsiteY18" fmla="*/ 612414 h 612627"/>
              <a:gd name="connsiteX19" fmla="*/ 892198 w 1046432"/>
              <a:gd name="connsiteY19" fmla="*/ 611559 h 612627"/>
              <a:gd name="connsiteX20" fmla="*/ 407019 w 1046432"/>
              <a:gd name="connsiteY20" fmla="*/ 488367 h 612627"/>
              <a:gd name="connsiteX21" fmla="*/ 108189 w 1046432"/>
              <a:gd name="connsiteY21" fmla="*/ 230415 h 612627"/>
              <a:gd name="connsiteX22" fmla="*/ 52324 w 1046432"/>
              <a:gd name="connsiteY22" fmla="*/ 149963 h 612627"/>
              <a:gd name="connsiteX23" fmla="*/ 54788 w 1046432"/>
              <a:gd name="connsiteY23" fmla="*/ 204219 h 612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46432" h="612627">
                <a:moveTo>
                  <a:pt x="54336" y="203614"/>
                </a:moveTo>
                <a:cubicBezTo>
                  <a:pt x="56749" y="228755"/>
                  <a:pt x="59364" y="253647"/>
                  <a:pt x="61124" y="278686"/>
                </a:cubicBezTo>
                <a:cubicBezTo>
                  <a:pt x="61878" y="289550"/>
                  <a:pt x="61476" y="301313"/>
                  <a:pt x="46039" y="302670"/>
                </a:cubicBezTo>
                <a:cubicBezTo>
                  <a:pt x="34373" y="303729"/>
                  <a:pt x="25926" y="295380"/>
                  <a:pt x="23965" y="280600"/>
                </a:cubicBezTo>
                <a:cubicBezTo>
                  <a:pt x="16071" y="214175"/>
                  <a:pt x="7975" y="147701"/>
                  <a:pt x="935" y="81126"/>
                </a:cubicBezTo>
                <a:cubicBezTo>
                  <a:pt x="-588" y="65001"/>
                  <a:pt x="-250" y="48753"/>
                  <a:pt x="1941" y="32704"/>
                </a:cubicBezTo>
                <a:cubicBezTo>
                  <a:pt x="5059" y="7563"/>
                  <a:pt x="22859" y="-10640"/>
                  <a:pt x="51118" y="7060"/>
                </a:cubicBezTo>
                <a:cubicBezTo>
                  <a:pt x="103311" y="39593"/>
                  <a:pt x="155957" y="71875"/>
                  <a:pt x="208301" y="104005"/>
                </a:cubicBezTo>
                <a:cubicBezTo>
                  <a:pt x="221325" y="111950"/>
                  <a:pt x="234952" y="119090"/>
                  <a:pt x="248528" y="126230"/>
                </a:cubicBezTo>
                <a:cubicBezTo>
                  <a:pt x="260847" y="133068"/>
                  <a:pt x="272110" y="153483"/>
                  <a:pt x="268339" y="167512"/>
                </a:cubicBezTo>
                <a:cubicBezTo>
                  <a:pt x="264970" y="180083"/>
                  <a:pt x="249684" y="176412"/>
                  <a:pt x="240131" y="174150"/>
                </a:cubicBezTo>
                <a:cubicBezTo>
                  <a:pt x="234388" y="172978"/>
                  <a:pt x="228825" y="171047"/>
                  <a:pt x="223587" y="168417"/>
                </a:cubicBezTo>
                <a:cubicBezTo>
                  <a:pt x="188892" y="149612"/>
                  <a:pt x="101803" y="104910"/>
                  <a:pt x="92852" y="100234"/>
                </a:cubicBezTo>
                <a:cubicBezTo>
                  <a:pt x="183914" y="296034"/>
                  <a:pt x="365284" y="424105"/>
                  <a:pt x="565009" y="492439"/>
                </a:cubicBezTo>
                <a:cubicBezTo>
                  <a:pt x="620308" y="511034"/>
                  <a:pt x="676720" y="526142"/>
                  <a:pt x="733909" y="537693"/>
                </a:cubicBezTo>
                <a:cubicBezTo>
                  <a:pt x="788031" y="549284"/>
                  <a:pt x="843183" y="555413"/>
                  <a:pt x="898532" y="555998"/>
                </a:cubicBezTo>
                <a:cubicBezTo>
                  <a:pt x="936246" y="555998"/>
                  <a:pt x="973956" y="556448"/>
                  <a:pt x="1011621" y="556398"/>
                </a:cubicBezTo>
                <a:cubicBezTo>
                  <a:pt x="1029673" y="556398"/>
                  <a:pt x="1049380" y="578674"/>
                  <a:pt x="1046064" y="596627"/>
                </a:cubicBezTo>
                <a:cubicBezTo>
                  <a:pt x="1044003" y="607589"/>
                  <a:pt x="1036006" y="612414"/>
                  <a:pt x="1025649" y="612414"/>
                </a:cubicBezTo>
                <a:cubicBezTo>
                  <a:pt x="981148" y="612414"/>
                  <a:pt x="936597" y="613268"/>
                  <a:pt x="892198" y="611559"/>
                </a:cubicBezTo>
                <a:cubicBezTo>
                  <a:pt x="723679" y="604584"/>
                  <a:pt x="558450" y="562634"/>
                  <a:pt x="407019" y="488367"/>
                </a:cubicBezTo>
                <a:cubicBezTo>
                  <a:pt x="290564" y="431145"/>
                  <a:pt x="189647" y="330829"/>
                  <a:pt x="108189" y="230415"/>
                </a:cubicBezTo>
                <a:cubicBezTo>
                  <a:pt x="87673" y="205274"/>
                  <a:pt x="70778" y="176714"/>
                  <a:pt x="52324" y="149963"/>
                </a:cubicBezTo>
                <a:cubicBezTo>
                  <a:pt x="51319" y="149963"/>
                  <a:pt x="53079" y="186117"/>
                  <a:pt x="54788" y="204219"/>
                </a:cubicBezTo>
              </a:path>
            </a:pathLst>
          </a:custGeom>
          <a:solidFill>
            <a:schemeClr val="bg1">
              <a:lumMod val="50000"/>
            </a:schemeClr>
          </a:solidFill>
          <a:ln w="40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5309235" y="5593715"/>
            <a:ext cx="6417945" cy="1266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1600" dirty="0">
                <a:latin typeface="+mn-ea"/>
              </a:rPr>
              <a:t>面向军工场景“数据不出域”约束设计的实时多模态 </a:t>
            </a:r>
            <a:r>
              <a:rPr kumimoji="1" lang="en-US" altLang="zh-CN" sz="1600" dirty="0">
                <a:latin typeface="+mn-ea"/>
              </a:rPr>
              <a:t>AI </a:t>
            </a:r>
            <a:r>
              <a:rPr kumimoji="1" lang="zh-CN" altLang="en-US" sz="1600" dirty="0">
                <a:latin typeface="+mn-ea"/>
              </a:rPr>
              <a:t>对话系统，依托国家级网安基地·武汉金银湖实验室平台，端到端贯通视听感知与生成全链路，实现亚秒级实时交互，全链路亚秒级流式交互</a:t>
            </a:r>
            <a:endParaRPr kumimoji="1" lang="zh-CN" altLang="en-US" sz="1600" dirty="0">
              <a:latin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6103620" y="4322445"/>
            <a:ext cx="49110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+mn-ea"/>
              </a:rPr>
              <a:t>自研像素差值关键帧检测采样算法，静默期数据上传量降低约 80%；基于 CloudWeGo Eino 编排 STT-LLM-TTS 七节点流式链路，端到端感知延迟 0.5 s 以内，断线 30 s 内恢复会话。</a:t>
            </a:r>
            <a:endParaRPr kumimoji="1" lang="zh-CN" altLang="en-US" sz="1600" dirty="0">
              <a:latin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783705" y="3041015"/>
            <a:ext cx="3796665" cy="1022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1600" dirty="0">
                <a:latin typeface="+mn-ea"/>
              </a:rPr>
              <a:t>纳入</a:t>
            </a:r>
            <a:r>
              <a:rPr kumimoji="1" lang="zh-CN" altLang="en-US" sz="1600" b="1" dirty="0">
                <a:latin typeface="+mn-ea"/>
              </a:rPr>
              <a:t>武汉金银湖实验室</a:t>
            </a:r>
            <a:r>
              <a:rPr kumimoji="1" lang="zh-CN" altLang="en-US" sz="1600" dirty="0">
                <a:latin typeface="+mn-ea"/>
              </a:rPr>
              <a:t>优质代码库</a:t>
            </a:r>
            <a:endParaRPr kumimoji="1" lang="zh-CN" altLang="en-US" sz="1600" dirty="0">
              <a:latin typeface="+mn-ea"/>
            </a:endParaRPr>
          </a:p>
          <a:p>
            <a:pPr algn="ctr">
              <a:lnSpc>
                <a:spcPct val="120000"/>
              </a:lnSpc>
            </a:pPr>
            <a:r>
              <a:rPr kumimoji="1" lang="zh-CN" altLang="en-US" sz="1600" dirty="0">
                <a:latin typeface="+mn-ea"/>
              </a:rPr>
              <a:t>入选</a:t>
            </a:r>
            <a:r>
              <a:rPr kumimoji="1" lang="zh-CN" altLang="en-US" sz="1600" b="1" dirty="0">
                <a:latin typeface="+mn-ea"/>
              </a:rPr>
              <a:t>工信部电子第五研究</a:t>
            </a:r>
            <a:r>
              <a:rPr kumimoji="1" lang="zh-CN" altLang="en-US" sz="1600" dirty="0">
                <a:latin typeface="+mn-ea"/>
              </a:rPr>
              <a:t>所试点方案</a:t>
            </a:r>
            <a:endParaRPr kumimoji="1" lang="zh-CN" altLang="en-US" sz="1600" dirty="0">
              <a:latin typeface="+mn-ea"/>
            </a:endParaRPr>
          </a:p>
          <a:p>
            <a:pPr algn="ctr">
              <a:lnSpc>
                <a:spcPct val="120000"/>
              </a:lnSpc>
            </a:pPr>
            <a:r>
              <a:rPr kumimoji="1" lang="zh-CN" altLang="en-US" sz="1600" dirty="0">
                <a:latin typeface="+mn-ea"/>
              </a:rPr>
              <a:t>列入某</a:t>
            </a:r>
            <a:r>
              <a:rPr kumimoji="1" lang="zh-CN" altLang="en-US" sz="1600" b="1" dirty="0">
                <a:latin typeface="+mn-ea"/>
              </a:rPr>
              <a:t>军工单位</a:t>
            </a:r>
            <a:r>
              <a:rPr kumimoji="1" lang="zh-CN" altLang="en-US" sz="1600" dirty="0">
                <a:latin typeface="+mn-ea"/>
              </a:rPr>
              <a:t>技术验证方案</a:t>
            </a:r>
            <a:endParaRPr kumimoji="1" lang="en-US" altLang="zh-CN" sz="1600" dirty="0">
              <a:latin typeface="+mn-ea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3351767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多模态</a:t>
            </a:r>
            <a:endParaRPr kumimoji="1" lang="zh-CN" altLang="en-US" sz="1200" dirty="0"/>
          </a:p>
        </p:txBody>
      </p:sp>
      <p:sp>
        <p:nvSpPr>
          <p:cNvPr id="88" name="文本框 87"/>
          <p:cNvSpPr txBox="1"/>
          <p:nvPr/>
        </p:nvSpPr>
        <p:spPr>
          <a:xfrm>
            <a:off x="2844165" y="965835"/>
            <a:ext cx="9003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武汉金银湖实验室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优质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 · </a:t>
            </a:r>
            <a:r>
              <a:rPr kumimoji="1"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工信部第五研究所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试点</a:t>
            </a: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</a:t>
            </a:r>
            <a:r>
              <a:rPr kumimoji="1" lang="zh-CN" altLang="en-US" sz="2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军工单位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采纳</a:t>
            </a:r>
            <a:endParaRPr kumimoji="1"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5067802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数据不出域</a:t>
            </a:r>
            <a:endParaRPr kumimoji="1" lang="zh-CN" altLang="en-US" sz="1200" dirty="0"/>
          </a:p>
        </p:txBody>
      </p:sp>
      <p:sp>
        <p:nvSpPr>
          <p:cNvPr id="90" name="圆角矩形 89"/>
          <p:cNvSpPr/>
          <p:nvPr/>
        </p:nvSpPr>
        <p:spPr>
          <a:xfrm>
            <a:off x="6783837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关键帧采样</a:t>
            </a:r>
            <a:endParaRPr kumimoji="1" lang="zh-CN" altLang="en-US" sz="1200" dirty="0"/>
          </a:p>
        </p:txBody>
      </p:sp>
      <p:sp>
        <p:nvSpPr>
          <p:cNvPr id="91" name="圆角矩形 90"/>
          <p:cNvSpPr/>
          <p:nvPr/>
        </p:nvSpPr>
        <p:spPr>
          <a:xfrm>
            <a:off x="8499872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流式编排</a:t>
            </a:r>
            <a:endParaRPr kumimoji="1" lang="zh-CN" altLang="en-US" sz="1200" dirty="0"/>
          </a:p>
        </p:txBody>
      </p:sp>
      <p:sp>
        <p:nvSpPr>
          <p:cNvPr id="92" name="圆角矩形 91"/>
          <p:cNvSpPr/>
          <p:nvPr/>
        </p:nvSpPr>
        <p:spPr>
          <a:xfrm>
            <a:off x="10215906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实时对话</a:t>
            </a:r>
            <a:endParaRPr kumimoji="1" lang="zh-CN" altLang="en-US" sz="1200" dirty="0"/>
          </a:p>
        </p:txBody>
      </p:sp>
      <p:sp>
        <p:nvSpPr>
          <p:cNvPr id="93" name="文本框 92"/>
          <p:cNvSpPr txBox="1"/>
          <p:nvPr/>
        </p:nvSpPr>
        <p:spPr>
          <a:xfrm>
            <a:off x="8137867" y="2248180"/>
            <a:ext cx="651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</a:rPr>
              <a:t>项目经历</a:t>
            </a:r>
            <a:endParaRPr kumimoji="1"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5590154" y="1683692"/>
            <a:ext cx="49472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200" b="1" dirty="0">
                <a:solidFill>
                  <a:schemeClr val="accent1"/>
                </a:solidFill>
                <a:latin typeface="+mn-ea"/>
              </a:rPr>
              <a:t>实践经历</a:t>
            </a:r>
            <a:endParaRPr kumimoji="1" lang="en-US" altLang="zh-CN" sz="7200" b="1" dirty="0">
              <a:solidFill>
                <a:schemeClr val="accent1"/>
              </a:solidFill>
              <a:latin typeface="+mn-ea"/>
            </a:endParaRPr>
          </a:p>
          <a:p>
            <a:r>
              <a:rPr kumimoji="1" lang="en-GB" altLang="zh-CN" sz="3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Practical Experience</a:t>
            </a:r>
            <a:endParaRPr kumimoji="1" lang="en-GB" altLang="zh-CN" sz="3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61" name="组合 60"/>
          <p:cNvGrpSpPr/>
          <p:nvPr/>
        </p:nvGrpSpPr>
        <p:grpSpPr>
          <a:xfrm flipH="1" flipV="1">
            <a:off x="11589615" y="6303377"/>
            <a:ext cx="451913" cy="440249"/>
            <a:chOff x="150471" y="92597"/>
            <a:chExt cx="451913" cy="440249"/>
          </a:xfrm>
        </p:grpSpPr>
        <p:sp>
          <p:nvSpPr>
            <p:cNvPr id="62" name="矩形 61"/>
            <p:cNvSpPr/>
            <p:nvPr/>
          </p:nvSpPr>
          <p:spPr>
            <a:xfrm>
              <a:off x="150471" y="92597"/>
              <a:ext cx="127321" cy="1273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312767" y="92597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475063" y="92597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150471" y="249061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312767" y="249061"/>
              <a:ext cx="127321" cy="12732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475063" y="249061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150471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312767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475063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" name="任意形状 23"/>
          <p:cNvSpPr/>
          <p:nvPr/>
        </p:nvSpPr>
        <p:spPr>
          <a:xfrm>
            <a:off x="834154" y="9018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0000">
                <a:schemeClr val="accent1">
                  <a:lumMod val="20000"/>
                  <a:lumOff val="80000"/>
                  <a:alpha val="2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5" name="任意形状 14"/>
          <p:cNvSpPr/>
          <p:nvPr/>
        </p:nvSpPr>
        <p:spPr>
          <a:xfrm>
            <a:off x="12922" y="0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50000">
                <a:schemeClr val="accent1">
                  <a:alpha val="95000"/>
                </a:schemeClr>
              </a:gs>
              <a:gs pos="99000">
                <a:schemeClr val="accent1">
                  <a:alpha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619207" y="2185691"/>
            <a:ext cx="2733593" cy="2486619"/>
            <a:chOff x="619207" y="2304350"/>
            <a:chExt cx="2733593" cy="2486619"/>
          </a:xfrm>
        </p:grpSpPr>
        <p:sp>
          <p:nvSpPr>
            <p:cNvPr id="26" name="文本框 25"/>
            <p:cNvSpPr txBox="1"/>
            <p:nvPr/>
          </p:nvSpPr>
          <p:spPr>
            <a:xfrm>
              <a:off x="755548" y="2304350"/>
              <a:ext cx="2470485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3800" b="1" dirty="0">
                  <a:solidFill>
                    <a:schemeClr val="bg1"/>
                  </a:solidFill>
                </a:rPr>
                <a:t>03</a:t>
              </a:r>
              <a:endParaRPr kumimoji="1" lang="zh-CN" altLang="en-US" sz="138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19207" y="4267749"/>
              <a:ext cx="27335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PART</a:t>
              </a:r>
              <a:r>
                <a:rPr kumimoji="1" lang="zh-CN" altLang="en-US" sz="28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THREE</a:t>
              </a:r>
              <a:endParaRPr kumimoji="1"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cxnSp>
        <p:nvCxnSpPr>
          <p:cNvPr id="30" name="直线连接符 29"/>
          <p:cNvCxnSpPr/>
          <p:nvPr/>
        </p:nvCxnSpPr>
        <p:spPr>
          <a:xfrm>
            <a:off x="5834743" y="3773714"/>
            <a:ext cx="57548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431315" y="4149090"/>
            <a:ext cx="4610213" cy="1955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在校经历</a:t>
            </a:r>
            <a:endParaRPr kumimoji="1" lang="en-US" altLang="zh-CN" sz="28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学生工作</a:t>
            </a:r>
            <a:endParaRPr kumimoji="1" lang="en-US" altLang="zh-CN" sz="28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实习经历</a:t>
            </a:r>
            <a:r>
              <a:rPr kumimoji="1" lang="en-US" altLang="zh-CN" sz="2800" dirty="0">
                <a:latin typeface="+mn-ea"/>
              </a:rPr>
              <a:t>/</a:t>
            </a:r>
            <a:r>
              <a:rPr kumimoji="1" lang="zh-CN" altLang="en-US" sz="2800" dirty="0">
                <a:latin typeface="+mn-ea"/>
              </a:rPr>
              <a:t>社会实践</a:t>
            </a:r>
            <a:endParaRPr kumimoji="1" lang="zh-CN" altLang="en-US" sz="2800" dirty="0"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-2" y="2548612"/>
            <a:ext cx="2703742" cy="921872"/>
            <a:chOff x="-2" y="1537960"/>
            <a:chExt cx="2703742" cy="921872"/>
          </a:xfrm>
        </p:grpSpPr>
        <p:sp>
          <p:nvSpPr>
            <p:cNvPr id="10" name="矩形 9"/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24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图形 15"/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bg1"/>
          </a:solidFill>
        </p:grpSpPr>
        <p:sp>
          <p:nvSpPr>
            <p:cNvPr id="21" name="任意形状 20"/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/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/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/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/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930650" y="212725"/>
            <a:ext cx="8420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项目二：面向热轧带钢产线质检的注意力增强缺陷检测系统</a:t>
            </a:r>
            <a:endParaRPr kumimoji="1" lang="en-US" altLang="zh-CN" sz="2400" b="1" dirty="0"/>
          </a:p>
        </p:txBody>
      </p:sp>
      <p:cxnSp>
        <p:nvCxnSpPr>
          <p:cNvPr id="31" name="直线连接符 30"/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/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/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/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/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9" name="矩形 28"/>
          <p:cNvSpPr/>
          <p:nvPr/>
        </p:nvSpPr>
        <p:spPr>
          <a:xfrm>
            <a:off x="5080000" y="5546175"/>
            <a:ext cx="6767376" cy="1144539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5875655" y="4261485"/>
            <a:ext cx="5633085" cy="1144270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任意多边形: 形状 33"/>
          <p:cNvSpPr/>
          <p:nvPr/>
        </p:nvSpPr>
        <p:spPr>
          <a:xfrm>
            <a:off x="7871265" y="2074813"/>
            <a:ext cx="1184847" cy="786829"/>
          </a:xfrm>
          <a:custGeom>
            <a:avLst/>
            <a:gdLst>
              <a:gd name="connsiteX0" fmla="*/ 1091605 w 2183210"/>
              <a:gd name="connsiteY0" fmla="*/ 0 h 1759890"/>
              <a:gd name="connsiteX1" fmla="*/ 2183210 w 2183210"/>
              <a:gd name="connsiteY1" fmla="*/ 1026466 h 1759890"/>
              <a:gd name="connsiteX2" fmla="*/ 1568170 w 2183210"/>
              <a:gd name="connsiteY2" fmla="*/ 1026466 h 1759890"/>
              <a:gd name="connsiteX3" fmla="*/ 1661198 w 2183210"/>
              <a:gd name="connsiteY3" fmla="*/ 1400656 h 1759890"/>
              <a:gd name="connsiteX4" fmla="*/ 1747781 w 2183210"/>
              <a:gd name="connsiteY4" fmla="*/ 1697626 h 1759890"/>
              <a:gd name="connsiteX5" fmla="*/ 1768215 w 2183210"/>
              <a:gd name="connsiteY5" fmla="*/ 1759890 h 1759890"/>
              <a:gd name="connsiteX6" fmla="*/ 414996 w 2183210"/>
              <a:gd name="connsiteY6" fmla="*/ 1759890 h 1759890"/>
              <a:gd name="connsiteX7" fmla="*/ 435429 w 2183210"/>
              <a:gd name="connsiteY7" fmla="*/ 1697626 h 1759890"/>
              <a:gd name="connsiteX8" fmla="*/ 522012 w 2183210"/>
              <a:gd name="connsiteY8" fmla="*/ 1400656 h 1759890"/>
              <a:gd name="connsiteX9" fmla="*/ 615041 w 2183210"/>
              <a:gd name="connsiteY9" fmla="*/ 1026466 h 1759890"/>
              <a:gd name="connsiteX10" fmla="*/ 0 w 2183210"/>
              <a:gd name="connsiteY10" fmla="*/ 1026466 h 1759890"/>
              <a:gd name="connsiteX11" fmla="*/ 1091605 w 2183210"/>
              <a:gd name="connsiteY11" fmla="*/ 0 h 1759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83210" h="1759890">
                <a:moveTo>
                  <a:pt x="1091605" y="0"/>
                </a:moveTo>
                <a:lnTo>
                  <a:pt x="2183210" y="1026466"/>
                </a:lnTo>
                <a:lnTo>
                  <a:pt x="1568170" y="1026466"/>
                </a:lnTo>
                <a:lnTo>
                  <a:pt x="1661198" y="1400656"/>
                </a:lnTo>
                <a:cubicBezTo>
                  <a:pt x="1688016" y="1498831"/>
                  <a:pt x="1716877" y="1597876"/>
                  <a:pt x="1747781" y="1697626"/>
                </a:cubicBezTo>
                <a:lnTo>
                  <a:pt x="1768215" y="1759890"/>
                </a:lnTo>
                <a:lnTo>
                  <a:pt x="414996" y="1759890"/>
                </a:lnTo>
                <a:lnTo>
                  <a:pt x="435429" y="1697626"/>
                </a:lnTo>
                <a:cubicBezTo>
                  <a:pt x="466334" y="1597876"/>
                  <a:pt x="495194" y="1498831"/>
                  <a:pt x="522012" y="1400656"/>
                </a:cubicBezTo>
                <a:lnTo>
                  <a:pt x="615041" y="1026466"/>
                </a:lnTo>
                <a:lnTo>
                  <a:pt x="0" y="1026466"/>
                </a:lnTo>
                <a:lnTo>
                  <a:pt x="109160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8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 dirty="0">
              <a:latin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753225" y="2976880"/>
            <a:ext cx="4520565" cy="1144270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4960288" y="6008169"/>
            <a:ext cx="270933" cy="2709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5736789" y="4696498"/>
            <a:ext cx="270933" cy="2709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6617954" y="3413624"/>
            <a:ext cx="270933" cy="2709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3122023" y="5728138"/>
            <a:ext cx="1201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</a:rPr>
              <a:t>研究背景与目的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3041509" y="5833241"/>
            <a:ext cx="52552" cy="436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3878378" y="4523947"/>
            <a:ext cx="1201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</a:rPr>
              <a:t>核心方法与发现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797864" y="4629050"/>
            <a:ext cx="52552" cy="436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图形 50" descr="3b32313630313933343b7bad5934"/>
          <p:cNvSpPr/>
          <p:nvPr/>
        </p:nvSpPr>
        <p:spPr>
          <a:xfrm rot="5789565">
            <a:off x="4661079" y="5239856"/>
            <a:ext cx="821486" cy="480934"/>
          </a:xfrm>
          <a:custGeom>
            <a:avLst/>
            <a:gdLst>
              <a:gd name="connsiteX0" fmla="*/ 54336 w 1046432"/>
              <a:gd name="connsiteY0" fmla="*/ 203614 h 612627"/>
              <a:gd name="connsiteX1" fmla="*/ 61124 w 1046432"/>
              <a:gd name="connsiteY1" fmla="*/ 278686 h 612627"/>
              <a:gd name="connsiteX2" fmla="*/ 46039 w 1046432"/>
              <a:gd name="connsiteY2" fmla="*/ 302670 h 612627"/>
              <a:gd name="connsiteX3" fmla="*/ 23965 w 1046432"/>
              <a:gd name="connsiteY3" fmla="*/ 280600 h 612627"/>
              <a:gd name="connsiteX4" fmla="*/ 935 w 1046432"/>
              <a:gd name="connsiteY4" fmla="*/ 81126 h 612627"/>
              <a:gd name="connsiteX5" fmla="*/ 1941 w 1046432"/>
              <a:gd name="connsiteY5" fmla="*/ 32704 h 612627"/>
              <a:gd name="connsiteX6" fmla="*/ 51118 w 1046432"/>
              <a:gd name="connsiteY6" fmla="*/ 7060 h 612627"/>
              <a:gd name="connsiteX7" fmla="*/ 208301 w 1046432"/>
              <a:gd name="connsiteY7" fmla="*/ 104005 h 612627"/>
              <a:gd name="connsiteX8" fmla="*/ 248528 w 1046432"/>
              <a:gd name="connsiteY8" fmla="*/ 126230 h 612627"/>
              <a:gd name="connsiteX9" fmla="*/ 268339 w 1046432"/>
              <a:gd name="connsiteY9" fmla="*/ 167512 h 612627"/>
              <a:gd name="connsiteX10" fmla="*/ 240131 w 1046432"/>
              <a:gd name="connsiteY10" fmla="*/ 174150 h 612627"/>
              <a:gd name="connsiteX11" fmla="*/ 223587 w 1046432"/>
              <a:gd name="connsiteY11" fmla="*/ 168417 h 612627"/>
              <a:gd name="connsiteX12" fmla="*/ 92852 w 1046432"/>
              <a:gd name="connsiteY12" fmla="*/ 100234 h 612627"/>
              <a:gd name="connsiteX13" fmla="*/ 565009 w 1046432"/>
              <a:gd name="connsiteY13" fmla="*/ 492439 h 612627"/>
              <a:gd name="connsiteX14" fmla="*/ 733909 w 1046432"/>
              <a:gd name="connsiteY14" fmla="*/ 537693 h 612627"/>
              <a:gd name="connsiteX15" fmla="*/ 898532 w 1046432"/>
              <a:gd name="connsiteY15" fmla="*/ 555998 h 612627"/>
              <a:gd name="connsiteX16" fmla="*/ 1011621 w 1046432"/>
              <a:gd name="connsiteY16" fmla="*/ 556398 h 612627"/>
              <a:gd name="connsiteX17" fmla="*/ 1046064 w 1046432"/>
              <a:gd name="connsiteY17" fmla="*/ 596627 h 612627"/>
              <a:gd name="connsiteX18" fmla="*/ 1025649 w 1046432"/>
              <a:gd name="connsiteY18" fmla="*/ 612414 h 612627"/>
              <a:gd name="connsiteX19" fmla="*/ 892198 w 1046432"/>
              <a:gd name="connsiteY19" fmla="*/ 611559 h 612627"/>
              <a:gd name="connsiteX20" fmla="*/ 407019 w 1046432"/>
              <a:gd name="connsiteY20" fmla="*/ 488367 h 612627"/>
              <a:gd name="connsiteX21" fmla="*/ 108189 w 1046432"/>
              <a:gd name="connsiteY21" fmla="*/ 230415 h 612627"/>
              <a:gd name="connsiteX22" fmla="*/ 52324 w 1046432"/>
              <a:gd name="connsiteY22" fmla="*/ 149963 h 612627"/>
              <a:gd name="connsiteX23" fmla="*/ 54788 w 1046432"/>
              <a:gd name="connsiteY23" fmla="*/ 204219 h 612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46432" h="612627">
                <a:moveTo>
                  <a:pt x="54336" y="203614"/>
                </a:moveTo>
                <a:cubicBezTo>
                  <a:pt x="56749" y="228755"/>
                  <a:pt x="59364" y="253647"/>
                  <a:pt x="61124" y="278686"/>
                </a:cubicBezTo>
                <a:cubicBezTo>
                  <a:pt x="61878" y="289550"/>
                  <a:pt x="61476" y="301313"/>
                  <a:pt x="46039" y="302670"/>
                </a:cubicBezTo>
                <a:cubicBezTo>
                  <a:pt x="34373" y="303729"/>
                  <a:pt x="25926" y="295380"/>
                  <a:pt x="23965" y="280600"/>
                </a:cubicBezTo>
                <a:cubicBezTo>
                  <a:pt x="16071" y="214175"/>
                  <a:pt x="7975" y="147701"/>
                  <a:pt x="935" y="81126"/>
                </a:cubicBezTo>
                <a:cubicBezTo>
                  <a:pt x="-588" y="65001"/>
                  <a:pt x="-250" y="48753"/>
                  <a:pt x="1941" y="32704"/>
                </a:cubicBezTo>
                <a:cubicBezTo>
                  <a:pt x="5059" y="7563"/>
                  <a:pt x="22859" y="-10640"/>
                  <a:pt x="51118" y="7060"/>
                </a:cubicBezTo>
                <a:cubicBezTo>
                  <a:pt x="103311" y="39593"/>
                  <a:pt x="155957" y="71875"/>
                  <a:pt x="208301" y="104005"/>
                </a:cubicBezTo>
                <a:cubicBezTo>
                  <a:pt x="221325" y="111950"/>
                  <a:pt x="234952" y="119090"/>
                  <a:pt x="248528" y="126230"/>
                </a:cubicBezTo>
                <a:cubicBezTo>
                  <a:pt x="260847" y="133068"/>
                  <a:pt x="272110" y="153483"/>
                  <a:pt x="268339" y="167512"/>
                </a:cubicBezTo>
                <a:cubicBezTo>
                  <a:pt x="264970" y="180083"/>
                  <a:pt x="249684" y="176412"/>
                  <a:pt x="240131" y="174150"/>
                </a:cubicBezTo>
                <a:cubicBezTo>
                  <a:pt x="234388" y="172978"/>
                  <a:pt x="228825" y="171047"/>
                  <a:pt x="223587" y="168417"/>
                </a:cubicBezTo>
                <a:cubicBezTo>
                  <a:pt x="188892" y="149612"/>
                  <a:pt x="101803" y="104910"/>
                  <a:pt x="92852" y="100234"/>
                </a:cubicBezTo>
                <a:cubicBezTo>
                  <a:pt x="183914" y="296034"/>
                  <a:pt x="365284" y="424105"/>
                  <a:pt x="565009" y="492439"/>
                </a:cubicBezTo>
                <a:cubicBezTo>
                  <a:pt x="620308" y="511034"/>
                  <a:pt x="676720" y="526142"/>
                  <a:pt x="733909" y="537693"/>
                </a:cubicBezTo>
                <a:cubicBezTo>
                  <a:pt x="788031" y="549284"/>
                  <a:pt x="843183" y="555413"/>
                  <a:pt x="898532" y="555998"/>
                </a:cubicBezTo>
                <a:cubicBezTo>
                  <a:pt x="936246" y="555998"/>
                  <a:pt x="973956" y="556448"/>
                  <a:pt x="1011621" y="556398"/>
                </a:cubicBezTo>
                <a:cubicBezTo>
                  <a:pt x="1029673" y="556398"/>
                  <a:pt x="1049380" y="578674"/>
                  <a:pt x="1046064" y="596627"/>
                </a:cubicBezTo>
                <a:cubicBezTo>
                  <a:pt x="1044003" y="607589"/>
                  <a:pt x="1036006" y="612414"/>
                  <a:pt x="1025649" y="612414"/>
                </a:cubicBezTo>
                <a:cubicBezTo>
                  <a:pt x="981148" y="612414"/>
                  <a:pt x="936597" y="613268"/>
                  <a:pt x="892198" y="611559"/>
                </a:cubicBezTo>
                <a:cubicBezTo>
                  <a:pt x="723679" y="604584"/>
                  <a:pt x="558450" y="562634"/>
                  <a:pt x="407019" y="488367"/>
                </a:cubicBezTo>
                <a:cubicBezTo>
                  <a:pt x="290564" y="431145"/>
                  <a:pt x="189647" y="330829"/>
                  <a:pt x="108189" y="230415"/>
                </a:cubicBezTo>
                <a:cubicBezTo>
                  <a:pt x="87673" y="205274"/>
                  <a:pt x="70778" y="176714"/>
                  <a:pt x="52324" y="149963"/>
                </a:cubicBezTo>
                <a:cubicBezTo>
                  <a:pt x="51319" y="149963"/>
                  <a:pt x="53079" y="186117"/>
                  <a:pt x="54788" y="204219"/>
                </a:cubicBezTo>
              </a:path>
            </a:pathLst>
          </a:custGeom>
          <a:solidFill>
            <a:schemeClr val="bg1">
              <a:lumMod val="50000"/>
            </a:schemeClr>
          </a:solidFill>
          <a:ln w="40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4630410" y="3236496"/>
            <a:ext cx="1201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</a:rPr>
              <a:t>科研结论与意义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4549896" y="3341599"/>
            <a:ext cx="52552" cy="436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图形 50" descr="3b32313630313933343b7bad5934"/>
          <p:cNvSpPr/>
          <p:nvPr/>
        </p:nvSpPr>
        <p:spPr>
          <a:xfrm rot="5789565">
            <a:off x="5528877" y="3906122"/>
            <a:ext cx="821486" cy="480934"/>
          </a:xfrm>
          <a:custGeom>
            <a:avLst/>
            <a:gdLst>
              <a:gd name="connsiteX0" fmla="*/ 54336 w 1046432"/>
              <a:gd name="connsiteY0" fmla="*/ 203614 h 612627"/>
              <a:gd name="connsiteX1" fmla="*/ 61124 w 1046432"/>
              <a:gd name="connsiteY1" fmla="*/ 278686 h 612627"/>
              <a:gd name="connsiteX2" fmla="*/ 46039 w 1046432"/>
              <a:gd name="connsiteY2" fmla="*/ 302670 h 612627"/>
              <a:gd name="connsiteX3" fmla="*/ 23965 w 1046432"/>
              <a:gd name="connsiteY3" fmla="*/ 280600 h 612627"/>
              <a:gd name="connsiteX4" fmla="*/ 935 w 1046432"/>
              <a:gd name="connsiteY4" fmla="*/ 81126 h 612627"/>
              <a:gd name="connsiteX5" fmla="*/ 1941 w 1046432"/>
              <a:gd name="connsiteY5" fmla="*/ 32704 h 612627"/>
              <a:gd name="connsiteX6" fmla="*/ 51118 w 1046432"/>
              <a:gd name="connsiteY6" fmla="*/ 7060 h 612627"/>
              <a:gd name="connsiteX7" fmla="*/ 208301 w 1046432"/>
              <a:gd name="connsiteY7" fmla="*/ 104005 h 612627"/>
              <a:gd name="connsiteX8" fmla="*/ 248528 w 1046432"/>
              <a:gd name="connsiteY8" fmla="*/ 126230 h 612627"/>
              <a:gd name="connsiteX9" fmla="*/ 268339 w 1046432"/>
              <a:gd name="connsiteY9" fmla="*/ 167512 h 612627"/>
              <a:gd name="connsiteX10" fmla="*/ 240131 w 1046432"/>
              <a:gd name="connsiteY10" fmla="*/ 174150 h 612627"/>
              <a:gd name="connsiteX11" fmla="*/ 223587 w 1046432"/>
              <a:gd name="connsiteY11" fmla="*/ 168417 h 612627"/>
              <a:gd name="connsiteX12" fmla="*/ 92852 w 1046432"/>
              <a:gd name="connsiteY12" fmla="*/ 100234 h 612627"/>
              <a:gd name="connsiteX13" fmla="*/ 565009 w 1046432"/>
              <a:gd name="connsiteY13" fmla="*/ 492439 h 612627"/>
              <a:gd name="connsiteX14" fmla="*/ 733909 w 1046432"/>
              <a:gd name="connsiteY14" fmla="*/ 537693 h 612627"/>
              <a:gd name="connsiteX15" fmla="*/ 898532 w 1046432"/>
              <a:gd name="connsiteY15" fmla="*/ 555998 h 612627"/>
              <a:gd name="connsiteX16" fmla="*/ 1011621 w 1046432"/>
              <a:gd name="connsiteY16" fmla="*/ 556398 h 612627"/>
              <a:gd name="connsiteX17" fmla="*/ 1046064 w 1046432"/>
              <a:gd name="connsiteY17" fmla="*/ 596627 h 612627"/>
              <a:gd name="connsiteX18" fmla="*/ 1025649 w 1046432"/>
              <a:gd name="connsiteY18" fmla="*/ 612414 h 612627"/>
              <a:gd name="connsiteX19" fmla="*/ 892198 w 1046432"/>
              <a:gd name="connsiteY19" fmla="*/ 611559 h 612627"/>
              <a:gd name="connsiteX20" fmla="*/ 407019 w 1046432"/>
              <a:gd name="connsiteY20" fmla="*/ 488367 h 612627"/>
              <a:gd name="connsiteX21" fmla="*/ 108189 w 1046432"/>
              <a:gd name="connsiteY21" fmla="*/ 230415 h 612627"/>
              <a:gd name="connsiteX22" fmla="*/ 52324 w 1046432"/>
              <a:gd name="connsiteY22" fmla="*/ 149963 h 612627"/>
              <a:gd name="connsiteX23" fmla="*/ 54788 w 1046432"/>
              <a:gd name="connsiteY23" fmla="*/ 204219 h 612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46432" h="612627">
                <a:moveTo>
                  <a:pt x="54336" y="203614"/>
                </a:moveTo>
                <a:cubicBezTo>
                  <a:pt x="56749" y="228755"/>
                  <a:pt x="59364" y="253647"/>
                  <a:pt x="61124" y="278686"/>
                </a:cubicBezTo>
                <a:cubicBezTo>
                  <a:pt x="61878" y="289550"/>
                  <a:pt x="61476" y="301313"/>
                  <a:pt x="46039" y="302670"/>
                </a:cubicBezTo>
                <a:cubicBezTo>
                  <a:pt x="34373" y="303729"/>
                  <a:pt x="25926" y="295380"/>
                  <a:pt x="23965" y="280600"/>
                </a:cubicBezTo>
                <a:cubicBezTo>
                  <a:pt x="16071" y="214175"/>
                  <a:pt x="7975" y="147701"/>
                  <a:pt x="935" y="81126"/>
                </a:cubicBezTo>
                <a:cubicBezTo>
                  <a:pt x="-588" y="65001"/>
                  <a:pt x="-250" y="48753"/>
                  <a:pt x="1941" y="32704"/>
                </a:cubicBezTo>
                <a:cubicBezTo>
                  <a:pt x="5059" y="7563"/>
                  <a:pt x="22859" y="-10640"/>
                  <a:pt x="51118" y="7060"/>
                </a:cubicBezTo>
                <a:cubicBezTo>
                  <a:pt x="103311" y="39593"/>
                  <a:pt x="155957" y="71875"/>
                  <a:pt x="208301" y="104005"/>
                </a:cubicBezTo>
                <a:cubicBezTo>
                  <a:pt x="221325" y="111950"/>
                  <a:pt x="234952" y="119090"/>
                  <a:pt x="248528" y="126230"/>
                </a:cubicBezTo>
                <a:cubicBezTo>
                  <a:pt x="260847" y="133068"/>
                  <a:pt x="272110" y="153483"/>
                  <a:pt x="268339" y="167512"/>
                </a:cubicBezTo>
                <a:cubicBezTo>
                  <a:pt x="264970" y="180083"/>
                  <a:pt x="249684" y="176412"/>
                  <a:pt x="240131" y="174150"/>
                </a:cubicBezTo>
                <a:cubicBezTo>
                  <a:pt x="234388" y="172978"/>
                  <a:pt x="228825" y="171047"/>
                  <a:pt x="223587" y="168417"/>
                </a:cubicBezTo>
                <a:cubicBezTo>
                  <a:pt x="188892" y="149612"/>
                  <a:pt x="101803" y="104910"/>
                  <a:pt x="92852" y="100234"/>
                </a:cubicBezTo>
                <a:cubicBezTo>
                  <a:pt x="183914" y="296034"/>
                  <a:pt x="365284" y="424105"/>
                  <a:pt x="565009" y="492439"/>
                </a:cubicBezTo>
                <a:cubicBezTo>
                  <a:pt x="620308" y="511034"/>
                  <a:pt x="676720" y="526142"/>
                  <a:pt x="733909" y="537693"/>
                </a:cubicBezTo>
                <a:cubicBezTo>
                  <a:pt x="788031" y="549284"/>
                  <a:pt x="843183" y="555413"/>
                  <a:pt x="898532" y="555998"/>
                </a:cubicBezTo>
                <a:cubicBezTo>
                  <a:pt x="936246" y="555998"/>
                  <a:pt x="973956" y="556448"/>
                  <a:pt x="1011621" y="556398"/>
                </a:cubicBezTo>
                <a:cubicBezTo>
                  <a:pt x="1029673" y="556398"/>
                  <a:pt x="1049380" y="578674"/>
                  <a:pt x="1046064" y="596627"/>
                </a:cubicBezTo>
                <a:cubicBezTo>
                  <a:pt x="1044003" y="607589"/>
                  <a:pt x="1036006" y="612414"/>
                  <a:pt x="1025649" y="612414"/>
                </a:cubicBezTo>
                <a:cubicBezTo>
                  <a:pt x="981148" y="612414"/>
                  <a:pt x="936597" y="613268"/>
                  <a:pt x="892198" y="611559"/>
                </a:cubicBezTo>
                <a:cubicBezTo>
                  <a:pt x="723679" y="604584"/>
                  <a:pt x="558450" y="562634"/>
                  <a:pt x="407019" y="488367"/>
                </a:cubicBezTo>
                <a:cubicBezTo>
                  <a:pt x="290564" y="431145"/>
                  <a:pt x="189647" y="330829"/>
                  <a:pt x="108189" y="230415"/>
                </a:cubicBezTo>
                <a:cubicBezTo>
                  <a:pt x="87673" y="205274"/>
                  <a:pt x="70778" y="176714"/>
                  <a:pt x="52324" y="149963"/>
                </a:cubicBezTo>
                <a:cubicBezTo>
                  <a:pt x="51319" y="149963"/>
                  <a:pt x="53079" y="186117"/>
                  <a:pt x="54788" y="204219"/>
                </a:cubicBezTo>
              </a:path>
            </a:pathLst>
          </a:custGeom>
          <a:solidFill>
            <a:schemeClr val="bg1">
              <a:lumMod val="50000"/>
            </a:schemeClr>
          </a:solidFill>
          <a:ln w="40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5309235" y="5593715"/>
            <a:ext cx="6417945" cy="1266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1600" dirty="0">
                <a:latin typeface="+mn-ea"/>
              </a:rPr>
              <a:t>热轧产线轧制速度快、人工目检易疲劳漏检，造成批量质量损失；在 NEU-DET 基准（1800 张图像、6 类热轧缺陷）上，裂纹等弱纹理缺陷漏检严重，mAP@0.5 仅 52.2%。</a:t>
            </a:r>
            <a:endParaRPr kumimoji="1" lang="zh-CN" altLang="en-US" sz="1600" dirty="0">
              <a:latin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6103620" y="4322445"/>
            <a:ext cx="52578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latin typeface="+mn-ea"/>
              </a:rPr>
              <a:t>在 YOLOv8 Neck 端嵌入 CBAM 通道-空间双重注意力，以同数据、同超参消融实验验证：整体 mAP@0.5 由 77.5% 提升至约 80%~81%，最难类裂纹提升至约 57%~60%；单张推理 3 ms，满足产线实时质检。</a:t>
            </a:r>
            <a:endParaRPr kumimoji="1" lang="zh-CN" altLang="en-US" sz="1600" dirty="0">
              <a:latin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783705" y="3041015"/>
            <a:ext cx="4490720" cy="1022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1600" dirty="0">
                <a:latin typeface="+mn-ea"/>
              </a:rPr>
              <a:t>获中国国际大学生创新大赛校级银奖</a:t>
            </a:r>
            <a:endParaRPr kumimoji="1" lang="zh-CN" altLang="en-US" sz="1600" dirty="0">
              <a:latin typeface="+mn-ea"/>
            </a:endParaRPr>
          </a:p>
          <a:p>
            <a:pPr algn="ctr">
              <a:lnSpc>
                <a:spcPct val="120000"/>
              </a:lnSpc>
            </a:pPr>
            <a:r>
              <a:rPr kumimoji="1" lang="zh-CN" altLang="en-US" sz="1600" dirty="0">
                <a:latin typeface="+mn-ea"/>
              </a:rPr>
              <a:t>以此进入</a:t>
            </a:r>
            <a:r>
              <a:rPr kumimoji="1" lang="zh-CN" altLang="en-US" b="1" dirty="0">
                <a:latin typeface="+mn-ea"/>
              </a:rPr>
              <a:t>武汉洪飞智巡科技有限公司</a:t>
            </a:r>
            <a:endParaRPr kumimoji="1" lang="zh-CN" altLang="en-US" b="1" dirty="0">
              <a:latin typeface="+mn-ea"/>
            </a:endParaRPr>
          </a:p>
          <a:p>
            <a:pPr algn="ctr">
              <a:lnSpc>
                <a:spcPct val="120000"/>
              </a:lnSpc>
            </a:pPr>
            <a:r>
              <a:rPr kumimoji="1" lang="zh-CN" altLang="en-US" sz="1600" dirty="0">
                <a:latin typeface="+mn-ea"/>
              </a:rPr>
              <a:t>横向</a:t>
            </a:r>
            <a:r>
              <a:rPr kumimoji="1" lang="zh-CN" altLang="en-US" sz="1600" dirty="0">
                <a:latin typeface="+mn-ea"/>
              </a:rPr>
              <a:t>实习</a:t>
            </a:r>
            <a:endParaRPr kumimoji="1" lang="zh-CN" altLang="en-US" sz="1600" dirty="0">
              <a:latin typeface="+mn-ea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3351767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YOLOv8</a:t>
            </a:r>
            <a:endParaRPr kumimoji="1" lang="zh-CN" altLang="en-US" sz="1200" dirty="0"/>
          </a:p>
        </p:txBody>
      </p:sp>
      <p:sp>
        <p:nvSpPr>
          <p:cNvPr id="88" name="文本框 87"/>
          <p:cNvSpPr txBox="1"/>
          <p:nvPr/>
        </p:nvSpPr>
        <p:spPr>
          <a:xfrm>
            <a:off x="3530600" y="965835"/>
            <a:ext cx="80619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优秀课程设计</a:t>
            </a:r>
            <a:r>
              <a:rPr kumimoji="1"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·  </a:t>
            </a:r>
            <a:r>
              <a:rPr kumimoji="1"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获校级银奖  </a:t>
            </a:r>
            <a:endParaRPr kumimoji="1"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5067802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CBAM 注意力</a:t>
            </a:r>
            <a:endParaRPr kumimoji="1" lang="zh-CN" altLang="en-US" sz="1200" dirty="0"/>
          </a:p>
        </p:txBody>
      </p:sp>
      <p:sp>
        <p:nvSpPr>
          <p:cNvPr id="90" name="圆角矩形 89"/>
          <p:cNvSpPr/>
          <p:nvPr/>
        </p:nvSpPr>
        <p:spPr>
          <a:xfrm>
            <a:off x="6783837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NEU-DET</a:t>
            </a:r>
            <a:endParaRPr kumimoji="1" lang="zh-CN" altLang="en-US" sz="1200" dirty="0"/>
          </a:p>
        </p:txBody>
      </p:sp>
      <p:sp>
        <p:nvSpPr>
          <p:cNvPr id="91" name="圆角矩形 90"/>
          <p:cNvSpPr/>
          <p:nvPr/>
        </p:nvSpPr>
        <p:spPr>
          <a:xfrm>
            <a:off x="8499872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缺陷检测</a:t>
            </a:r>
            <a:endParaRPr kumimoji="1" lang="zh-CN" altLang="en-US" sz="1200" dirty="0"/>
          </a:p>
        </p:txBody>
      </p:sp>
      <p:sp>
        <p:nvSpPr>
          <p:cNvPr id="92" name="圆角矩形 91"/>
          <p:cNvSpPr/>
          <p:nvPr/>
        </p:nvSpPr>
        <p:spPr>
          <a:xfrm>
            <a:off x="10215906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实时质检</a:t>
            </a:r>
            <a:endParaRPr kumimoji="1" lang="zh-CN" altLang="en-US" sz="1200" dirty="0"/>
          </a:p>
        </p:txBody>
      </p:sp>
      <p:sp>
        <p:nvSpPr>
          <p:cNvPr id="93" name="文本框 92"/>
          <p:cNvSpPr txBox="1"/>
          <p:nvPr/>
        </p:nvSpPr>
        <p:spPr>
          <a:xfrm>
            <a:off x="8137867" y="2248180"/>
            <a:ext cx="651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</a:rPr>
              <a:t>科研成果</a:t>
            </a:r>
            <a:endParaRPr kumimoji="1"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-2" y="3529052"/>
            <a:ext cx="2703742" cy="921872"/>
            <a:chOff x="-2" y="1537960"/>
            <a:chExt cx="2703742" cy="921872"/>
          </a:xfrm>
        </p:grpSpPr>
        <p:sp>
          <p:nvSpPr>
            <p:cNvPr id="10" name="矩形 9"/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24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图形 15"/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bg1"/>
          </a:solidFill>
        </p:grpSpPr>
        <p:sp>
          <p:nvSpPr>
            <p:cNvPr id="21" name="任意形状 20"/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任意形状 21"/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" name="图形 25"/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/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930650" y="212725"/>
            <a:ext cx="78905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科研实习：国家网安</a:t>
            </a:r>
            <a:r>
              <a:rPr kumimoji="1" lang="zh-CN" altLang="en-US" sz="2400" b="1" dirty="0"/>
              <a:t>基地｜武汉金银湖实验室</a:t>
            </a:r>
            <a:endParaRPr kumimoji="1" lang="zh-CN" altLang="en-US" sz="2400" b="1" dirty="0"/>
          </a:p>
        </p:txBody>
      </p:sp>
      <p:cxnSp>
        <p:nvCxnSpPr>
          <p:cNvPr id="31" name="直线连接符 30"/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/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/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/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/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3" name="矩形 52"/>
          <p:cNvSpPr/>
          <p:nvPr/>
        </p:nvSpPr>
        <p:spPr>
          <a:xfrm>
            <a:off x="2961950" y="1166463"/>
            <a:ext cx="8744278" cy="2497487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7371715" y="1160145"/>
            <a:ext cx="4312285" cy="1863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dirty="0">
                <a:latin typeface="+mn-ea"/>
              </a:rPr>
              <a:t>参与构建可信开源态势感知平台，</a:t>
            </a:r>
            <a:endParaRPr lang="zh-CN" altLang="en-US" dirty="0">
              <a:latin typeface="+mn-ea"/>
            </a:endParaRP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dirty="0">
                <a:latin typeface="+mn-ea"/>
              </a:rPr>
              <a:t>由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吴建平院士团队</a:t>
            </a:r>
            <a:r>
              <a:rPr lang="zh-CN" altLang="en-US" dirty="0">
                <a:latin typeface="+mn-ea"/>
              </a:rPr>
              <a:t>指导，</a:t>
            </a:r>
            <a:endParaRPr lang="zh-CN" altLang="en-US" dirty="0">
              <a:latin typeface="+mn-ea"/>
            </a:endParaRP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dirty="0">
                <a:latin typeface="+mn-ea"/>
              </a:rPr>
              <a:t>联合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华中科技大学</a:t>
            </a:r>
            <a:r>
              <a:rPr lang="zh-CN" altLang="en-US" dirty="0">
                <a:latin typeface="+mn-ea"/>
              </a:rPr>
              <a:t>网安学院</a:t>
            </a:r>
            <a:endParaRPr lang="zh-CN" altLang="en-US" dirty="0">
              <a:latin typeface="+mn-ea"/>
            </a:endParaRP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dirty="0">
                <a:latin typeface="+mn-ea"/>
              </a:rPr>
              <a:t>将自研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金银湖大模型</a:t>
            </a:r>
            <a:r>
              <a:rPr lang="zh-CN" altLang="en-US" dirty="0">
                <a:latin typeface="+mn-ea"/>
              </a:rPr>
              <a:t>应用于威胁可视化与漏洞智能修复场景</a:t>
            </a:r>
            <a:endParaRPr lang="zh-CN" altLang="en-US" dirty="0">
              <a:latin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371715" y="880110"/>
            <a:ext cx="1635125" cy="298450"/>
            <a:chOff x="10386" y="2132"/>
            <a:chExt cx="2575" cy="470"/>
          </a:xfrm>
        </p:grpSpPr>
        <p:sp>
          <p:nvSpPr>
            <p:cNvPr id="58" name="矩形: 圆角 17"/>
            <p:cNvSpPr/>
            <p:nvPr/>
          </p:nvSpPr>
          <p:spPr>
            <a:xfrm>
              <a:off x="10951" y="2132"/>
              <a:ext cx="2010" cy="47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工作内容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77" name="图形 19" descr="订阅内容"/>
            <p:cNvSpPr/>
            <p:nvPr/>
          </p:nvSpPr>
          <p:spPr>
            <a:xfrm>
              <a:off x="10386" y="2132"/>
              <a:ext cx="470" cy="470"/>
            </a:xfrm>
            <a:custGeom>
              <a:avLst/>
              <a:gdLst>
                <a:gd name="connsiteX0" fmla="*/ 183584 w 298451"/>
                <a:gd name="connsiteY0" fmla="*/ 291510 h 298451"/>
                <a:gd name="connsiteX1" fmla="*/ 42906 w 298451"/>
                <a:gd name="connsiteY1" fmla="*/ 291510 h 298451"/>
                <a:gd name="connsiteX2" fmla="*/ 12567 w 298451"/>
                <a:gd name="connsiteY2" fmla="*/ 279313 h 298451"/>
                <a:gd name="connsiteX3" fmla="*/ 0 w 298451"/>
                <a:gd name="connsiteY3" fmla="*/ 249866 h 298451"/>
                <a:gd name="connsiteX4" fmla="*/ 0 w 298451"/>
                <a:gd name="connsiteY4" fmla="*/ 41644 h 298451"/>
                <a:gd name="connsiteX5" fmla="*/ 42906 w 298451"/>
                <a:gd name="connsiteY5" fmla="*/ 0 h 298451"/>
                <a:gd name="connsiteX6" fmla="*/ 193079 w 298451"/>
                <a:gd name="connsiteY6" fmla="*/ 0 h 298451"/>
                <a:gd name="connsiteX7" fmla="*/ 223417 w 298451"/>
                <a:gd name="connsiteY7" fmla="*/ 12198 h 298451"/>
                <a:gd name="connsiteX8" fmla="*/ 235985 w 298451"/>
                <a:gd name="connsiteY8" fmla="*/ 41644 h 298451"/>
                <a:gd name="connsiteX9" fmla="*/ 235985 w 298451"/>
                <a:gd name="connsiteY9" fmla="*/ 159636 h 298451"/>
                <a:gd name="connsiteX10" fmla="*/ 177088 w 298451"/>
                <a:gd name="connsiteY10" fmla="*/ 187400 h 298451"/>
                <a:gd name="connsiteX11" fmla="*/ 53633 w 298451"/>
                <a:gd name="connsiteY11" fmla="*/ 187400 h 298451"/>
                <a:gd name="connsiteX12" fmla="*/ 42906 w 298451"/>
                <a:gd name="connsiteY12" fmla="*/ 197811 h 298451"/>
                <a:gd name="connsiteX13" fmla="*/ 53633 w 298451"/>
                <a:gd name="connsiteY13" fmla="*/ 208223 h 298451"/>
                <a:gd name="connsiteX14" fmla="*/ 164841 w 298451"/>
                <a:gd name="connsiteY14" fmla="*/ 208223 h 298451"/>
                <a:gd name="connsiteX15" fmla="*/ 159636 w 298451"/>
                <a:gd name="connsiteY15" fmla="*/ 235985 h 298451"/>
                <a:gd name="connsiteX16" fmla="*/ 183584 w 298451"/>
                <a:gd name="connsiteY16" fmla="*/ 291510 h 298451"/>
                <a:gd name="connsiteX17" fmla="*/ 182351 w 298451"/>
                <a:gd name="connsiteY17" fmla="*/ 62466 h 298451"/>
                <a:gd name="connsiteX18" fmla="*/ 117992 w 298451"/>
                <a:gd name="connsiteY18" fmla="*/ 62466 h 298451"/>
                <a:gd name="connsiteX19" fmla="*/ 107265 w 298451"/>
                <a:gd name="connsiteY19" fmla="*/ 72878 h 298451"/>
                <a:gd name="connsiteX20" fmla="*/ 117992 w 298451"/>
                <a:gd name="connsiteY20" fmla="*/ 83289 h 298451"/>
                <a:gd name="connsiteX21" fmla="*/ 182351 w 298451"/>
                <a:gd name="connsiteY21" fmla="*/ 83289 h 298451"/>
                <a:gd name="connsiteX22" fmla="*/ 193079 w 298451"/>
                <a:gd name="connsiteY22" fmla="*/ 72878 h 298451"/>
                <a:gd name="connsiteX23" fmla="*/ 182351 w 298451"/>
                <a:gd name="connsiteY23" fmla="*/ 62466 h 298451"/>
                <a:gd name="connsiteX24" fmla="*/ 182351 w 298451"/>
                <a:gd name="connsiteY24" fmla="*/ 104111 h 298451"/>
                <a:gd name="connsiteX25" fmla="*/ 53633 w 298451"/>
                <a:gd name="connsiteY25" fmla="*/ 104111 h 298451"/>
                <a:gd name="connsiteX26" fmla="*/ 42906 w 298451"/>
                <a:gd name="connsiteY26" fmla="*/ 114522 h 298451"/>
                <a:gd name="connsiteX27" fmla="*/ 53633 w 298451"/>
                <a:gd name="connsiteY27" fmla="*/ 124933 h 298451"/>
                <a:gd name="connsiteX28" fmla="*/ 182351 w 298451"/>
                <a:gd name="connsiteY28" fmla="*/ 124933 h 298451"/>
                <a:gd name="connsiteX29" fmla="*/ 193079 w 298451"/>
                <a:gd name="connsiteY29" fmla="*/ 114522 h 298451"/>
                <a:gd name="connsiteX30" fmla="*/ 182351 w 298451"/>
                <a:gd name="connsiteY30" fmla="*/ 104111 h 298451"/>
                <a:gd name="connsiteX31" fmla="*/ 182351 w 298451"/>
                <a:gd name="connsiteY31" fmla="*/ 145756 h 298451"/>
                <a:gd name="connsiteX32" fmla="*/ 53633 w 298451"/>
                <a:gd name="connsiteY32" fmla="*/ 145756 h 298451"/>
                <a:gd name="connsiteX33" fmla="*/ 42906 w 298451"/>
                <a:gd name="connsiteY33" fmla="*/ 156166 h 298451"/>
                <a:gd name="connsiteX34" fmla="*/ 53633 w 298451"/>
                <a:gd name="connsiteY34" fmla="*/ 166578 h 298451"/>
                <a:gd name="connsiteX35" fmla="*/ 182351 w 298451"/>
                <a:gd name="connsiteY35" fmla="*/ 166578 h 298451"/>
                <a:gd name="connsiteX36" fmla="*/ 193079 w 298451"/>
                <a:gd name="connsiteY36" fmla="*/ 156166 h 298451"/>
                <a:gd name="connsiteX37" fmla="*/ 182351 w 298451"/>
                <a:gd name="connsiteY37" fmla="*/ 145756 h 298451"/>
                <a:gd name="connsiteX38" fmla="*/ 235985 w 298451"/>
                <a:gd name="connsiteY38" fmla="*/ 298451 h 298451"/>
                <a:gd name="connsiteX39" fmla="*/ 173518 w 298451"/>
                <a:gd name="connsiteY39" fmla="*/ 235985 h 298451"/>
                <a:gd name="connsiteX40" fmla="*/ 235985 w 298451"/>
                <a:gd name="connsiteY40" fmla="*/ 173518 h 298451"/>
                <a:gd name="connsiteX41" fmla="*/ 298451 w 298451"/>
                <a:gd name="connsiteY41" fmla="*/ 235985 h 298451"/>
                <a:gd name="connsiteX42" fmla="*/ 235985 w 298451"/>
                <a:gd name="connsiteY42" fmla="*/ 298451 h 298451"/>
                <a:gd name="connsiteX43" fmla="*/ 221271 w 298451"/>
                <a:gd name="connsiteY43" fmla="*/ 208222 h 298451"/>
                <a:gd name="connsiteX44" fmla="*/ 215162 w 298451"/>
                <a:gd name="connsiteY44" fmla="*/ 214331 h 298451"/>
                <a:gd name="connsiteX45" fmla="*/ 215162 w 298451"/>
                <a:gd name="connsiteY45" fmla="*/ 264411 h 298451"/>
                <a:gd name="connsiteX46" fmla="*/ 216056 w 298451"/>
                <a:gd name="connsiteY46" fmla="*/ 267592 h 298451"/>
                <a:gd name="connsiteX47" fmla="*/ 224453 w 298451"/>
                <a:gd name="connsiteY47" fmla="*/ 269626 h 298451"/>
                <a:gd name="connsiteX48" fmla="*/ 235985 w 298451"/>
                <a:gd name="connsiteY48" fmla="*/ 262594 h 298451"/>
                <a:gd name="connsiteX49" fmla="*/ 247516 w 298451"/>
                <a:gd name="connsiteY49" fmla="*/ 269626 h 298451"/>
                <a:gd name="connsiteX50" fmla="*/ 250698 w 298451"/>
                <a:gd name="connsiteY50" fmla="*/ 270520 h 298451"/>
                <a:gd name="connsiteX51" fmla="*/ 256807 w 298451"/>
                <a:gd name="connsiteY51" fmla="*/ 264411 h 298451"/>
                <a:gd name="connsiteX52" fmla="*/ 256807 w 298451"/>
                <a:gd name="connsiteY52" fmla="*/ 214331 h 298451"/>
                <a:gd name="connsiteX53" fmla="*/ 250698 w 298451"/>
                <a:gd name="connsiteY53" fmla="*/ 208222 h 298451"/>
                <a:gd name="connsiteX54" fmla="*/ 221271 w 298451"/>
                <a:gd name="connsiteY54" fmla="*/ 208222 h 298451"/>
                <a:gd name="connsiteX55" fmla="*/ 233010 w 298451"/>
                <a:gd name="connsiteY55" fmla="*/ 230089 h 298451"/>
                <a:gd name="connsiteX56" fmla="*/ 233010 w 298451"/>
                <a:gd name="connsiteY56" fmla="*/ 223693 h 298451"/>
                <a:gd name="connsiteX57" fmla="*/ 235985 w 298451"/>
                <a:gd name="connsiteY57" fmla="*/ 220717 h 298451"/>
                <a:gd name="connsiteX58" fmla="*/ 238959 w 298451"/>
                <a:gd name="connsiteY58" fmla="*/ 223693 h 298451"/>
                <a:gd name="connsiteX59" fmla="*/ 238959 w 298451"/>
                <a:gd name="connsiteY59" fmla="*/ 230089 h 298451"/>
                <a:gd name="connsiteX60" fmla="*/ 244829 w 298451"/>
                <a:gd name="connsiteY60" fmla="*/ 230089 h 298451"/>
                <a:gd name="connsiteX61" fmla="*/ 247883 w 298451"/>
                <a:gd name="connsiteY61" fmla="*/ 233144 h 298451"/>
                <a:gd name="connsiteX62" fmla="*/ 247883 w 298451"/>
                <a:gd name="connsiteY62" fmla="*/ 233283 h 298451"/>
                <a:gd name="connsiteX63" fmla="*/ 244829 w 298451"/>
                <a:gd name="connsiteY63" fmla="*/ 236337 h 298451"/>
                <a:gd name="connsiteX64" fmla="*/ 238959 w 298451"/>
                <a:gd name="connsiteY64" fmla="*/ 236337 h 298451"/>
                <a:gd name="connsiteX65" fmla="*/ 238959 w 298451"/>
                <a:gd name="connsiteY65" fmla="*/ 242735 h 298451"/>
                <a:gd name="connsiteX66" fmla="*/ 235985 w 298451"/>
                <a:gd name="connsiteY66" fmla="*/ 245709 h 298451"/>
                <a:gd name="connsiteX67" fmla="*/ 233010 w 298451"/>
                <a:gd name="connsiteY67" fmla="*/ 242735 h 298451"/>
                <a:gd name="connsiteX68" fmla="*/ 233010 w 298451"/>
                <a:gd name="connsiteY68" fmla="*/ 236337 h 298451"/>
                <a:gd name="connsiteX69" fmla="*/ 227141 w 298451"/>
                <a:gd name="connsiteY69" fmla="*/ 236337 h 298451"/>
                <a:gd name="connsiteX70" fmla="*/ 224087 w 298451"/>
                <a:gd name="connsiteY70" fmla="*/ 233283 h 298451"/>
                <a:gd name="connsiteX71" fmla="*/ 224087 w 298451"/>
                <a:gd name="connsiteY71" fmla="*/ 233144 h 298451"/>
                <a:gd name="connsiteX72" fmla="*/ 227141 w 298451"/>
                <a:gd name="connsiteY72" fmla="*/ 230089 h 298451"/>
                <a:gd name="connsiteX73" fmla="*/ 233010 w 298451"/>
                <a:gd name="connsiteY73" fmla="*/ 230089 h 29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98451" h="298451">
                  <a:moveTo>
                    <a:pt x="183584" y="291510"/>
                  </a:moveTo>
                  <a:lnTo>
                    <a:pt x="42906" y="291510"/>
                  </a:lnTo>
                  <a:cubicBezTo>
                    <a:pt x="31528" y="291510"/>
                    <a:pt x="20613" y="287124"/>
                    <a:pt x="12567" y="279313"/>
                  </a:cubicBezTo>
                  <a:cubicBezTo>
                    <a:pt x="4520" y="271504"/>
                    <a:pt x="0" y="260911"/>
                    <a:pt x="0" y="249866"/>
                  </a:cubicBezTo>
                  <a:lnTo>
                    <a:pt x="0" y="41644"/>
                  </a:lnTo>
                  <a:cubicBezTo>
                    <a:pt x="0" y="18645"/>
                    <a:pt x="19210" y="0"/>
                    <a:pt x="42906" y="0"/>
                  </a:cubicBezTo>
                  <a:lnTo>
                    <a:pt x="193079" y="0"/>
                  </a:lnTo>
                  <a:cubicBezTo>
                    <a:pt x="204459" y="0"/>
                    <a:pt x="215372" y="4387"/>
                    <a:pt x="223417" y="12198"/>
                  </a:cubicBezTo>
                  <a:cubicBezTo>
                    <a:pt x="231465" y="20007"/>
                    <a:pt x="235985" y="30600"/>
                    <a:pt x="235985" y="41644"/>
                  </a:cubicBezTo>
                  <a:lnTo>
                    <a:pt x="235985" y="159636"/>
                  </a:lnTo>
                  <a:cubicBezTo>
                    <a:pt x="212276" y="159636"/>
                    <a:pt x="191091" y="170444"/>
                    <a:pt x="177088" y="187400"/>
                  </a:cubicBezTo>
                  <a:lnTo>
                    <a:pt x="53633" y="187400"/>
                  </a:lnTo>
                  <a:cubicBezTo>
                    <a:pt x="47708" y="187400"/>
                    <a:pt x="42906" y="192061"/>
                    <a:pt x="42906" y="197811"/>
                  </a:cubicBezTo>
                  <a:cubicBezTo>
                    <a:pt x="42906" y="203560"/>
                    <a:pt x="47708" y="208223"/>
                    <a:pt x="53633" y="208223"/>
                  </a:cubicBezTo>
                  <a:lnTo>
                    <a:pt x="164841" y="208223"/>
                  </a:lnTo>
                  <a:cubicBezTo>
                    <a:pt x="161481" y="216827"/>
                    <a:pt x="159636" y="226190"/>
                    <a:pt x="159636" y="235985"/>
                  </a:cubicBezTo>
                  <a:cubicBezTo>
                    <a:pt x="159636" y="257863"/>
                    <a:pt x="168838" y="277591"/>
                    <a:pt x="183584" y="291510"/>
                  </a:cubicBezTo>
                  <a:moveTo>
                    <a:pt x="182351" y="62466"/>
                  </a:moveTo>
                  <a:lnTo>
                    <a:pt x="117992" y="62466"/>
                  </a:lnTo>
                  <a:cubicBezTo>
                    <a:pt x="112069" y="62466"/>
                    <a:pt x="107265" y="67127"/>
                    <a:pt x="107265" y="72878"/>
                  </a:cubicBezTo>
                  <a:cubicBezTo>
                    <a:pt x="107265" y="78627"/>
                    <a:pt x="112069" y="83289"/>
                    <a:pt x="117992" y="83289"/>
                  </a:cubicBezTo>
                  <a:lnTo>
                    <a:pt x="182351" y="83289"/>
                  </a:lnTo>
                  <a:cubicBezTo>
                    <a:pt x="188276" y="83289"/>
                    <a:pt x="193079" y="78627"/>
                    <a:pt x="193079" y="72878"/>
                  </a:cubicBezTo>
                  <a:cubicBezTo>
                    <a:pt x="193079" y="67127"/>
                    <a:pt x="188276" y="62466"/>
                    <a:pt x="182351" y="62466"/>
                  </a:cubicBezTo>
                  <a:moveTo>
                    <a:pt x="182351" y="104111"/>
                  </a:moveTo>
                  <a:lnTo>
                    <a:pt x="53633" y="104111"/>
                  </a:lnTo>
                  <a:cubicBezTo>
                    <a:pt x="47708" y="104111"/>
                    <a:pt x="42906" y="108773"/>
                    <a:pt x="42906" y="114522"/>
                  </a:cubicBezTo>
                  <a:cubicBezTo>
                    <a:pt x="42906" y="120272"/>
                    <a:pt x="47708" y="124933"/>
                    <a:pt x="53633" y="124933"/>
                  </a:cubicBezTo>
                  <a:lnTo>
                    <a:pt x="182351" y="124933"/>
                  </a:lnTo>
                  <a:cubicBezTo>
                    <a:pt x="188276" y="124933"/>
                    <a:pt x="193079" y="120272"/>
                    <a:pt x="193079" y="114522"/>
                  </a:cubicBezTo>
                  <a:cubicBezTo>
                    <a:pt x="193079" y="108773"/>
                    <a:pt x="188276" y="104111"/>
                    <a:pt x="182351" y="104111"/>
                  </a:cubicBezTo>
                  <a:moveTo>
                    <a:pt x="182351" y="145756"/>
                  </a:moveTo>
                  <a:lnTo>
                    <a:pt x="53633" y="145756"/>
                  </a:lnTo>
                  <a:cubicBezTo>
                    <a:pt x="47708" y="145756"/>
                    <a:pt x="42906" y="150417"/>
                    <a:pt x="42906" y="156166"/>
                  </a:cubicBezTo>
                  <a:cubicBezTo>
                    <a:pt x="42906" y="161917"/>
                    <a:pt x="47708" y="166578"/>
                    <a:pt x="53633" y="166578"/>
                  </a:cubicBezTo>
                  <a:lnTo>
                    <a:pt x="182351" y="166578"/>
                  </a:lnTo>
                  <a:cubicBezTo>
                    <a:pt x="188276" y="166578"/>
                    <a:pt x="193079" y="161917"/>
                    <a:pt x="193079" y="156166"/>
                  </a:cubicBezTo>
                  <a:cubicBezTo>
                    <a:pt x="193079" y="150417"/>
                    <a:pt x="188276" y="145756"/>
                    <a:pt x="182351" y="145756"/>
                  </a:cubicBezTo>
                  <a:moveTo>
                    <a:pt x="235985" y="298451"/>
                  </a:moveTo>
                  <a:cubicBezTo>
                    <a:pt x="201485" y="298451"/>
                    <a:pt x="173518" y="270484"/>
                    <a:pt x="173518" y="235985"/>
                  </a:cubicBezTo>
                  <a:cubicBezTo>
                    <a:pt x="173518" y="201485"/>
                    <a:pt x="201485" y="173518"/>
                    <a:pt x="235985" y="173518"/>
                  </a:cubicBezTo>
                  <a:cubicBezTo>
                    <a:pt x="270484" y="173518"/>
                    <a:pt x="298451" y="201485"/>
                    <a:pt x="298451" y="235985"/>
                  </a:cubicBezTo>
                  <a:cubicBezTo>
                    <a:pt x="298451" y="270484"/>
                    <a:pt x="270484" y="298451"/>
                    <a:pt x="235985" y="298451"/>
                  </a:cubicBezTo>
                  <a:moveTo>
                    <a:pt x="221271" y="208222"/>
                  </a:moveTo>
                  <a:cubicBezTo>
                    <a:pt x="217897" y="208222"/>
                    <a:pt x="215162" y="210957"/>
                    <a:pt x="215162" y="214331"/>
                  </a:cubicBezTo>
                  <a:lnTo>
                    <a:pt x="215162" y="264411"/>
                  </a:lnTo>
                  <a:cubicBezTo>
                    <a:pt x="215162" y="265533"/>
                    <a:pt x="215471" y="266633"/>
                    <a:pt x="216056" y="267592"/>
                  </a:cubicBezTo>
                  <a:cubicBezTo>
                    <a:pt x="217813" y="270472"/>
                    <a:pt x="221572" y="271383"/>
                    <a:pt x="224453" y="269626"/>
                  </a:cubicBezTo>
                  <a:lnTo>
                    <a:pt x="235985" y="262594"/>
                  </a:lnTo>
                  <a:lnTo>
                    <a:pt x="247516" y="269626"/>
                  </a:lnTo>
                  <a:cubicBezTo>
                    <a:pt x="248474" y="270211"/>
                    <a:pt x="249575" y="270520"/>
                    <a:pt x="250698" y="270520"/>
                  </a:cubicBezTo>
                  <a:cubicBezTo>
                    <a:pt x="254072" y="270520"/>
                    <a:pt x="256807" y="267785"/>
                    <a:pt x="256807" y="264411"/>
                  </a:cubicBezTo>
                  <a:lnTo>
                    <a:pt x="256807" y="214331"/>
                  </a:lnTo>
                  <a:cubicBezTo>
                    <a:pt x="256807" y="210957"/>
                    <a:pt x="254072" y="208222"/>
                    <a:pt x="250698" y="208222"/>
                  </a:cubicBezTo>
                  <a:lnTo>
                    <a:pt x="221271" y="208222"/>
                  </a:lnTo>
                  <a:moveTo>
                    <a:pt x="233010" y="230089"/>
                  </a:moveTo>
                  <a:lnTo>
                    <a:pt x="233010" y="223693"/>
                  </a:lnTo>
                  <a:cubicBezTo>
                    <a:pt x="233010" y="222050"/>
                    <a:pt x="234342" y="220717"/>
                    <a:pt x="235985" y="220717"/>
                  </a:cubicBezTo>
                  <a:cubicBezTo>
                    <a:pt x="237628" y="220717"/>
                    <a:pt x="238959" y="222050"/>
                    <a:pt x="238959" y="223693"/>
                  </a:cubicBezTo>
                  <a:lnTo>
                    <a:pt x="238959" y="230089"/>
                  </a:lnTo>
                  <a:lnTo>
                    <a:pt x="244829" y="230089"/>
                  </a:lnTo>
                  <a:cubicBezTo>
                    <a:pt x="246516" y="230089"/>
                    <a:pt x="247883" y="231457"/>
                    <a:pt x="247883" y="233144"/>
                  </a:cubicBezTo>
                  <a:lnTo>
                    <a:pt x="247883" y="233283"/>
                  </a:lnTo>
                  <a:cubicBezTo>
                    <a:pt x="247883" y="234970"/>
                    <a:pt x="246516" y="236337"/>
                    <a:pt x="244829" y="236337"/>
                  </a:cubicBezTo>
                  <a:lnTo>
                    <a:pt x="238959" y="236337"/>
                  </a:lnTo>
                  <a:lnTo>
                    <a:pt x="238959" y="242735"/>
                  </a:lnTo>
                  <a:cubicBezTo>
                    <a:pt x="238959" y="244378"/>
                    <a:pt x="237628" y="245709"/>
                    <a:pt x="235985" y="245709"/>
                  </a:cubicBezTo>
                  <a:cubicBezTo>
                    <a:pt x="234342" y="245709"/>
                    <a:pt x="233010" y="244378"/>
                    <a:pt x="233010" y="242735"/>
                  </a:cubicBezTo>
                  <a:lnTo>
                    <a:pt x="233010" y="236337"/>
                  </a:lnTo>
                  <a:lnTo>
                    <a:pt x="227141" y="236337"/>
                  </a:lnTo>
                  <a:cubicBezTo>
                    <a:pt x="225454" y="236337"/>
                    <a:pt x="224087" y="234970"/>
                    <a:pt x="224087" y="233283"/>
                  </a:cubicBezTo>
                  <a:lnTo>
                    <a:pt x="224087" y="233144"/>
                  </a:lnTo>
                  <a:cubicBezTo>
                    <a:pt x="224087" y="231457"/>
                    <a:pt x="225454" y="230089"/>
                    <a:pt x="227141" y="230089"/>
                  </a:cubicBezTo>
                  <a:lnTo>
                    <a:pt x="233010" y="230089"/>
                  </a:ln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34" name="文本框 133"/>
          <p:cNvSpPr txBox="1"/>
          <p:nvPr/>
        </p:nvSpPr>
        <p:spPr>
          <a:xfrm>
            <a:off x="3658641" y="3233503"/>
            <a:ext cx="2266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accent1"/>
                </a:solidFill>
              </a:rPr>
              <a:t>态势感知监控中心</a:t>
            </a:r>
            <a:endParaRPr kumimoji="1"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2961950" y="3913745"/>
            <a:ext cx="8744278" cy="2497487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/>
          <p:cNvSpPr txBox="1"/>
          <p:nvPr/>
        </p:nvSpPr>
        <p:spPr>
          <a:xfrm>
            <a:off x="3122295" y="4533265"/>
            <a:ext cx="4984115" cy="1341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dirty="0">
                <a:latin typeface="+mn-ea"/>
              </a:rPr>
              <a:t>基于 </a:t>
            </a:r>
            <a:r>
              <a:rPr lang="en-US" altLang="zh-CN" dirty="0">
                <a:latin typeface="+mn-ea"/>
              </a:rPr>
              <a:t>ECharts6 </a:t>
            </a:r>
            <a:r>
              <a:rPr lang="zh-CN" altLang="en-US" dirty="0">
                <a:latin typeface="+mn-ea"/>
              </a:rPr>
              <a:t>开发态势监控大屏，落地 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35 +</a:t>
            </a:r>
            <a:r>
              <a:rPr lang="zh-CN" altLang="en-US" sz="2000" dirty="0">
                <a:latin typeface="+mn-ea"/>
              </a:rPr>
              <a:t> 可视化组件</a:t>
            </a:r>
            <a:r>
              <a:rPr lang="zh-CN" altLang="en-US" dirty="0">
                <a:latin typeface="+mn-ea"/>
              </a:rPr>
              <a:t>，采用 </a:t>
            </a:r>
            <a:r>
              <a:rPr lang="en-US" altLang="zh-CN" dirty="0">
                <a:latin typeface="+mn-ea"/>
              </a:rPr>
              <a:t>GeoJSON </a:t>
            </a:r>
            <a:r>
              <a:rPr lang="zh-CN" altLang="en-US" dirty="0">
                <a:latin typeface="+mn-ea"/>
              </a:rPr>
              <a:t>三级容错加载与接口兜底；</a:t>
            </a:r>
            <a:endParaRPr lang="zh-CN" altLang="en-US" sz="2000" b="1" dirty="0">
              <a:solidFill>
                <a:srgbClr val="C00000"/>
              </a:solidFill>
              <a:latin typeface="+mn-ea"/>
            </a:endParaRP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dirty="0">
                <a:latin typeface="+mn-ea"/>
              </a:rPr>
              <a:t>接入金银湖大模型实现 </a:t>
            </a:r>
            <a:r>
              <a:rPr lang="en-US" altLang="zh-CN" dirty="0">
                <a:latin typeface="+mn-ea"/>
              </a:rPr>
              <a:t>TcodeAI </a:t>
            </a:r>
            <a:r>
              <a:rPr lang="zh-CN" altLang="en-US" dirty="0">
                <a:latin typeface="+mn-ea"/>
              </a:rPr>
              <a:t>漏洞辅助修复，组件化可折叠面板复用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6 + </a:t>
            </a:r>
            <a:r>
              <a:rPr lang="zh-CN" altLang="en-US" sz="2000" dirty="0">
                <a:latin typeface="+mn-ea"/>
              </a:rPr>
              <a:t>页面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323590" y="4297045"/>
            <a:ext cx="1635125" cy="298450"/>
            <a:chOff x="5041" y="6495"/>
            <a:chExt cx="2575" cy="470"/>
          </a:xfrm>
        </p:grpSpPr>
        <p:sp>
          <p:nvSpPr>
            <p:cNvPr id="137" name="矩形: 圆角 17"/>
            <p:cNvSpPr/>
            <p:nvPr/>
          </p:nvSpPr>
          <p:spPr>
            <a:xfrm>
              <a:off x="5606" y="6495"/>
              <a:ext cx="2010" cy="47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个人产出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39" name="图形 19" descr="订阅内容"/>
            <p:cNvSpPr/>
            <p:nvPr/>
          </p:nvSpPr>
          <p:spPr>
            <a:xfrm>
              <a:off x="5041" y="6495"/>
              <a:ext cx="470" cy="470"/>
            </a:xfrm>
            <a:custGeom>
              <a:avLst/>
              <a:gdLst>
                <a:gd name="connsiteX0" fmla="*/ 183584 w 298451"/>
                <a:gd name="connsiteY0" fmla="*/ 291510 h 298451"/>
                <a:gd name="connsiteX1" fmla="*/ 42906 w 298451"/>
                <a:gd name="connsiteY1" fmla="*/ 291510 h 298451"/>
                <a:gd name="connsiteX2" fmla="*/ 12567 w 298451"/>
                <a:gd name="connsiteY2" fmla="*/ 279313 h 298451"/>
                <a:gd name="connsiteX3" fmla="*/ 0 w 298451"/>
                <a:gd name="connsiteY3" fmla="*/ 249866 h 298451"/>
                <a:gd name="connsiteX4" fmla="*/ 0 w 298451"/>
                <a:gd name="connsiteY4" fmla="*/ 41644 h 298451"/>
                <a:gd name="connsiteX5" fmla="*/ 42906 w 298451"/>
                <a:gd name="connsiteY5" fmla="*/ 0 h 298451"/>
                <a:gd name="connsiteX6" fmla="*/ 193079 w 298451"/>
                <a:gd name="connsiteY6" fmla="*/ 0 h 298451"/>
                <a:gd name="connsiteX7" fmla="*/ 223417 w 298451"/>
                <a:gd name="connsiteY7" fmla="*/ 12198 h 298451"/>
                <a:gd name="connsiteX8" fmla="*/ 235985 w 298451"/>
                <a:gd name="connsiteY8" fmla="*/ 41644 h 298451"/>
                <a:gd name="connsiteX9" fmla="*/ 235985 w 298451"/>
                <a:gd name="connsiteY9" fmla="*/ 159636 h 298451"/>
                <a:gd name="connsiteX10" fmla="*/ 177088 w 298451"/>
                <a:gd name="connsiteY10" fmla="*/ 187400 h 298451"/>
                <a:gd name="connsiteX11" fmla="*/ 53633 w 298451"/>
                <a:gd name="connsiteY11" fmla="*/ 187400 h 298451"/>
                <a:gd name="connsiteX12" fmla="*/ 42906 w 298451"/>
                <a:gd name="connsiteY12" fmla="*/ 197811 h 298451"/>
                <a:gd name="connsiteX13" fmla="*/ 53633 w 298451"/>
                <a:gd name="connsiteY13" fmla="*/ 208223 h 298451"/>
                <a:gd name="connsiteX14" fmla="*/ 164841 w 298451"/>
                <a:gd name="connsiteY14" fmla="*/ 208223 h 298451"/>
                <a:gd name="connsiteX15" fmla="*/ 159636 w 298451"/>
                <a:gd name="connsiteY15" fmla="*/ 235985 h 298451"/>
                <a:gd name="connsiteX16" fmla="*/ 183584 w 298451"/>
                <a:gd name="connsiteY16" fmla="*/ 291510 h 298451"/>
                <a:gd name="connsiteX17" fmla="*/ 182351 w 298451"/>
                <a:gd name="connsiteY17" fmla="*/ 62466 h 298451"/>
                <a:gd name="connsiteX18" fmla="*/ 117992 w 298451"/>
                <a:gd name="connsiteY18" fmla="*/ 62466 h 298451"/>
                <a:gd name="connsiteX19" fmla="*/ 107265 w 298451"/>
                <a:gd name="connsiteY19" fmla="*/ 72878 h 298451"/>
                <a:gd name="connsiteX20" fmla="*/ 117992 w 298451"/>
                <a:gd name="connsiteY20" fmla="*/ 83289 h 298451"/>
                <a:gd name="connsiteX21" fmla="*/ 182351 w 298451"/>
                <a:gd name="connsiteY21" fmla="*/ 83289 h 298451"/>
                <a:gd name="connsiteX22" fmla="*/ 193079 w 298451"/>
                <a:gd name="connsiteY22" fmla="*/ 72878 h 298451"/>
                <a:gd name="connsiteX23" fmla="*/ 182351 w 298451"/>
                <a:gd name="connsiteY23" fmla="*/ 62466 h 298451"/>
                <a:gd name="connsiteX24" fmla="*/ 182351 w 298451"/>
                <a:gd name="connsiteY24" fmla="*/ 104111 h 298451"/>
                <a:gd name="connsiteX25" fmla="*/ 53633 w 298451"/>
                <a:gd name="connsiteY25" fmla="*/ 104111 h 298451"/>
                <a:gd name="connsiteX26" fmla="*/ 42906 w 298451"/>
                <a:gd name="connsiteY26" fmla="*/ 114522 h 298451"/>
                <a:gd name="connsiteX27" fmla="*/ 53633 w 298451"/>
                <a:gd name="connsiteY27" fmla="*/ 124933 h 298451"/>
                <a:gd name="connsiteX28" fmla="*/ 182351 w 298451"/>
                <a:gd name="connsiteY28" fmla="*/ 124933 h 298451"/>
                <a:gd name="connsiteX29" fmla="*/ 193079 w 298451"/>
                <a:gd name="connsiteY29" fmla="*/ 114522 h 298451"/>
                <a:gd name="connsiteX30" fmla="*/ 182351 w 298451"/>
                <a:gd name="connsiteY30" fmla="*/ 104111 h 298451"/>
                <a:gd name="connsiteX31" fmla="*/ 182351 w 298451"/>
                <a:gd name="connsiteY31" fmla="*/ 145756 h 298451"/>
                <a:gd name="connsiteX32" fmla="*/ 53633 w 298451"/>
                <a:gd name="connsiteY32" fmla="*/ 145756 h 298451"/>
                <a:gd name="connsiteX33" fmla="*/ 42906 w 298451"/>
                <a:gd name="connsiteY33" fmla="*/ 156166 h 298451"/>
                <a:gd name="connsiteX34" fmla="*/ 53633 w 298451"/>
                <a:gd name="connsiteY34" fmla="*/ 166578 h 298451"/>
                <a:gd name="connsiteX35" fmla="*/ 182351 w 298451"/>
                <a:gd name="connsiteY35" fmla="*/ 166578 h 298451"/>
                <a:gd name="connsiteX36" fmla="*/ 193079 w 298451"/>
                <a:gd name="connsiteY36" fmla="*/ 156166 h 298451"/>
                <a:gd name="connsiteX37" fmla="*/ 182351 w 298451"/>
                <a:gd name="connsiteY37" fmla="*/ 145756 h 298451"/>
                <a:gd name="connsiteX38" fmla="*/ 235985 w 298451"/>
                <a:gd name="connsiteY38" fmla="*/ 298451 h 298451"/>
                <a:gd name="connsiteX39" fmla="*/ 173518 w 298451"/>
                <a:gd name="connsiteY39" fmla="*/ 235985 h 298451"/>
                <a:gd name="connsiteX40" fmla="*/ 235985 w 298451"/>
                <a:gd name="connsiteY40" fmla="*/ 173518 h 298451"/>
                <a:gd name="connsiteX41" fmla="*/ 298451 w 298451"/>
                <a:gd name="connsiteY41" fmla="*/ 235985 h 298451"/>
                <a:gd name="connsiteX42" fmla="*/ 235985 w 298451"/>
                <a:gd name="connsiteY42" fmla="*/ 298451 h 298451"/>
                <a:gd name="connsiteX43" fmla="*/ 221271 w 298451"/>
                <a:gd name="connsiteY43" fmla="*/ 208222 h 298451"/>
                <a:gd name="connsiteX44" fmla="*/ 215162 w 298451"/>
                <a:gd name="connsiteY44" fmla="*/ 214331 h 298451"/>
                <a:gd name="connsiteX45" fmla="*/ 215162 w 298451"/>
                <a:gd name="connsiteY45" fmla="*/ 264411 h 298451"/>
                <a:gd name="connsiteX46" fmla="*/ 216056 w 298451"/>
                <a:gd name="connsiteY46" fmla="*/ 267592 h 298451"/>
                <a:gd name="connsiteX47" fmla="*/ 224453 w 298451"/>
                <a:gd name="connsiteY47" fmla="*/ 269626 h 298451"/>
                <a:gd name="connsiteX48" fmla="*/ 235985 w 298451"/>
                <a:gd name="connsiteY48" fmla="*/ 262594 h 298451"/>
                <a:gd name="connsiteX49" fmla="*/ 247516 w 298451"/>
                <a:gd name="connsiteY49" fmla="*/ 269626 h 298451"/>
                <a:gd name="connsiteX50" fmla="*/ 250698 w 298451"/>
                <a:gd name="connsiteY50" fmla="*/ 270520 h 298451"/>
                <a:gd name="connsiteX51" fmla="*/ 256807 w 298451"/>
                <a:gd name="connsiteY51" fmla="*/ 264411 h 298451"/>
                <a:gd name="connsiteX52" fmla="*/ 256807 w 298451"/>
                <a:gd name="connsiteY52" fmla="*/ 214331 h 298451"/>
                <a:gd name="connsiteX53" fmla="*/ 250698 w 298451"/>
                <a:gd name="connsiteY53" fmla="*/ 208222 h 298451"/>
                <a:gd name="connsiteX54" fmla="*/ 221271 w 298451"/>
                <a:gd name="connsiteY54" fmla="*/ 208222 h 298451"/>
                <a:gd name="connsiteX55" fmla="*/ 233010 w 298451"/>
                <a:gd name="connsiteY55" fmla="*/ 230089 h 298451"/>
                <a:gd name="connsiteX56" fmla="*/ 233010 w 298451"/>
                <a:gd name="connsiteY56" fmla="*/ 223693 h 298451"/>
                <a:gd name="connsiteX57" fmla="*/ 235985 w 298451"/>
                <a:gd name="connsiteY57" fmla="*/ 220717 h 298451"/>
                <a:gd name="connsiteX58" fmla="*/ 238959 w 298451"/>
                <a:gd name="connsiteY58" fmla="*/ 223693 h 298451"/>
                <a:gd name="connsiteX59" fmla="*/ 238959 w 298451"/>
                <a:gd name="connsiteY59" fmla="*/ 230089 h 298451"/>
                <a:gd name="connsiteX60" fmla="*/ 244829 w 298451"/>
                <a:gd name="connsiteY60" fmla="*/ 230089 h 298451"/>
                <a:gd name="connsiteX61" fmla="*/ 247883 w 298451"/>
                <a:gd name="connsiteY61" fmla="*/ 233144 h 298451"/>
                <a:gd name="connsiteX62" fmla="*/ 247883 w 298451"/>
                <a:gd name="connsiteY62" fmla="*/ 233283 h 298451"/>
                <a:gd name="connsiteX63" fmla="*/ 244829 w 298451"/>
                <a:gd name="connsiteY63" fmla="*/ 236337 h 298451"/>
                <a:gd name="connsiteX64" fmla="*/ 238959 w 298451"/>
                <a:gd name="connsiteY64" fmla="*/ 236337 h 298451"/>
                <a:gd name="connsiteX65" fmla="*/ 238959 w 298451"/>
                <a:gd name="connsiteY65" fmla="*/ 242735 h 298451"/>
                <a:gd name="connsiteX66" fmla="*/ 235985 w 298451"/>
                <a:gd name="connsiteY66" fmla="*/ 245709 h 298451"/>
                <a:gd name="connsiteX67" fmla="*/ 233010 w 298451"/>
                <a:gd name="connsiteY67" fmla="*/ 242735 h 298451"/>
                <a:gd name="connsiteX68" fmla="*/ 233010 w 298451"/>
                <a:gd name="connsiteY68" fmla="*/ 236337 h 298451"/>
                <a:gd name="connsiteX69" fmla="*/ 227141 w 298451"/>
                <a:gd name="connsiteY69" fmla="*/ 236337 h 298451"/>
                <a:gd name="connsiteX70" fmla="*/ 224087 w 298451"/>
                <a:gd name="connsiteY70" fmla="*/ 233283 h 298451"/>
                <a:gd name="connsiteX71" fmla="*/ 224087 w 298451"/>
                <a:gd name="connsiteY71" fmla="*/ 233144 h 298451"/>
                <a:gd name="connsiteX72" fmla="*/ 227141 w 298451"/>
                <a:gd name="connsiteY72" fmla="*/ 230089 h 298451"/>
                <a:gd name="connsiteX73" fmla="*/ 233010 w 298451"/>
                <a:gd name="connsiteY73" fmla="*/ 230089 h 29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98451" h="298451">
                  <a:moveTo>
                    <a:pt x="183584" y="291510"/>
                  </a:moveTo>
                  <a:lnTo>
                    <a:pt x="42906" y="291510"/>
                  </a:lnTo>
                  <a:cubicBezTo>
                    <a:pt x="31528" y="291510"/>
                    <a:pt x="20613" y="287124"/>
                    <a:pt x="12567" y="279313"/>
                  </a:cubicBezTo>
                  <a:cubicBezTo>
                    <a:pt x="4520" y="271504"/>
                    <a:pt x="0" y="260911"/>
                    <a:pt x="0" y="249866"/>
                  </a:cubicBezTo>
                  <a:lnTo>
                    <a:pt x="0" y="41644"/>
                  </a:lnTo>
                  <a:cubicBezTo>
                    <a:pt x="0" y="18645"/>
                    <a:pt x="19210" y="0"/>
                    <a:pt x="42906" y="0"/>
                  </a:cubicBezTo>
                  <a:lnTo>
                    <a:pt x="193079" y="0"/>
                  </a:lnTo>
                  <a:cubicBezTo>
                    <a:pt x="204459" y="0"/>
                    <a:pt x="215372" y="4387"/>
                    <a:pt x="223417" y="12198"/>
                  </a:cubicBezTo>
                  <a:cubicBezTo>
                    <a:pt x="231465" y="20007"/>
                    <a:pt x="235985" y="30600"/>
                    <a:pt x="235985" y="41644"/>
                  </a:cubicBezTo>
                  <a:lnTo>
                    <a:pt x="235985" y="159636"/>
                  </a:lnTo>
                  <a:cubicBezTo>
                    <a:pt x="212276" y="159636"/>
                    <a:pt x="191091" y="170444"/>
                    <a:pt x="177088" y="187400"/>
                  </a:cubicBezTo>
                  <a:lnTo>
                    <a:pt x="53633" y="187400"/>
                  </a:lnTo>
                  <a:cubicBezTo>
                    <a:pt x="47708" y="187400"/>
                    <a:pt x="42906" y="192061"/>
                    <a:pt x="42906" y="197811"/>
                  </a:cubicBezTo>
                  <a:cubicBezTo>
                    <a:pt x="42906" y="203560"/>
                    <a:pt x="47708" y="208223"/>
                    <a:pt x="53633" y="208223"/>
                  </a:cubicBezTo>
                  <a:lnTo>
                    <a:pt x="164841" y="208223"/>
                  </a:lnTo>
                  <a:cubicBezTo>
                    <a:pt x="161481" y="216827"/>
                    <a:pt x="159636" y="226190"/>
                    <a:pt x="159636" y="235985"/>
                  </a:cubicBezTo>
                  <a:cubicBezTo>
                    <a:pt x="159636" y="257863"/>
                    <a:pt x="168838" y="277591"/>
                    <a:pt x="183584" y="291510"/>
                  </a:cubicBezTo>
                  <a:moveTo>
                    <a:pt x="182351" y="62466"/>
                  </a:moveTo>
                  <a:lnTo>
                    <a:pt x="117992" y="62466"/>
                  </a:lnTo>
                  <a:cubicBezTo>
                    <a:pt x="112069" y="62466"/>
                    <a:pt x="107265" y="67127"/>
                    <a:pt x="107265" y="72878"/>
                  </a:cubicBezTo>
                  <a:cubicBezTo>
                    <a:pt x="107265" y="78627"/>
                    <a:pt x="112069" y="83289"/>
                    <a:pt x="117992" y="83289"/>
                  </a:cubicBezTo>
                  <a:lnTo>
                    <a:pt x="182351" y="83289"/>
                  </a:lnTo>
                  <a:cubicBezTo>
                    <a:pt x="188276" y="83289"/>
                    <a:pt x="193079" y="78627"/>
                    <a:pt x="193079" y="72878"/>
                  </a:cubicBezTo>
                  <a:cubicBezTo>
                    <a:pt x="193079" y="67127"/>
                    <a:pt x="188276" y="62466"/>
                    <a:pt x="182351" y="62466"/>
                  </a:cubicBezTo>
                  <a:moveTo>
                    <a:pt x="182351" y="104111"/>
                  </a:moveTo>
                  <a:lnTo>
                    <a:pt x="53633" y="104111"/>
                  </a:lnTo>
                  <a:cubicBezTo>
                    <a:pt x="47708" y="104111"/>
                    <a:pt x="42906" y="108773"/>
                    <a:pt x="42906" y="114522"/>
                  </a:cubicBezTo>
                  <a:cubicBezTo>
                    <a:pt x="42906" y="120272"/>
                    <a:pt x="47708" y="124933"/>
                    <a:pt x="53633" y="124933"/>
                  </a:cubicBezTo>
                  <a:lnTo>
                    <a:pt x="182351" y="124933"/>
                  </a:lnTo>
                  <a:cubicBezTo>
                    <a:pt x="188276" y="124933"/>
                    <a:pt x="193079" y="120272"/>
                    <a:pt x="193079" y="114522"/>
                  </a:cubicBezTo>
                  <a:cubicBezTo>
                    <a:pt x="193079" y="108773"/>
                    <a:pt x="188276" y="104111"/>
                    <a:pt x="182351" y="104111"/>
                  </a:cubicBezTo>
                  <a:moveTo>
                    <a:pt x="182351" y="145756"/>
                  </a:moveTo>
                  <a:lnTo>
                    <a:pt x="53633" y="145756"/>
                  </a:lnTo>
                  <a:cubicBezTo>
                    <a:pt x="47708" y="145756"/>
                    <a:pt x="42906" y="150417"/>
                    <a:pt x="42906" y="156166"/>
                  </a:cubicBezTo>
                  <a:cubicBezTo>
                    <a:pt x="42906" y="161917"/>
                    <a:pt x="47708" y="166578"/>
                    <a:pt x="53633" y="166578"/>
                  </a:cubicBezTo>
                  <a:lnTo>
                    <a:pt x="182351" y="166578"/>
                  </a:lnTo>
                  <a:cubicBezTo>
                    <a:pt x="188276" y="166578"/>
                    <a:pt x="193079" y="161917"/>
                    <a:pt x="193079" y="156166"/>
                  </a:cubicBezTo>
                  <a:cubicBezTo>
                    <a:pt x="193079" y="150417"/>
                    <a:pt x="188276" y="145756"/>
                    <a:pt x="182351" y="145756"/>
                  </a:cubicBezTo>
                  <a:moveTo>
                    <a:pt x="235985" y="298451"/>
                  </a:moveTo>
                  <a:cubicBezTo>
                    <a:pt x="201485" y="298451"/>
                    <a:pt x="173518" y="270484"/>
                    <a:pt x="173518" y="235985"/>
                  </a:cubicBezTo>
                  <a:cubicBezTo>
                    <a:pt x="173518" y="201485"/>
                    <a:pt x="201485" y="173518"/>
                    <a:pt x="235985" y="173518"/>
                  </a:cubicBezTo>
                  <a:cubicBezTo>
                    <a:pt x="270484" y="173518"/>
                    <a:pt x="298451" y="201485"/>
                    <a:pt x="298451" y="235985"/>
                  </a:cubicBezTo>
                  <a:cubicBezTo>
                    <a:pt x="298451" y="270484"/>
                    <a:pt x="270484" y="298451"/>
                    <a:pt x="235985" y="298451"/>
                  </a:cubicBezTo>
                  <a:moveTo>
                    <a:pt x="221271" y="208222"/>
                  </a:moveTo>
                  <a:cubicBezTo>
                    <a:pt x="217897" y="208222"/>
                    <a:pt x="215162" y="210957"/>
                    <a:pt x="215162" y="214331"/>
                  </a:cubicBezTo>
                  <a:lnTo>
                    <a:pt x="215162" y="264411"/>
                  </a:lnTo>
                  <a:cubicBezTo>
                    <a:pt x="215162" y="265533"/>
                    <a:pt x="215471" y="266633"/>
                    <a:pt x="216056" y="267592"/>
                  </a:cubicBezTo>
                  <a:cubicBezTo>
                    <a:pt x="217813" y="270472"/>
                    <a:pt x="221572" y="271383"/>
                    <a:pt x="224453" y="269626"/>
                  </a:cubicBezTo>
                  <a:lnTo>
                    <a:pt x="235985" y="262594"/>
                  </a:lnTo>
                  <a:lnTo>
                    <a:pt x="247516" y="269626"/>
                  </a:lnTo>
                  <a:cubicBezTo>
                    <a:pt x="248474" y="270211"/>
                    <a:pt x="249575" y="270520"/>
                    <a:pt x="250698" y="270520"/>
                  </a:cubicBezTo>
                  <a:cubicBezTo>
                    <a:pt x="254072" y="270520"/>
                    <a:pt x="256807" y="267785"/>
                    <a:pt x="256807" y="264411"/>
                  </a:cubicBezTo>
                  <a:lnTo>
                    <a:pt x="256807" y="214331"/>
                  </a:lnTo>
                  <a:cubicBezTo>
                    <a:pt x="256807" y="210957"/>
                    <a:pt x="254072" y="208222"/>
                    <a:pt x="250698" y="208222"/>
                  </a:cubicBezTo>
                  <a:lnTo>
                    <a:pt x="221271" y="208222"/>
                  </a:lnTo>
                  <a:moveTo>
                    <a:pt x="233010" y="230089"/>
                  </a:moveTo>
                  <a:lnTo>
                    <a:pt x="233010" y="223693"/>
                  </a:lnTo>
                  <a:cubicBezTo>
                    <a:pt x="233010" y="222050"/>
                    <a:pt x="234342" y="220717"/>
                    <a:pt x="235985" y="220717"/>
                  </a:cubicBezTo>
                  <a:cubicBezTo>
                    <a:pt x="237628" y="220717"/>
                    <a:pt x="238959" y="222050"/>
                    <a:pt x="238959" y="223693"/>
                  </a:cubicBezTo>
                  <a:lnTo>
                    <a:pt x="238959" y="230089"/>
                  </a:lnTo>
                  <a:lnTo>
                    <a:pt x="244829" y="230089"/>
                  </a:lnTo>
                  <a:cubicBezTo>
                    <a:pt x="246516" y="230089"/>
                    <a:pt x="247883" y="231457"/>
                    <a:pt x="247883" y="233144"/>
                  </a:cubicBezTo>
                  <a:lnTo>
                    <a:pt x="247883" y="233283"/>
                  </a:lnTo>
                  <a:cubicBezTo>
                    <a:pt x="247883" y="234970"/>
                    <a:pt x="246516" y="236337"/>
                    <a:pt x="244829" y="236337"/>
                  </a:cubicBezTo>
                  <a:lnTo>
                    <a:pt x="238959" y="236337"/>
                  </a:lnTo>
                  <a:lnTo>
                    <a:pt x="238959" y="242735"/>
                  </a:lnTo>
                  <a:cubicBezTo>
                    <a:pt x="238959" y="244378"/>
                    <a:pt x="237628" y="245709"/>
                    <a:pt x="235985" y="245709"/>
                  </a:cubicBezTo>
                  <a:cubicBezTo>
                    <a:pt x="234342" y="245709"/>
                    <a:pt x="233010" y="244378"/>
                    <a:pt x="233010" y="242735"/>
                  </a:cubicBezTo>
                  <a:lnTo>
                    <a:pt x="233010" y="236337"/>
                  </a:lnTo>
                  <a:lnTo>
                    <a:pt x="227141" y="236337"/>
                  </a:lnTo>
                  <a:cubicBezTo>
                    <a:pt x="225454" y="236337"/>
                    <a:pt x="224087" y="234970"/>
                    <a:pt x="224087" y="233283"/>
                  </a:cubicBezTo>
                  <a:lnTo>
                    <a:pt x="224087" y="233144"/>
                  </a:lnTo>
                  <a:cubicBezTo>
                    <a:pt x="224087" y="231457"/>
                    <a:pt x="225454" y="230089"/>
                    <a:pt x="227141" y="230089"/>
                  </a:cubicBezTo>
                  <a:lnTo>
                    <a:pt x="233010" y="230089"/>
                  </a:lnTo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1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1035" y="922020"/>
            <a:ext cx="3926205" cy="32385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355" y="3726180"/>
            <a:ext cx="2896870" cy="2806065"/>
          </a:xfrm>
          <a:prstGeom prst="rect">
            <a:avLst/>
          </a:prstGeom>
        </p:spPr>
      </p:pic>
      <p:pic>
        <p:nvPicPr>
          <p:cNvPr id="15" name="图片 14" descr="32351e6029b02c8cc72cce6e711a914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675" y="2983230"/>
            <a:ext cx="2460625" cy="16363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-2" y="3487777"/>
            <a:ext cx="2703742" cy="921872"/>
            <a:chOff x="-2" y="1537960"/>
            <a:chExt cx="2703742" cy="921872"/>
          </a:xfrm>
        </p:grpSpPr>
        <p:sp>
          <p:nvSpPr>
            <p:cNvPr id="10" name="矩形 9"/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68489" y="2671457"/>
            <a:ext cx="183525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24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8489" y="3664438"/>
            <a:ext cx="183525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4941" y="1671102"/>
            <a:ext cx="1828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24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图形 15"/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tx1"/>
          </a:solidFill>
        </p:grpSpPr>
        <p:sp>
          <p:nvSpPr>
            <p:cNvPr id="21" name="任意形状 20"/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/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/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/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/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930650" y="212725"/>
            <a:ext cx="78905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实习经历：东软集团｜医疗健康事业部</a:t>
            </a:r>
            <a:endParaRPr kumimoji="1" lang="zh-CN" altLang="en-US" sz="2400" b="1" dirty="0"/>
          </a:p>
        </p:txBody>
      </p:sp>
      <p:cxnSp>
        <p:nvCxnSpPr>
          <p:cNvPr id="31" name="直线连接符 30"/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/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/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/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/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3" name="矩形 52"/>
          <p:cNvSpPr/>
          <p:nvPr/>
        </p:nvSpPr>
        <p:spPr>
          <a:xfrm>
            <a:off x="2961950" y="1166463"/>
            <a:ext cx="8744278" cy="2497487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: 圆角 17"/>
          <p:cNvSpPr/>
          <p:nvPr/>
        </p:nvSpPr>
        <p:spPr>
          <a:xfrm>
            <a:off x="6954133" y="1353688"/>
            <a:ext cx="1276350" cy="29845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</a:rPr>
              <a:t>工作内容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640707" y="1901934"/>
            <a:ext cx="498436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+mn-ea"/>
              </a:rPr>
              <a:t>围绕医疗场景协作 </a:t>
            </a:r>
            <a:r>
              <a:rPr lang="en-US" altLang="zh-CN" sz="2000" dirty="0">
                <a:latin typeface="+mn-ea"/>
              </a:rPr>
              <a:t>HIS </a:t>
            </a:r>
            <a:r>
              <a:rPr lang="zh-CN" altLang="en-US" sz="2000" dirty="0">
                <a:latin typeface="+mn-ea"/>
              </a:rPr>
              <a:t>医院信息管理系统（</a:t>
            </a:r>
            <a:r>
              <a:rPr lang="zh-CN" altLang="en-US" sz="2000" b="1" dirty="0">
                <a:solidFill>
                  <a:schemeClr val="tx2"/>
                </a:solidFill>
                <a:latin typeface="+mn-ea"/>
              </a:rPr>
              <a:t>武汉黄家湖医院</a:t>
            </a:r>
            <a:r>
              <a:rPr lang="zh-CN" altLang="en-US" sz="2000" dirty="0">
                <a:latin typeface="+mn-ea"/>
              </a:rPr>
              <a:t>）</a:t>
            </a:r>
            <a:r>
              <a:rPr lang="en-US" altLang="zh-CN" sz="2000" dirty="0">
                <a:latin typeface="+mn-ea"/>
              </a:rPr>
              <a:t>web </a:t>
            </a:r>
            <a:r>
              <a:rPr lang="zh-CN" altLang="en-US" sz="2000" dirty="0">
                <a:latin typeface="+mn-ea"/>
              </a:rPr>
              <a:t>端和小程序端迭代开发。</a:t>
            </a:r>
            <a:endParaRPr lang="zh-CN" altLang="en-US" sz="2000" dirty="0">
              <a:latin typeface="+mn-ea"/>
            </a:endParaRPr>
          </a:p>
        </p:txBody>
      </p:sp>
      <p:sp>
        <p:nvSpPr>
          <p:cNvPr id="77" name="图形 19" descr="订阅内容"/>
          <p:cNvSpPr/>
          <p:nvPr/>
        </p:nvSpPr>
        <p:spPr>
          <a:xfrm>
            <a:off x="6595357" y="1353688"/>
            <a:ext cx="298451" cy="298451"/>
          </a:xfrm>
          <a:custGeom>
            <a:avLst/>
            <a:gdLst>
              <a:gd name="connsiteX0" fmla="*/ 183584 w 298451"/>
              <a:gd name="connsiteY0" fmla="*/ 291510 h 298451"/>
              <a:gd name="connsiteX1" fmla="*/ 42906 w 298451"/>
              <a:gd name="connsiteY1" fmla="*/ 291510 h 298451"/>
              <a:gd name="connsiteX2" fmla="*/ 12567 w 298451"/>
              <a:gd name="connsiteY2" fmla="*/ 279313 h 298451"/>
              <a:gd name="connsiteX3" fmla="*/ 0 w 298451"/>
              <a:gd name="connsiteY3" fmla="*/ 249866 h 298451"/>
              <a:gd name="connsiteX4" fmla="*/ 0 w 298451"/>
              <a:gd name="connsiteY4" fmla="*/ 41644 h 298451"/>
              <a:gd name="connsiteX5" fmla="*/ 42906 w 298451"/>
              <a:gd name="connsiteY5" fmla="*/ 0 h 298451"/>
              <a:gd name="connsiteX6" fmla="*/ 193079 w 298451"/>
              <a:gd name="connsiteY6" fmla="*/ 0 h 298451"/>
              <a:gd name="connsiteX7" fmla="*/ 223417 w 298451"/>
              <a:gd name="connsiteY7" fmla="*/ 12198 h 298451"/>
              <a:gd name="connsiteX8" fmla="*/ 235985 w 298451"/>
              <a:gd name="connsiteY8" fmla="*/ 41644 h 298451"/>
              <a:gd name="connsiteX9" fmla="*/ 235985 w 298451"/>
              <a:gd name="connsiteY9" fmla="*/ 159636 h 298451"/>
              <a:gd name="connsiteX10" fmla="*/ 177088 w 298451"/>
              <a:gd name="connsiteY10" fmla="*/ 187400 h 298451"/>
              <a:gd name="connsiteX11" fmla="*/ 53633 w 298451"/>
              <a:gd name="connsiteY11" fmla="*/ 187400 h 298451"/>
              <a:gd name="connsiteX12" fmla="*/ 42906 w 298451"/>
              <a:gd name="connsiteY12" fmla="*/ 197811 h 298451"/>
              <a:gd name="connsiteX13" fmla="*/ 53633 w 298451"/>
              <a:gd name="connsiteY13" fmla="*/ 208223 h 298451"/>
              <a:gd name="connsiteX14" fmla="*/ 164841 w 298451"/>
              <a:gd name="connsiteY14" fmla="*/ 208223 h 298451"/>
              <a:gd name="connsiteX15" fmla="*/ 159636 w 298451"/>
              <a:gd name="connsiteY15" fmla="*/ 235985 h 298451"/>
              <a:gd name="connsiteX16" fmla="*/ 183584 w 298451"/>
              <a:gd name="connsiteY16" fmla="*/ 291510 h 298451"/>
              <a:gd name="connsiteX17" fmla="*/ 182351 w 298451"/>
              <a:gd name="connsiteY17" fmla="*/ 62466 h 298451"/>
              <a:gd name="connsiteX18" fmla="*/ 117992 w 298451"/>
              <a:gd name="connsiteY18" fmla="*/ 62466 h 298451"/>
              <a:gd name="connsiteX19" fmla="*/ 107265 w 298451"/>
              <a:gd name="connsiteY19" fmla="*/ 72878 h 298451"/>
              <a:gd name="connsiteX20" fmla="*/ 117992 w 298451"/>
              <a:gd name="connsiteY20" fmla="*/ 83289 h 298451"/>
              <a:gd name="connsiteX21" fmla="*/ 182351 w 298451"/>
              <a:gd name="connsiteY21" fmla="*/ 83289 h 298451"/>
              <a:gd name="connsiteX22" fmla="*/ 193079 w 298451"/>
              <a:gd name="connsiteY22" fmla="*/ 72878 h 298451"/>
              <a:gd name="connsiteX23" fmla="*/ 182351 w 298451"/>
              <a:gd name="connsiteY23" fmla="*/ 62466 h 298451"/>
              <a:gd name="connsiteX24" fmla="*/ 182351 w 298451"/>
              <a:gd name="connsiteY24" fmla="*/ 104111 h 298451"/>
              <a:gd name="connsiteX25" fmla="*/ 53633 w 298451"/>
              <a:gd name="connsiteY25" fmla="*/ 104111 h 298451"/>
              <a:gd name="connsiteX26" fmla="*/ 42906 w 298451"/>
              <a:gd name="connsiteY26" fmla="*/ 114522 h 298451"/>
              <a:gd name="connsiteX27" fmla="*/ 53633 w 298451"/>
              <a:gd name="connsiteY27" fmla="*/ 124933 h 298451"/>
              <a:gd name="connsiteX28" fmla="*/ 182351 w 298451"/>
              <a:gd name="connsiteY28" fmla="*/ 124933 h 298451"/>
              <a:gd name="connsiteX29" fmla="*/ 193079 w 298451"/>
              <a:gd name="connsiteY29" fmla="*/ 114522 h 298451"/>
              <a:gd name="connsiteX30" fmla="*/ 182351 w 298451"/>
              <a:gd name="connsiteY30" fmla="*/ 104111 h 298451"/>
              <a:gd name="connsiteX31" fmla="*/ 182351 w 298451"/>
              <a:gd name="connsiteY31" fmla="*/ 145756 h 298451"/>
              <a:gd name="connsiteX32" fmla="*/ 53633 w 298451"/>
              <a:gd name="connsiteY32" fmla="*/ 145756 h 298451"/>
              <a:gd name="connsiteX33" fmla="*/ 42906 w 298451"/>
              <a:gd name="connsiteY33" fmla="*/ 156166 h 298451"/>
              <a:gd name="connsiteX34" fmla="*/ 53633 w 298451"/>
              <a:gd name="connsiteY34" fmla="*/ 166578 h 298451"/>
              <a:gd name="connsiteX35" fmla="*/ 182351 w 298451"/>
              <a:gd name="connsiteY35" fmla="*/ 166578 h 298451"/>
              <a:gd name="connsiteX36" fmla="*/ 193079 w 298451"/>
              <a:gd name="connsiteY36" fmla="*/ 156166 h 298451"/>
              <a:gd name="connsiteX37" fmla="*/ 182351 w 298451"/>
              <a:gd name="connsiteY37" fmla="*/ 145756 h 298451"/>
              <a:gd name="connsiteX38" fmla="*/ 235985 w 298451"/>
              <a:gd name="connsiteY38" fmla="*/ 298451 h 298451"/>
              <a:gd name="connsiteX39" fmla="*/ 173518 w 298451"/>
              <a:gd name="connsiteY39" fmla="*/ 235985 h 298451"/>
              <a:gd name="connsiteX40" fmla="*/ 235985 w 298451"/>
              <a:gd name="connsiteY40" fmla="*/ 173518 h 298451"/>
              <a:gd name="connsiteX41" fmla="*/ 298451 w 298451"/>
              <a:gd name="connsiteY41" fmla="*/ 235985 h 298451"/>
              <a:gd name="connsiteX42" fmla="*/ 235985 w 298451"/>
              <a:gd name="connsiteY42" fmla="*/ 298451 h 298451"/>
              <a:gd name="connsiteX43" fmla="*/ 221271 w 298451"/>
              <a:gd name="connsiteY43" fmla="*/ 208222 h 298451"/>
              <a:gd name="connsiteX44" fmla="*/ 215162 w 298451"/>
              <a:gd name="connsiteY44" fmla="*/ 214331 h 298451"/>
              <a:gd name="connsiteX45" fmla="*/ 215162 w 298451"/>
              <a:gd name="connsiteY45" fmla="*/ 264411 h 298451"/>
              <a:gd name="connsiteX46" fmla="*/ 216056 w 298451"/>
              <a:gd name="connsiteY46" fmla="*/ 267592 h 298451"/>
              <a:gd name="connsiteX47" fmla="*/ 224453 w 298451"/>
              <a:gd name="connsiteY47" fmla="*/ 269626 h 298451"/>
              <a:gd name="connsiteX48" fmla="*/ 235985 w 298451"/>
              <a:gd name="connsiteY48" fmla="*/ 262594 h 298451"/>
              <a:gd name="connsiteX49" fmla="*/ 247516 w 298451"/>
              <a:gd name="connsiteY49" fmla="*/ 269626 h 298451"/>
              <a:gd name="connsiteX50" fmla="*/ 250698 w 298451"/>
              <a:gd name="connsiteY50" fmla="*/ 270520 h 298451"/>
              <a:gd name="connsiteX51" fmla="*/ 256807 w 298451"/>
              <a:gd name="connsiteY51" fmla="*/ 264411 h 298451"/>
              <a:gd name="connsiteX52" fmla="*/ 256807 w 298451"/>
              <a:gd name="connsiteY52" fmla="*/ 214331 h 298451"/>
              <a:gd name="connsiteX53" fmla="*/ 250698 w 298451"/>
              <a:gd name="connsiteY53" fmla="*/ 208222 h 298451"/>
              <a:gd name="connsiteX54" fmla="*/ 221271 w 298451"/>
              <a:gd name="connsiteY54" fmla="*/ 208222 h 298451"/>
              <a:gd name="connsiteX55" fmla="*/ 233010 w 298451"/>
              <a:gd name="connsiteY55" fmla="*/ 230089 h 298451"/>
              <a:gd name="connsiteX56" fmla="*/ 233010 w 298451"/>
              <a:gd name="connsiteY56" fmla="*/ 223693 h 298451"/>
              <a:gd name="connsiteX57" fmla="*/ 235985 w 298451"/>
              <a:gd name="connsiteY57" fmla="*/ 220717 h 298451"/>
              <a:gd name="connsiteX58" fmla="*/ 238959 w 298451"/>
              <a:gd name="connsiteY58" fmla="*/ 223693 h 298451"/>
              <a:gd name="connsiteX59" fmla="*/ 238959 w 298451"/>
              <a:gd name="connsiteY59" fmla="*/ 230089 h 298451"/>
              <a:gd name="connsiteX60" fmla="*/ 244829 w 298451"/>
              <a:gd name="connsiteY60" fmla="*/ 230089 h 298451"/>
              <a:gd name="connsiteX61" fmla="*/ 247883 w 298451"/>
              <a:gd name="connsiteY61" fmla="*/ 233144 h 298451"/>
              <a:gd name="connsiteX62" fmla="*/ 247883 w 298451"/>
              <a:gd name="connsiteY62" fmla="*/ 233283 h 298451"/>
              <a:gd name="connsiteX63" fmla="*/ 244829 w 298451"/>
              <a:gd name="connsiteY63" fmla="*/ 236337 h 298451"/>
              <a:gd name="connsiteX64" fmla="*/ 238959 w 298451"/>
              <a:gd name="connsiteY64" fmla="*/ 236337 h 298451"/>
              <a:gd name="connsiteX65" fmla="*/ 238959 w 298451"/>
              <a:gd name="connsiteY65" fmla="*/ 242735 h 298451"/>
              <a:gd name="connsiteX66" fmla="*/ 235985 w 298451"/>
              <a:gd name="connsiteY66" fmla="*/ 245709 h 298451"/>
              <a:gd name="connsiteX67" fmla="*/ 233010 w 298451"/>
              <a:gd name="connsiteY67" fmla="*/ 242735 h 298451"/>
              <a:gd name="connsiteX68" fmla="*/ 233010 w 298451"/>
              <a:gd name="connsiteY68" fmla="*/ 236337 h 298451"/>
              <a:gd name="connsiteX69" fmla="*/ 227141 w 298451"/>
              <a:gd name="connsiteY69" fmla="*/ 236337 h 298451"/>
              <a:gd name="connsiteX70" fmla="*/ 224087 w 298451"/>
              <a:gd name="connsiteY70" fmla="*/ 233283 h 298451"/>
              <a:gd name="connsiteX71" fmla="*/ 224087 w 298451"/>
              <a:gd name="connsiteY71" fmla="*/ 233144 h 298451"/>
              <a:gd name="connsiteX72" fmla="*/ 227141 w 298451"/>
              <a:gd name="connsiteY72" fmla="*/ 230089 h 298451"/>
              <a:gd name="connsiteX73" fmla="*/ 233010 w 298451"/>
              <a:gd name="connsiteY73" fmla="*/ 230089 h 29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298451" h="298451">
                <a:moveTo>
                  <a:pt x="183584" y="291510"/>
                </a:moveTo>
                <a:lnTo>
                  <a:pt x="42906" y="291510"/>
                </a:lnTo>
                <a:cubicBezTo>
                  <a:pt x="31528" y="291510"/>
                  <a:pt x="20613" y="287124"/>
                  <a:pt x="12567" y="279313"/>
                </a:cubicBezTo>
                <a:cubicBezTo>
                  <a:pt x="4520" y="271504"/>
                  <a:pt x="0" y="260911"/>
                  <a:pt x="0" y="249866"/>
                </a:cubicBezTo>
                <a:lnTo>
                  <a:pt x="0" y="41644"/>
                </a:lnTo>
                <a:cubicBezTo>
                  <a:pt x="0" y="18645"/>
                  <a:pt x="19210" y="0"/>
                  <a:pt x="42906" y="0"/>
                </a:cubicBezTo>
                <a:lnTo>
                  <a:pt x="193079" y="0"/>
                </a:lnTo>
                <a:cubicBezTo>
                  <a:pt x="204459" y="0"/>
                  <a:pt x="215372" y="4387"/>
                  <a:pt x="223417" y="12198"/>
                </a:cubicBezTo>
                <a:cubicBezTo>
                  <a:pt x="231465" y="20007"/>
                  <a:pt x="235985" y="30600"/>
                  <a:pt x="235985" y="41644"/>
                </a:cubicBezTo>
                <a:lnTo>
                  <a:pt x="235985" y="159636"/>
                </a:lnTo>
                <a:cubicBezTo>
                  <a:pt x="212276" y="159636"/>
                  <a:pt x="191091" y="170444"/>
                  <a:pt x="177088" y="187400"/>
                </a:cubicBezTo>
                <a:lnTo>
                  <a:pt x="53633" y="187400"/>
                </a:lnTo>
                <a:cubicBezTo>
                  <a:pt x="47708" y="187400"/>
                  <a:pt x="42906" y="192061"/>
                  <a:pt x="42906" y="197811"/>
                </a:cubicBezTo>
                <a:cubicBezTo>
                  <a:pt x="42906" y="203560"/>
                  <a:pt x="47708" y="208223"/>
                  <a:pt x="53633" y="208223"/>
                </a:cubicBezTo>
                <a:lnTo>
                  <a:pt x="164841" y="208223"/>
                </a:lnTo>
                <a:cubicBezTo>
                  <a:pt x="161481" y="216827"/>
                  <a:pt x="159636" y="226190"/>
                  <a:pt x="159636" y="235985"/>
                </a:cubicBezTo>
                <a:cubicBezTo>
                  <a:pt x="159636" y="257863"/>
                  <a:pt x="168838" y="277591"/>
                  <a:pt x="183584" y="291510"/>
                </a:cubicBezTo>
                <a:moveTo>
                  <a:pt x="182351" y="62466"/>
                </a:moveTo>
                <a:lnTo>
                  <a:pt x="117992" y="62466"/>
                </a:lnTo>
                <a:cubicBezTo>
                  <a:pt x="112069" y="62466"/>
                  <a:pt x="107265" y="67127"/>
                  <a:pt x="107265" y="72878"/>
                </a:cubicBezTo>
                <a:cubicBezTo>
                  <a:pt x="107265" y="78627"/>
                  <a:pt x="112069" y="83289"/>
                  <a:pt x="117992" y="83289"/>
                </a:cubicBezTo>
                <a:lnTo>
                  <a:pt x="182351" y="83289"/>
                </a:lnTo>
                <a:cubicBezTo>
                  <a:pt x="188276" y="83289"/>
                  <a:pt x="193079" y="78627"/>
                  <a:pt x="193079" y="72878"/>
                </a:cubicBezTo>
                <a:cubicBezTo>
                  <a:pt x="193079" y="67127"/>
                  <a:pt x="188276" y="62466"/>
                  <a:pt x="182351" y="62466"/>
                </a:cubicBezTo>
                <a:moveTo>
                  <a:pt x="182351" y="104111"/>
                </a:moveTo>
                <a:lnTo>
                  <a:pt x="53633" y="104111"/>
                </a:lnTo>
                <a:cubicBezTo>
                  <a:pt x="47708" y="104111"/>
                  <a:pt x="42906" y="108773"/>
                  <a:pt x="42906" y="114522"/>
                </a:cubicBezTo>
                <a:cubicBezTo>
                  <a:pt x="42906" y="120272"/>
                  <a:pt x="47708" y="124933"/>
                  <a:pt x="53633" y="124933"/>
                </a:cubicBezTo>
                <a:lnTo>
                  <a:pt x="182351" y="124933"/>
                </a:lnTo>
                <a:cubicBezTo>
                  <a:pt x="188276" y="124933"/>
                  <a:pt x="193079" y="120272"/>
                  <a:pt x="193079" y="114522"/>
                </a:cubicBezTo>
                <a:cubicBezTo>
                  <a:pt x="193079" y="108773"/>
                  <a:pt x="188276" y="104111"/>
                  <a:pt x="182351" y="104111"/>
                </a:cubicBezTo>
                <a:moveTo>
                  <a:pt x="182351" y="145756"/>
                </a:moveTo>
                <a:lnTo>
                  <a:pt x="53633" y="145756"/>
                </a:lnTo>
                <a:cubicBezTo>
                  <a:pt x="47708" y="145756"/>
                  <a:pt x="42906" y="150417"/>
                  <a:pt x="42906" y="156166"/>
                </a:cubicBezTo>
                <a:cubicBezTo>
                  <a:pt x="42906" y="161917"/>
                  <a:pt x="47708" y="166578"/>
                  <a:pt x="53633" y="166578"/>
                </a:cubicBezTo>
                <a:lnTo>
                  <a:pt x="182351" y="166578"/>
                </a:lnTo>
                <a:cubicBezTo>
                  <a:pt x="188276" y="166578"/>
                  <a:pt x="193079" y="161917"/>
                  <a:pt x="193079" y="156166"/>
                </a:cubicBezTo>
                <a:cubicBezTo>
                  <a:pt x="193079" y="150417"/>
                  <a:pt x="188276" y="145756"/>
                  <a:pt x="182351" y="145756"/>
                </a:cubicBezTo>
                <a:moveTo>
                  <a:pt x="235985" y="298451"/>
                </a:moveTo>
                <a:cubicBezTo>
                  <a:pt x="201485" y="298451"/>
                  <a:pt x="173518" y="270484"/>
                  <a:pt x="173518" y="235985"/>
                </a:cubicBezTo>
                <a:cubicBezTo>
                  <a:pt x="173518" y="201485"/>
                  <a:pt x="201485" y="173518"/>
                  <a:pt x="235985" y="173518"/>
                </a:cubicBezTo>
                <a:cubicBezTo>
                  <a:pt x="270484" y="173518"/>
                  <a:pt x="298451" y="201485"/>
                  <a:pt x="298451" y="235985"/>
                </a:cubicBezTo>
                <a:cubicBezTo>
                  <a:pt x="298451" y="270484"/>
                  <a:pt x="270484" y="298451"/>
                  <a:pt x="235985" y="298451"/>
                </a:cubicBezTo>
                <a:moveTo>
                  <a:pt x="221271" y="208222"/>
                </a:moveTo>
                <a:cubicBezTo>
                  <a:pt x="217897" y="208222"/>
                  <a:pt x="215162" y="210957"/>
                  <a:pt x="215162" y="214331"/>
                </a:cubicBezTo>
                <a:lnTo>
                  <a:pt x="215162" y="264411"/>
                </a:lnTo>
                <a:cubicBezTo>
                  <a:pt x="215162" y="265533"/>
                  <a:pt x="215471" y="266633"/>
                  <a:pt x="216056" y="267592"/>
                </a:cubicBezTo>
                <a:cubicBezTo>
                  <a:pt x="217813" y="270472"/>
                  <a:pt x="221572" y="271383"/>
                  <a:pt x="224453" y="269626"/>
                </a:cubicBezTo>
                <a:lnTo>
                  <a:pt x="235985" y="262594"/>
                </a:lnTo>
                <a:lnTo>
                  <a:pt x="247516" y="269626"/>
                </a:lnTo>
                <a:cubicBezTo>
                  <a:pt x="248474" y="270211"/>
                  <a:pt x="249575" y="270520"/>
                  <a:pt x="250698" y="270520"/>
                </a:cubicBezTo>
                <a:cubicBezTo>
                  <a:pt x="254072" y="270520"/>
                  <a:pt x="256807" y="267785"/>
                  <a:pt x="256807" y="264411"/>
                </a:cubicBezTo>
                <a:lnTo>
                  <a:pt x="256807" y="214331"/>
                </a:lnTo>
                <a:cubicBezTo>
                  <a:pt x="256807" y="210957"/>
                  <a:pt x="254072" y="208222"/>
                  <a:pt x="250698" y="208222"/>
                </a:cubicBezTo>
                <a:lnTo>
                  <a:pt x="221271" y="208222"/>
                </a:lnTo>
                <a:moveTo>
                  <a:pt x="233010" y="230089"/>
                </a:moveTo>
                <a:lnTo>
                  <a:pt x="233010" y="223693"/>
                </a:lnTo>
                <a:cubicBezTo>
                  <a:pt x="233010" y="222050"/>
                  <a:pt x="234342" y="220717"/>
                  <a:pt x="235985" y="220717"/>
                </a:cubicBezTo>
                <a:cubicBezTo>
                  <a:pt x="237628" y="220717"/>
                  <a:pt x="238959" y="222050"/>
                  <a:pt x="238959" y="223693"/>
                </a:cubicBezTo>
                <a:lnTo>
                  <a:pt x="238959" y="230089"/>
                </a:lnTo>
                <a:lnTo>
                  <a:pt x="244829" y="230089"/>
                </a:lnTo>
                <a:cubicBezTo>
                  <a:pt x="246516" y="230089"/>
                  <a:pt x="247883" y="231457"/>
                  <a:pt x="247883" y="233144"/>
                </a:cubicBezTo>
                <a:lnTo>
                  <a:pt x="247883" y="233283"/>
                </a:lnTo>
                <a:cubicBezTo>
                  <a:pt x="247883" y="234970"/>
                  <a:pt x="246516" y="236337"/>
                  <a:pt x="244829" y="236337"/>
                </a:cubicBezTo>
                <a:lnTo>
                  <a:pt x="238959" y="236337"/>
                </a:lnTo>
                <a:lnTo>
                  <a:pt x="238959" y="242735"/>
                </a:lnTo>
                <a:cubicBezTo>
                  <a:pt x="238959" y="244378"/>
                  <a:pt x="237628" y="245709"/>
                  <a:pt x="235985" y="245709"/>
                </a:cubicBezTo>
                <a:cubicBezTo>
                  <a:pt x="234342" y="245709"/>
                  <a:pt x="233010" y="244378"/>
                  <a:pt x="233010" y="242735"/>
                </a:cubicBezTo>
                <a:lnTo>
                  <a:pt x="233010" y="236337"/>
                </a:lnTo>
                <a:lnTo>
                  <a:pt x="227141" y="236337"/>
                </a:lnTo>
                <a:cubicBezTo>
                  <a:pt x="225454" y="236337"/>
                  <a:pt x="224087" y="234970"/>
                  <a:pt x="224087" y="233283"/>
                </a:cubicBezTo>
                <a:lnTo>
                  <a:pt x="224087" y="233144"/>
                </a:lnTo>
                <a:cubicBezTo>
                  <a:pt x="224087" y="231457"/>
                  <a:pt x="225454" y="230089"/>
                  <a:pt x="227141" y="230089"/>
                </a:cubicBezTo>
                <a:lnTo>
                  <a:pt x="233010" y="230089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1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4" name="文本框 133"/>
          <p:cNvSpPr txBox="1"/>
          <p:nvPr/>
        </p:nvSpPr>
        <p:spPr>
          <a:xfrm>
            <a:off x="3658870" y="3233420"/>
            <a:ext cx="26123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accent1"/>
                </a:solidFill>
              </a:rPr>
              <a:t>Web 端 + 小程序端</a:t>
            </a:r>
            <a:endParaRPr kumimoji="1"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2961950" y="3913745"/>
            <a:ext cx="8744278" cy="2497487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: 圆角 17"/>
          <p:cNvSpPr/>
          <p:nvPr/>
        </p:nvSpPr>
        <p:spPr>
          <a:xfrm>
            <a:off x="3559546" y="4124536"/>
            <a:ext cx="1276350" cy="29845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</a:rPr>
              <a:t>个人产出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3246120" y="4672965"/>
            <a:ext cx="44786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+mn-ea"/>
              </a:rPr>
              <a:t>实现人脸识别登录、</a:t>
            </a:r>
            <a:r>
              <a:rPr lang="en-US" altLang="zh-CN" sz="2000" dirty="0">
                <a:latin typeface="+mn-ea"/>
              </a:rPr>
              <a:t>AI </a:t>
            </a:r>
            <a:r>
              <a:rPr lang="zh-CN" altLang="en-US" sz="2000" dirty="0">
                <a:latin typeface="+mn-ea"/>
              </a:rPr>
              <a:t>智能客服等功能，完成图像采集处理与 </a:t>
            </a:r>
            <a:r>
              <a:rPr lang="en-US" altLang="zh-CN" sz="2000" dirty="0">
                <a:latin typeface="+mn-ea"/>
              </a:rPr>
              <a:t>AI </a:t>
            </a:r>
            <a:r>
              <a:rPr lang="zh-CN" altLang="en-US" sz="2000" dirty="0">
                <a:latin typeface="+mn-ea"/>
              </a:rPr>
              <a:t>接口联调，提升系统可靠性与扩展性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39" name="图形 19" descr="订阅内容"/>
          <p:cNvSpPr/>
          <p:nvPr/>
        </p:nvSpPr>
        <p:spPr>
          <a:xfrm>
            <a:off x="3200770" y="4124536"/>
            <a:ext cx="298451" cy="298451"/>
          </a:xfrm>
          <a:custGeom>
            <a:avLst/>
            <a:gdLst>
              <a:gd name="connsiteX0" fmla="*/ 183584 w 298451"/>
              <a:gd name="connsiteY0" fmla="*/ 291510 h 298451"/>
              <a:gd name="connsiteX1" fmla="*/ 42906 w 298451"/>
              <a:gd name="connsiteY1" fmla="*/ 291510 h 298451"/>
              <a:gd name="connsiteX2" fmla="*/ 12567 w 298451"/>
              <a:gd name="connsiteY2" fmla="*/ 279313 h 298451"/>
              <a:gd name="connsiteX3" fmla="*/ 0 w 298451"/>
              <a:gd name="connsiteY3" fmla="*/ 249866 h 298451"/>
              <a:gd name="connsiteX4" fmla="*/ 0 w 298451"/>
              <a:gd name="connsiteY4" fmla="*/ 41644 h 298451"/>
              <a:gd name="connsiteX5" fmla="*/ 42906 w 298451"/>
              <a:gd name="connsiteY5" fmla="*/ 0 h 298451"/>
              <a:gd name="connsiteX6" fmla="*/ 193079 w 298451"/>
              <a:gd name="connsiteY6" fmla="*/ 0 h 298451"/>
              <a:gd name="connsiteX7" fmla="*/ 223417 w 298451"/>
              <a:gd name="connsiteY7" fmla="*/ 12198 h 298451"/>
              <a:gd name="connsiteX8" fmla="*/ 235985 w 298451"/>
              <a:gd name="connsiteY8" fmla="*/ 41644 h 298451"/>
              <a:gd name="connsiteX9" fmla="*/ 235985 w 298451"/>
              <a:gd name="connsiteY9" fmla="*/ 159636 h 298451"/>
              <a:gd name="connsiteX10" fmla="*/ 177088 w 298451"/>
              <a:gd name="connsiteY10" fmla="*/ 187400 h 298451"/>
              <a:gd name="connsiteX11" fmla="*/ 53633 w 298451"/>
              <a:gd name="connsiteY11" fmla="*/ 187400 h 298451"/>
              <a:gd name="connsiteX12" fmla="*/ 42906 w 298451"/>
              <a:gd name="connsiteY12" fmla="*/ 197811 h 298451"/>
              <a:gd name="connsiteX13" fmla="*/ 53633 w 298451"/>
              <a:gd name="connsiteY13" fmla="*/ 208223 h 298451"/>
              <a:gd name="connsiteX14" fmla="*/ 164841 w 298451"/>
              <a:gd name="connsiteY14" fmla="*/ 208223 h 298451"/>
              <a:gd name="connsiteX15" fmla="*/ 159636 w 298451"/>
              <a:gd name="connsiteY15" fmla="*/ 235985 h 298451"/>
              <a:gd name="connsiteX16" fmla="*/ 183584 w 298451"/>
              <a:gd name="connsiteY16" fmla="*/ 291510 h 298451"/>
              <a:gd name="connsiteX17" fmla="*/ 182351 w 298451"/>
              <a:gd name="connsiteY17" fmla="*/ 62466 h 298451"/>
              <a:gd name="connsiteX18" fmla="*/ 117992 w 298451"/>
              <a:gd name="connsiteY18" fmla="*/ 62466 h 298451"/>
              <a:gd name="connsiteX19" fmla="*/ 107265 w 298451"/>
              <a:gd name="connsiteY19" fmla="*/ 72878 h 298451"/>
              <a:gd name="connsiteX20" fmla="*/ 117992 w 298451"/>
              <a:gd name="connsiteY20" fmla="*/ 83289 h 298451"/>
              <a:gd name="connsiteX21" fmla="*/ 182351 w 298451"/>
              <a:gd name="connsiteY21" fmla="*/ 83289 h 298451"/>
              <a:gd name="connsiteX22" fmla="*/ 193079 w 298451"/>
              <a:gd name="connsiteY22" fmla="*/ 72878 h 298451"/>
              <a:gd name="connsiteX23" fmla="*/ 182351 w 298451"/>
              <a:gd name="connsiteY23" fmla="*/ 62466 h 298451"/>
              <a:gd name="connsiteX24" fmla="*/ 182351 w 298451"/>
              <a:gd name="connsiteY24" fmla="*/ 104111 h 298451"/>
              <a:gd name="connsiteX25" fmla="*/ 53633 w 298451"/>
              <a:gd name="connsiteY25" fmla="*/ 104111 h 298451"/>
              <a:gd name="connsiteX26" fmla="*/ 42906 w 298451"/>
              <a:gd name="connsiteY26" fmla="*/ 114522 h 298451"/>
              <a:gd name="connsiteX27" fmla="*/ 53633 w 298451"/>
              <a:gd name="connsiteY27" fmla="*/ 124933 h 298451"/>
              <a:gd name="connsiteX28" fmla="*/ 182351 w 298451"/>
              <a:gd name="connsiteY28" fmla="*/ 124933 h 298451"/>
              <a:gd name="connsiteX29" fmla="*/ 193079 w 298451"/>
              <a:gd name="connsiteY29" fmla="*/ 114522 h 298451"/>
              <a:gd name="connsiteX30" fmla="*/ 182351 w 298451"/>
              <a:gd name="connsiteY30" fmla="*/ 104111 h 298451"/>
              <a:gd name="connsiteX31" fmla="*/ 182351 w 298451"/>
              <a:gd name="connsiteY31" fmla="*/ 145756 h 298451"/>
              <a:gd name="connsiteX32" fmla="*/ 53633 w 298451"/>
              <a:gd name="connsiteY32" fmla="*/ 145756 h 298451"/>
              <a:gd name="connsiteX33" fmla="*/ 42906 w 298451"/>
              <a:gd name="connsiteY33" fmla="*/ 156166 h 298451"/>
              <a:gd name="connsiteX34" fmla="*/ 53633 w 298451"/>
              <a:gd name="connsiteY34" fmla="*/ 166578 h 298451"/>
              <a:gd name="connsiteX35" fmla="*/ 182351 w 298451"/>
              <a:gd name="connsiteY35" fmla="*/ 166578 h 298451"/>
              <a:gd name="connsiteX36" fmla="*/ 193079 w 298451"/>
              <a:gd name="connsiteY36" fmla="*/ 156166 h 298451"/>
              <a:gd name="connsiteX37" fmla="*/ 182351 w 298451"/>
              <a:gd name="connsiteY37" fmla="*/ 145756 h 298451"/>
              <a:gd name="connsiteX38" fmla="*/ 235985 w 298451"/>
              <a:gd name="connsiteY38" fmla="*/ 298451 h 298451"/>
              <a:gd name="connsiteX39" fmla="*/ 173518 w 298451"/>
              <a:gd name="connsiteY39" fmla="*/ 235985 h 298451"/>
              <a:gd name="connsiteX40" fmla="*/ 235985 w 298451"/>
              <a:gd name="connsiteY40" fmla="*/ 173518 h 298451"/>
              <a:gd name="connsiteX41" fmla="*/ 298451 w 298451"/>
              <a:gd name="connsiteY41" fmla="*/ 235985 h 298451"/>
              <a:gd name="connsiteX42" fmla="*/ 235985 w 298451"/>
              <a:gd name="connsiteY42" fmla="*/ 298451 h 298451"/>
              <a:gd name="connsiteX43" fmla="*/ 221271 w 298451"/>
              <a:gd name="connsiteY43" fmla="*/ 208222 h 298451"/>
              <a:gd name="connsiteX44" fmla="*/ 215162 w 298451"/>
              <a:gd name="connsiteY44" fmla="*/ 214331 h 298451"/>
              <a:gd name="connsiteX45" fmla="*/ 215162 w 298451"/>
              <a:gd name="connsiteY45" fmla="*/ 264411 h 298451"/>
              <a:gd name="connsiteX46" fmla="*/ 216056 w 298451"/>
              <a:gd name="connsiteY46" fmla="*/ 267592 h 298451"/>
              <a:gd name="connsiteX47" fmla="*/ 224453 w 298451"/>
              <a:gd name="connsiteY47" fmla="*/ 269626 h 298451"/>
              <a:gd name="connsiteX48" fmla="*/ 235985 w 298451"/>
              <a:gd name="connsiteY48" fmla="*/ 262594 h 298451"/>
              <a:gd name="connsiteX49" fmla="*/ 247516 w 298451"/>
              <a:gd name="connsiteY49" fmla="*/ 269626 h 298451"/>
              <a:gd name="connsiteX50" fmla="*/ 250698 w 298451"/>
              <a:gd name="connsiteY50" fmla="*/ 270520 h 298451"/>
              <a:gd name="connsiteX51" fmla="*/ 256807 w 298451"/>
              <a:gd name="connsiteY51" fmla="*/ 264411 h 298451"/>
              <a:gd name="connsiteX52" fmla="*/ 256807 w 298451"/>
              <a:gd name="connsiteY52" fmla="*/ 214331 h 298451"/>
              <a:gd name="connsiteX53" fmla="*/ 250698 w 298451"/>
              <a:gd name="connsiteY53" fmla="*/ 208222 h 298451"/>
              <a:gd name="connsiteX54" fmla="*/ 221271 w 298451"/>
              <a:gd name="connsiteY54" fmla="*/ 208222 h 298451"/>
              <a:gd name="connsiteX55" fmla="*/ 233010 w 298451"/>
              <a:gd name="connsiteY55" fmla="*/ 230089 h 298451"/>
              <a:gd name="connsiteX56" fmla="*/ 233010 w 298451"/>
              <a:gd name="connsiteY56" fmla="*/ 223693 h 298451"/>
              <a:gd name="connsiteX57" fmla="*/ 235985 w 298451"/>
              <a:gd name="connsiteY57" fmla="*/ 220717 h 298451"/>
              <a:gd name="connsiteX58" fmla="*/ 238959 w 298451"/>
              <a:gd name="connsiteY58" fmla="*/ 223693 h 298451"/>
              <a:gd name="connsiteX59" fmla="*/ 238959 w 298451"/>
              <a:gd name="connsiteY59" fmla="*/ 230089 h 298451"/>
              <a:gd name="connsiteX60" fmla="*/ 244829 w 298451"/>
              <a:gd name="connsiteY60" fmla="*/ 230089 h 298451"/>
              <a:gd name="connsiteX61" fmla="*/ 247883 w 298451"/>
              <a:gd name="connsiteY61" fmla="*/ 233144 h 298451"/>
              <a:gd name="connsiteX62" fmla="*/ 247883 w 298451"/>
              <a:gd name="connsiteY62" fmla="*/ 233283 h 298451"/>
              <a:gd name="connsiteX63" fmla="*/ 244829 w 298451"/>
              <a:gd name="connsiteY63" fmla="*/ 236337 h 298451"/>
              <a:gd name="connsiteX64" fmla="*/ 238959 w 298451"/>
              <a:gd name="connsiteY64" fmla="*/ 236337 h 298451"/>
              <a:gd name="connsiteX65" fmla="*/ 238959 w 298451"/>
              <a:gd name="connsiteY65" fmla="*/ 242735 h 298451"/>
              <a:gd name="connsiteX66" fmla="*/ 235985 w 298451"/>
              <a:gd name="connsiteY66" fmla="*/ 245709 h 298451"/>
              <a:gd name="connsiteX67" fmla="*/ 233010 w 298451"/>
              <a:gd name="connsiteY67" fmla="*/ 242735 h 298451"/>
              <a:gd name="connsiteX68" fmla="*/ 233010 w 298451"/>
              <a:gd name="connsiteY68" fmla="*/ 236337 h 298451"/>
              <a:gd name="connsiteX69" fmla="*/ 227141 w 298451"/>
              <a:gd name="connsiteY69" fmla="*/ 236337 h 298451"/>
              <a:gd name="connsiteX70" fmla="*/ 224087 w 298451"/>
              <a:gd name="connsiteY70" fmla="*/ 233283 h 298451"/>
              <a:gd name="connsiteX71" fmla="*/ 224087 w 298451"/>
              <a:gd name="connsiteY71" fmla="*/ 233144 h 298451"/>
              <a:gd name="connsiteX72" fmla="*/ 227141 w 298451"/>
              <a:gd name="connsiteY72" fmla="*/ 230089 h 298451"/>
              <a:gd name="connsiteX73" fmla="*/ 233010 w 298451"/>
              <a:gd name="connsiteY73" fmla="*/ 230089 h 29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298451" h="298451">
                <a:moveTo>
                  <a:pt x="183584" y="291510"/>
                </a:moveTo>
                <a:lnTo>
                  <a:pt x="42906" y="291510"/>
                </a:lnTo>
                <a:cubicBezTo>
                  <a:pt x="31528" y="291510"/>
                  <a:pt x="20613" y="287124"/>
                  <a:pt x="12567" y="279313"/>
                </a:cubicBezTo>
                <a:cubicBezTo>
                  <a:pt x="4520" y="271504"/>
                  <a:pt x="0" y="260911"/>
                  <a:pt x="0" y="249866"/>
                </a:cubicBezTo>
                <a:lnTo>
                  <a:pt x="0" y="41644"/>
                </a:lnTo>
                <a:cubicBezTo>
                  <a:pt x="0" y="18645"/>
                  <a:pt x="19210" y="0"/>
                  <a:pt x="42906" y="0"/>
                </a:cubicBezTo>
                <a:lnTo>
                  <a:pt x="193079" y="0"/>
                </a:lnTo>
                <a:cubicBezTo>
                  <a:pt x="204459" y="0"/>
                  <a:pt x="215372" y="4387"/>
                  <a:pt x="223417" y="12198"/>
                </a:cubicBezTo>
                <a:cubicBezTo>
                  <a:pt x="231465" y="20007"/>
                  <a:pt x="235985" y="30600"/>
                  <a:pt x="235985" y="41644"/>
                </a:cubicBezTo>
                <a:lnTo>
                  <a:pt x="235985" y="159636"/>
                </a:lnTo>
                <a:cubicBezTo>
                  <a:pt x="212276" y="159636"/>
                  <a:pt x="191091" y="170444"/>
                  <a:pt x="177088" y="187400"/>
                </a:cubicBezTo>
                <a:lnTo>
                  <a:pt x="53633" y="187400"/>
                </a:lnTo>
                <a:cubicBezTo>
                  <a:pt x="47708" y="187400"/>
                  <a:pt x="42906" y="192061"/>
                  <a:pt x="42906" y="197811"/>
                </a:cubicBezTo>
                <a:cubicBezTo>
                  <a:pt x="42906" y="203560"/>
                  <a:pt x="47708" y="208223"/>
                  <a:pt x="53633" y="208223"/>
                </a:cubicBezTo>
                <a:lnTo>
                  <a:pt x="164841" y="208223"/>
                </a:lnTo>
                <a:cubicBezTo>
                  <a:pt x="161481" y="216827"/>
                  <a:pt x="159636" y="226190"/>
                  <a:pt x="159636" y="235985"/>
                </a:cubicBezTo>
                <a:cubicBezTo>
                  <a:pt x="159636" y="257863"/>
                  <a:pt x="168838" y="277591"/>
                  <a:pt x="183584" y="291510"/>
                </a:cubicBezTo>
                <a:moveTo>
                  <a:pt x="182351" y="62466"/>
                </a:moveTo>
                <a:lnTo>
                  <a:pt x="117992" y="62466"/>
                </a:lnTo>
                <a:cubicBezTo>
                  <a:pt x="112069" y="62466"/>
                  <a:pt x="107265" y="67127"/>
                  <a:pt x="107265" y="72878"/>
                </a:cubicBezTo>
                <a:cubicBezTo>
                  <a:pt x="107265" y="78627"/>
                  <a:pt x="112069" y="83289"/>
                  <a:pt x="117992" y="83289"/>
                </a:cubicBezTo>
                <a:lnTo>
                  <a:pt x="182351" y="83289"/>
                </a:lnTo>
                <a:cubicBezTo>
                  <a:pt x="188276" y="83289"/>
                  <a:pt x="193079" y="78627"/>
                  <a:pt x="193079" y="72878"/>
                </a:cubicBezTo>
                <a:cubicBezTo>
                  <a:pt x="193079" y="67127"/>
                  <a:pt x="188276" y="62466"/>
                  <a:pt x="182351" y="62466"/>
                </a:cubicBezTo>
                <a:moveTo>
                  <a:pt x="182351" y="104111"/>
                </a:moveTo>
                <a:lnTo>
                  <a:pt x="53633" y="104111"/>
                </a:lnTo>
                <a:cubicBezTo>
                  <a:pt x="47708" y="104111"/>
                  <a:pt x="42906" y="108773"/>
                  <a:pt x="42906" y="114522"/>
                </a:cubicBezTo>
                <a:cubicBezTo>
                  <a:pt x="42906" y="120272"/>
                  <a:pt x="47708" y="124933"/>
                  <a:pt x="53633" y="124933"/>
                </a:cubicBezTo>
                <a:lnTo>
                  <a:pt x="182351" y="124933"/>
                </a:lnTo>
                <a:cubicBezTo>
                  <a:pt x="188276" y="124933"/>
                  <a:pt x="193079" y="120272"/>
                  <a:pt x="193079" y="114522"/>
                </a:cubicBezTo>
                <a:cubicBezTo>
                  <a:pt x="193079" y="108773"/>
                  <a:pt x="188276" y="104111"/>
                  <a:pt x="182351" y="104111"/>
                </a:cubicBezTo>
                <a:moveTo>
                  <a:pt x="182351" y="145756"/>
                </a:moveTo>
                <a:lnTo>
                  <a:pt x="53633" y="145756"/>
                </a:lnTo>
                <a:cubicBezTo>
                  <a:pt x="47708" y="145756"/>
                  <a:pt x="42906" y="150417"/>
                  <a:pt x="42906" y="156166"/>
                </a:cubicBezTo>
                <a:cubicBezTo>
                  <a:pt x="42906" y="161917"/>
                  <a:pt x="47708" y="166578"/>
                  <a:pt x="53633" y="166578"/>
                </a:cubicBezTo>
                <a:lnTo>
                  <a:pt x="182351" y="166578"/>
                </a:lnTo>
                <a:cubicBezTo>
                  <a:pt x="188276" y="166578"/>
                  <a:pt x="193079" y="161917"/>
                  <a:pt x="193079" y="156166"/>
                </a:cubicBezTo>
                <a:cubicBezTo>
                  <a:pt x="193079" y="150417"/>
                  <a:pt x="188276" y="145756"/>
                  <a:pt x="182351" y="145756"/>
                </a:cubicBezTo>
                <a:moveTo>
                  <a:pt x="235985" y="298451"/>
                </a:moveTo>
                <a:cubicBezTo>
                  <a:pt x="201485" y="298451"/>
                  <a:pt x="173518" y="270484"/>
                  <a:pt x="173518" y="235985"/>
                </a:cubicBezTo>
                <a:cubicBezTo>
                  <a:pt x="173518" y="201485"/>
                  <a:pt x="201485" y="173518"/>
                  <a:pt x="235985" y="173518"/>
                </a:cubicBezTo>
                <a:cubicBezTo>
                  <a:pt x="270484" y="173518"/>
                  <a:pt x="298451" y="201485"/>
                  <a:pt x="298451" y="235985"/>
                </a:cubicBezTo>
                <a:cubicBezTo>
                  <a:pt x="298451" y="270484"/>
                  <a:pt x="270484" y="298451"/>
                  <a:pt x="235985" y="298451"/>
                </a:cubicBezTo>
                <a:moveTo>
                  <a:pt x="221271" y="208222"/>
                </a:moveTo>
                <a:cubicBezTo>
                  <a:pt x="217897" y="208222"/>
                  <a:pt x="215162" y="210957"/>
                  <a:pt x="215162" y="214331"/>
                </a:cubicBezTo>
                <a:lnTo>
                  <a:pt x="215162" y="264411"/>
                </a:lnTo>
                <a:cubicBezTo>
                  <a:pt x="215162" y="265533"/>
                  <a:pt x="215471" y="266633"/>
                  <a:pt x="216056" y="267592"/>
                </a:cubicBezTo>
                <a:cubicBezTo>
                  <a:pt x="217813" y="270472"/>
                  <a:pt x="221572" y="271383"/>
                  <a:pt x="224453" y="269626"/>
                </a:cubicBezTo>
                <a:lnTo>
                  <a:pt x="235985" y="262594"/>
                </a:lnTo>
                <a:lnTo>
                  <a:pt x="247516" y="269626"/>
                </a:lnTo>
                <a:cubicBezTo>
                  <a:pt x="248474" y="270211"/>
                  <a:pt x="249575" y="270520"/>
                  <a:pt x="250698" y="270520"/>
                </a:cubicBezTo>
                <a:cubicBezTo>
                  <a:pt x="254072" y="270520"/>
                  <a:pt x="256807" y="267785"/>
                  <a:pt x="256807" y="264411"/>
                </a:cubicBezTo>
                <a:lnTo>
                  <a:pt x="256807" y="214331"/>
                </a:lnTo>
                <a:cubicBezTo>
                  <a:pt x="256807" y="210957"/>
                  <a:pt x="254072" y="208222"/>
                  <a:pt x="250698" y="208222"/>
                </a:cubicBezTo>
                <a:lnTo>
                  <a:pt x="221271" y="208222"/>
                </a:lnTo>
                <a:moveTo>
                  <a:pt x="233010" y="230089"/>
                </a:moveTo>
                <a:lnTo>
                  <a:pt x="233010" y="223693"/>
                </a:lnTo>
                <a:cubicBezTo>
                  <a:pt x="233010" y="222050"/>
                  <a:pt x="234342" y="220717"/>
                  <a:pt x="235985" y="220717"/>
                </a:cubicBezTo>
                <a:cubicBezTo>
                  <a:pt x="237628" y="220717"/>
                  <a:pt x="238959" y="222050"/>
                  <a:pt x="238959" y="223693"/>
                </a:cubicBezTo>
                <a:lnTo>
                  <a:pt x="238959" y="230089"/>
                </a:lnTo>
                <a:lnTo>
                  <a:pt x="244829" y="230089"/>
                </a:lnTo>
                <a:cubicBezTo>
                  <a:pt x="246516" y="230089"/>
                  <a:pt x="247883" y="231457"/>
                  <a:pt x="247883" y="233144"/>
                </a:cubicBezTo>
                <a:lnTo>
                  <a:pt x="247883" y="233283"/>
                </a:lnTo>
                <a:cubicBezTo>
                  <a:pt x="247883" y="234970"/>
                  <a:pt x="246516" y="236337"/>
                  <a:pt x="244829" y="236337"/>
                </a:cubicBezTo>
                <a:lnTo>
                  <a:pt x="238959" y="236337"/>
                </a:lnTo>
                <a:lnTo>
                  <a:pt x="238959" y="242735"/>
                </a:lnTo>
                <a:cubicBezTo>
                  <a:pt x="238959" y="244378"/>
                  <a:pt x="237628" y="245709"/>
                  <a:pt x="235985" y="245709"/>
                </a:cubicBezTo>
                <a:cubicBezTo>
                  <a:pt x="234342" y="245709"/>
                  <a:pt x="233010" y="244378"/>
                  <a:pt x="233010" y="242735"/>
                </a:cubicBezTo>
                <a:lnTo>
                  <a:pt x="233010" y="236337"/>
                </a:lnTo>
                <a:lnTo>
                  <a:pt x="227141" y="236337"/>
                </a:lnTo>
                <a:cubicBezTo>
                  <a:pt x="225454" y="236337"/>
                  <a:pt x="224087" y="234970"/>
                  <a:pt x="224087" y="233283"/>
                </a:cubicBezTo>
                <a:lnTo>
                  <a:pt x="224087" y="233144"/>
                </a:lnTo>
                <a:cubicBezTo>
                  <a:pt x="224087" y="231457"/>
                  <a:pt x="225454" y="230089"/>
                  <a:pt x="227141" y="230089"/>
                </a:cubicBezTo>
                <a:lnTo>
                  <a:pt x="233010" y="230089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1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0" name="文本框 139"/>
          <p:cNvSpPr txBox="1"/>
          <p:nvPr/>
        </p:nvSpPr>
        <p:spPr>
          <a:xfrm>
            <a:off x="8817712" y="5990804"/>
            <a:ext cx="2266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accent1"/>
                </a:solidFill>
              </a:rPr>
              <a:t>全栈开发与交付</a:t>
            </a:r>
            <a:endParaRPr kumimoji="1" lang="zh-CN" altLang="en-US" sz="2000" b="1" dirty="0">
              <a:solidFill>
                <a:schemeClr val="accent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870" y="1037590"/>
            <a:ext cx="3383915" cy="2094230"/>
          </a:xfrm>
          <a:prstGeom prst="rect">
            <a:avLst/>
          </a:prstGeom>
        </p:spPr>
      </p:pic>
      <p:pic>
        <p:nvPicPr>
          <p:cNvPr id="3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210" y="3726180"/>
            <a:ext cx="3676015" cy="22707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-2" y="3527180"/>
            <a:ext cx="2703742" cy="921872"/>
            <a:chOff x="-2" y="1537960"/>
            <a:chExt cx="2703742" cy="921872"/>
          </a:xfrm>
        </p:grpSpPr>
        <p:sp>
          <p:nvSpPr>
            <p:cNvPr id="10" name="矩形 9"/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24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图形 15"/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tx1"/>
          </a:solidFill>
        </p:grpSpPr>
        <p:sp>
          <p:nvSpPr>
            <p:cNvPr id="21" name="任意形状 20"/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/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/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/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/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930466" y="212442"/>
            <a:ext cx="467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学生工作</a:t>
            </a:r>
            <a:endParaRPr kumimoji="1" lang="zh-CN" altLang="en-US" sz="2400" b="1" dirty="0"/>
          </a:p>
        </p:txBody>
      </p:sp>
      <p:cxnSp>
        <p:nvCxnSpPr>
          <p:cNvPr id="31" name="直线连接符 30"/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/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/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/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/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3122023" y="952261"/>
            <a:ext cx="3782211" cy="1740686"/>
            <a:chOff x="174936" y="4438441"/>
            <a:chExt cx="2601273" cy="1740686"/>
          </a:xfrm>
        </p:grpSpPr>
        <p:sp>
          <p:nvSpPr>
            <p:cNvPr id="101" name="矩形 100"/>
            <p:cNvSpPr/>
            <p:nvPr/>
          </p:nvSpPr>
          <p:spPr>
            <a:xfrm>
              <a:off x="174936" y="4438441"/>
              <a:ext cx="2601273" cy="174068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174936" y="4438441"/>
              <a:ext cx="2601273" cy="1724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3" name="文本框 102"/>
          <p:cNvSpPr txBox="1"/>
          <p:nvPr/>
        </p:nvSpPr>
        <p:spPr>
          <a:xfrm>
            <a:off x="3230888" y="1261156"/>
            <a:ext cx="358087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班级团日活动与团员发展工作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优秀共青团员、优秀学生干部</a:t>
            </a:r>
            <a:endParaRPr lang="zh-CN" altLang="en-US" sz="2000" dirty="0"/>
          </a:p>
        </p:txBody>
      </p:sp>
      <p:sp>
        <p:nvSpPr>
          <p:cNvPr id="120" name="任意形状 119"/>
          <p:cNvSpPr/>
          <p:nvPr/>
        </p:nvSpPr>
        <p:spPr>
          <a:xfrm>
            <a:off x="4947457" y="3209316"/>
            <a:ext cx="5146577" cy="1143684"/>
          </a:xfrm>
          <a:custGeom>
            <a:avLst/>
            <a:gdLst>
              <a:gd name="connsiteX0" fmla="*/ 720000 w 6480000"/>
              <a:gd name="connsiteY0" fmla="*/ 0 h 1440000"/>
              <a:gd name="connsiteX1" fmla="*/ 5760000 w 6480000"/>
              <a:gd name="connsiteY1" fmla="*/ 0 h 1440000"/>
              <a:gd name="connsiteX2" fmla="*/ 6480000 w 6480000"/>
              <a:gd name="connsiteY2" fmla="*/ 720000 h 1440000"/>
              <a:gd name="connsiteX3" fmla="*/ 5760000 w 6480000"/>
              <a:gd name="connsiteY3" fmla="*/ 1440000 h 1440000"/>
              <a:gd name="connsiteX4" fmla="*/ 720000 w 6480000"/>
              <a:gd name="connsiteY4" fmla="*/ 1440000 h 1440000"/>
              <a:gd name="connsiteX5" fmla="*/ 0 w 6480000"/>
              <a:gd name="connsiteY5" fmla="*/ 720000 h 1440000"/>
              <a:gd name="connsiteX6" fmla="*/ 720000 w 6480000"/>
              <a:gd name="connsiteY6" fmla="*/ 0 h 1440000"/>
              <a:gd name="connsiteX7" fmla="*/ 720000 w 6480000"/>
              <a:gd name="connsiteY7" fmla="*/ 270000 h 1440000"/>
              <a:gd name="connsiteX8" fmla="*/ 270000 w 6480000"/>
              <a:gd name="connsiteY8" fmla="*/ 720000 h 1440000"/>
              <a:gd name="connsiteX9" fmla="*/ 720000 w 6480000"/>
              <a:gd name="connsiteY9" fmla="*/ 1170000 h 1440000"/>
              <a:gd name="connsiteX10" fmla="*/ 5760000 w 6480000"/>
              <a:gd name="connsiteY10" fmla="*/ 1170000 h 1440000"/>
              <a:gd name="connsiteX11" fmla="*/ 6210000 w 6480000"/>
              <a:gd name="connsiteY11" fmla="*/ 720000 h 1440000"/>
              <a:gd name="connsiteX12" fmla="*/ 5760000 w 6480000"/>
              <a:gd name="connsiteY12" fmla="*/ 270000 h 1440000"/>
              <a:gd name="connsiteX13" fmla="*/ 720000 w 6480000"/>
              <a:gd name="connsiteY13" fmla="*/ 27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480000" h="1440000">
                <a:moveTo>
                  <a:pt x="720000" y="0"/>
                </a:moveTo>
                <a:lnTo>
                  <a:pt x="5760000" y="0"/>
                </a:lnTo>
                <a:cubicBezTo>
                  <a:pt x="6157645" y="0"/>
                  <a:pt x="6480000" y="322355"/>
                  <a:pt x="6480000" y="720000"/>
                </a:cubicBezTo>
                <a:cubicBezTo>
                  <a:pt x="6480000" y="1117645"/>
                  <a:pt x="6157645" y="1440000"/>
                  <a:pt x="5760000" y="1440000"/>
                </a:cubicBezTo>
                <a:lnTo>
                  <a:pt x="720000" y="1440000"/>
                </a:lnTo>
                <a:cubicBezTo>
                  <a:pt x="322355" y="1440000"/>
                  <a:pt x="0" y="1117645"/>
                  <a:pt x="0" y="720000"/>
                </a:cubicBezTo>
                <a:cubicBezTo>
                  <a:pt x="0" y="322355"/>
                  <a:pt x="322355" y="0"/>
                  <a:pt x="720000" y="0"/>
                </a:cubicBezTo>
                <a:close/>
                <a:moveTo>
                  <a:pt x="720000" y="270000"/>
                </a:moveTo>
                <a:cubicBezTo>
                  <a:pt x="471472" y="270000"/>
                  <a:pt x="270000" y="471472"/>
                  <a:pt x="270000" y="720000"/>
                </a:cubicBezTo>
                <a:cubicBezTo>
                  <a:pt x="270000" y="968528"/>
                  <a:pt x="471472" y="1170000"/>
                  <a:pt x="720000" y="1170000"/>
                </a:cubicBezTo>
                <a:lnTo>
                  <a:pt x="5760000" y="1170000"/>
                </a:lnTo>
                <a:cubicBezTo>
                  <a:pt x="6008528" y="1170000"/>
                  <a:pt x="6210000" y="968528"/>
                  <a:pt x="6210000" y="720000"/>
                </a:cubicBezTo>
                <a:cubicBezTo>
                  <a:pt x="6210000" y="471472"/>
                  <a:pt x="6008528" y="270000"/>
                  <a:pt x="5760000" y="270000"/>
                </a:cubicBezTo>
                <a:lnTo>
                  <a:pt x="720000" y="270000"/>
                </a:lnTo>
                <a:close/>
              </a:path>
            </a:pathLst>
          </a:custGeom>
          <a:ln>
            <a:noFill/>
          </a:ln>
          <a:effectLst>
            <a:outerShdw blurRad="127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6741763" y="3518578"/>
            <a:ext cx="2029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学生工作</a:t>
            </a:r>
            <a:endParaRPr kumimoji="1" lang="zh-CN" altLang="en-US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7932621" y="961871"/>
            <a:ext cx="3782211" cy="1740686"/>
            <a:chOff x="174936" y="4438441"/>
            <a:chExt cx="2601273" cy="1740686"/>
          </a:xfrm>
        </p:grpSpPr>
        <p:sp>
          <p:nvSpPr>
            <p:cNvPr id="125" name="矩形 124"/>
            <p:cNvSpPr/>
            <p:nvPr/>
          </p:nvSpPr>
          <p:spPr>
            <a:xfrm>
              <a:off x="174936" y="4438441"/>
              <a:ext cx="2601273" cy="174068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174936" y="4438441"/>
              <a:ext cx="2601273" cy="1724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7" name="文本框 126"/>
          <p:cNvSpPr txBox="1"/>
          <p:nvPr/>
        </p:nvSpPr>
        <p:spPr>
          <a:xfrm>
            <a:off x="8041486" y="1270766"/>
            <a:ext cx="358087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协助组织 AI 技术讲座与竞赛动员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推动校园人工智能学习氛围建设</a:t>
            </a:r>
            <a:endParaRPr lang="zh-CN" altLang="en-US" dirty="0"/>
          </a:p>
        </p:txBody>
      </p:sp>
      <p:grpSp>
        <p:nvGrpSpPr>
          <p:cNvPr id="128" name="组合 127"/>
          <p:cNvGrpSpPr/>
          <p:nvPr/>
        </p:nvGrpSpPr>
        <p:grpSpPr>
          <a:xfrm>
            <a:off x="3188698" y="4750259"/>
            <a:ext cx="3793751" cy="1740686"/>
            <a:chOff x="174936" y="4438441"/>
            <a:chExt cx="2609210" cy="1740686"/>
          </a:xfrm>
        </p:grpSpPr>
        <p:sp>
          <p:nvSpPr>
            <p:cNvPr id="129" name="矩形 128"/>
            <p:cNvSpPr/>
            <p:nvPr/>
          </p:nvSpPr>
          <p:spPr>
            <a:xfrm>
              <a:off x="174936" y="4438441"/>
              <a:ext cx="2601273" cy="174068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矩形 129"/>
            <p:cNvSpPr/>
            <p:nvPr/>
          </p:nvSpPr>
          <p:spPr>
            <a:xfrm>
              <a:off x="182873" y="5985521"/>
              <a:ext cx="2601273" cy="1724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1" name="文本框 130"/>
          <p:cNvSpPr txBox="1"/>
          <p:nvPr/>
        </p:nvSpPr>
        <p:spPr>
          <a:xfrm>
            <a:off x="3297563" y="5059154"/>
            <a:ext cx="358087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参与机器人竞赛集训与项目管理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获中国机器人及人工智能大赛省三等奖</a:t>
            </a:r>
            <a:endParaRPr lang="zh-CN" altLang="en-US" dirty="0"/>
          </a:p>
        </p:txBody>
      </p:sp>
      <p:grpSp>
        <p:nvGrpSpPr>
          <p:cNvPr id="132" name="组合 131"/>
          <p:cNvGrpSpPr/>
          <p:nvPr/>
        </p:nvGrpSpPr>
        <p:grpSpPr>
          <a:xfrm>
            <a:off x="7999296" y="4759869"/>
            <a:ext cx="3793751" cy="1740686"/>
            <a:chOff x="174936" y="4438441"/>
            <a:chExt cx="2609210" cy="1740686"/>
          </a:xfrm>
        </p:grpSpPr>
        <p:sp>
          <p:nvSpPr>
            <p:cNvPr id="133" name="矩形 132"/>
            <p:cNvSpPr/>
            <p:nvPr/>
          </p:nvSpPr>
          <p:spPr>
            <a:xfrm>
              <a:off x="174936" y="4438441"/>
              <a:ext cx="2601273" cy="174068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矩形 133"/>
            <p:cNvSpPr/>
            <p:nvPr/>
          </p:nvSpPr>
          <p:spPr>
            <a:xfrm>
              <a:off x="182873" y="6005461"/>
              <a:ext cx="2601273" cy="1724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文本框 134"/>
          <p:cNvSpPr txBox="1"/>
          <p:nvPr/>
        </p:nvSpPr>
        <p:spPr>
          <a:xfrm>
            <a:off x="8108315" y="5068570"/>
            <a:ext cx="37826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发挥党员模范带头作用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在科研实习与项目中主动承担责任</a:t>
            </a:r>
            <a:endParaRPr lang="zh-CN" altLang="en-US" dirty="0"/>
          </a:p>
        </p:txBody>
      </p:sp>
      <p:sp>
        <p:nvSpPr>
          <p:cNvPr id="136" name="任意多边形: 形状 60"/>
          <p:cNvSpPr/>
          <p:nvPr/>
        </p:nvSpPr>
        <p:spPr>
          <a:xfrm rot="17864976" flipH="1">
            <a:off x="4640009" y="3058518"/>
            <a:ext cx="326909" cy="510554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rtlCol="0" anchor="ctr">
            <a:noAutofit/>
          </a:bodyPr>
          <a:lstStyle/>
          <a:p>
            <a:pPr algn="ctr"/>
            <a:endParaRPr lang="zh-CN" altLang="en-US" sz="1655">
              <a:latin typeface="+mn-ea"/>
            </a:endParaRPr>
          </a:p>
        </p:txBody>
      </p:sp>
      <p:sp>
        <p:nvSpPr>
          <p:cNvPr id="137" name="任意多边形: 形状 60"/>
          <p:cNvSpPr/>
          <p:nvPr/>
        </p:nvSpPr>
        <p:spPr>
          <a:xfrm rot="3735024">
            <a:off x="10118568" y="3058518"/>
            <a:ext cx="326909" cy="510554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rtlCol="0" anchor="ctr">
            <a:noAutofit/>
          </a:bodyPr>
          <a:lstStyle/>
          <a:p>
            <a:pPr algn="ctr"/>
            <a:endParaRPr lang="zh-CN" altLang="en-US" sz="1655">
              <a:latin typeface="+mn-ea"/>
            </a:endParaRPr>
          </a:p>
        </p:txBody>
      </p:sp>
      <p:sp>
        <p:nvSpPr>
          <p:cNvPr id="138" name="任意多边形: 形状 60"/>
          <p:cNvSpPr/>
          <p:nvPr/>
        </p:nvSpPr>
        <p:spPr>
          <a:xfrm rot="17864976" flipV="1">
            <a:off x="10118567" y="3956715"/>
            <a:ext cx="326909" cy="510554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rtlCol="0" anchor="ctr">
            <a:noAutofit/>
          </a:bodyPr>
          <a:lstStyle/>
          <a:p>
            <a:pPr algn="ctr"/>
            <a:endParaRPr lang="zh-CN" altLang="en-US" sz="1655">
              <a:latin typeface="+mn-ea"/>
            </a:endParaRPr>
          </a:p>
        </p:txBody>
      </p:sp>
      <p:sp>
        <p:nvSpPr>
          <p:cNvPr id="139" name="任意多边形: 形状 60"/>
          <p:cNvSpPr/>
          <p:nvPr/>
        </p:nvSpPr>
        <p:spPr>
          <a:xfrm rot="3735024" flipH="1" flipV="1">
            <a:off x="4632419" y="3982807"/>
            <a:ext cx="326909" cy="510554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rtlCol="0" anchor="ctr">
            <a:noAutofit/>
          </a:bodyPr>
          <a:lstStyle/>
          <a:p>
            <a:pPr algn="ctr"/>
            <a:endParaRPr lang="zh-CN" altLang="en-US" sz="1655">
              <a:latin typeface="+mn-ea"/>
            </a:endParaRPr>
          </a:p>
        </p:txBody>
      </p:sp>
      <p:grpSp>
        <p:nvGrpSpPr>
          <p:cNvPr id="141" name="组合 140"/>
          <p:cNvGrpSpPr/>
          <p:nvPr/>
        </p:nvGrpSpPr>
        <p:grpSpPr>
          <a:xfrm>
            <a:off x="3403994" y="2454942"/>
            <a:ext cx="1067456" cy="1084278"/>
            <a:chOff x="3403994" y="2454942"/>
            <a:chExt cx="1067456" cy="1084278"/>
          </a:xfrm>
        </p:grpSpPr>
        <p:sp>
          <p:nvSpPr>
            <p:cNvPr id="90" name="椭圆 89"/>
            <p:cNvSpPr/>
            <p:nvPr/>
          </p:nvSpPr>
          <p:spPr>
            <a:xfrm>
              <a:off x="3403994" y="2454942"/>
              <a:ext cx="1067456" cy="1084278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2274" tIns="56136" rIns="112274" bIns="56136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TextBox 100"/>
            <p:cNvSpPr txBox="1"/>
            <p:nvPr/>
          </p:nvSpPr>
          <p:spPr>
            <a:xfrm>
              <a:off x="3443364" y="2671477"/>
              <a:ext cx="979170" cy="665480"/>
            </a:xfrm>
            <a:prstGeom prst="rect">
              <a:avLst/>
            </a:prstGeom>
            <a:noFill/>
          </p:spPr>
          <p:txBody>
            <a:bodyPr wrap="square" lIns="112274" tIns="56136" rIns="112274" bIns="56136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团支部书记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3403994" y="3903986"/>
            <a:ext cx="1067456" cy="1084278"/>
            <a:chOff x="3403994" y="2454942"/>
            <a:chExt cx="1067456" cy="1084278"/>
          </a:xfrm>
        </p:grpSpPr>
        <p:sp>
          <p:nvSpPr>
            <p:cNvPr id="143" name="椭圆 142"/>
            <p:cNvSpPr/>
            <p:nvPr/>
          </p:nvSpPr>
          <p:spPr>
            <a:xfrm>
              <a:off x="3403994" y="2454942"/>
              <a:ext cx="1067456" cy="1084278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2274" tIns="56136" rIns="112274" bIns="56136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TextBox 100"/>
            <p:cNvSpPr txBox="1"/>
            <p:nvPr/>
          </p:nvSpPr>
          <p:spPr>
            <a:xfrm>
              <a:off x="3435744" y="2525427"/>
              <a:ext cx="962660" cy="942340"/>
            </a:xfrm>
            <a:prstGeom prst="rect">
              <a:avLst/>
            </a:prstGeom>
            <a:noFill/>
          </p:spPr>
          <p:txBody>
            <a:bodyPr wrap="square" lIns="112274" tIns="56136" rIns="112274" bIns="56136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 协会副会长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5" name="组合 144"/>
          <p:cNvGrpSpPr/>
          <p:nvPr/>
        </p:nvGrpSpPr>
        <p:grpSpPr>
          <a:xfrm>
            <a:off x="10570865" y="2448314"/>
            <a:ext cx="1067456" cy="1084278"/>
            <a:chOff x="3403994" y="2454942"/>
            <a:chExt cx="1067456" cy="1084278"/>
          </a:xfrm>
        </p:grpSpPr>
        <p:sp>
          <p:nvSpPr>
            <p:cNvPr id="146" name="椭圆 145"/>
            <p:cNvSpPr/>
            <p:nvPr/>
          </p:nvSpPr>
          <p:spPr>
            <a:xfrm>
              <a:off x="3403994" y="2454942"/>
              <a:ext cx="1067456" cy="1084278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2274" tIns="56136" rIns="112274" bIns="56136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TextBox 100"/>
            <p:cNvSpPr txBox="1"/>
            <p:nvPr/>
          </p:nvSpPr>
          <p:spPr>
            <a:xfrm>
              <a:off x="3492250" y="2590036"/>
              <a:ext cx="890944" cy="605811"/>
            </a:xfrm>
            <a:prstGeom prst="rect">
              <a:avLst/>
            </a:prstGeom>
            <a:noFill/>
          </p:spPr>
          <p:txBody>
            <a:bodyPr wrap="square" lIns="112274" tIns="56136" rIns="112274" bIns="56136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机器人协会核心成员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8" name="组合 147"/>
          <p:cNvGrpSpPr/>
          <p:nvPr/>
        </p:nvGrpSpPr>
        <p:grpSpPr>
          <a:xfrm>
            <a:off x="10570865" y="3957769"/>
            <a:ext cx="1067456" cy="1084278"/>
            <a:chOff x="3403994" y="2454942"/>
            <a:chExt cx="1067456" cy="1084278"/>
          </a:xfrm>
        </p:grpSpPr>
        <p:sp>
          <p:nvSpPr>
            <p:cNvPr id="149" name="椭圆 148"/>
            <p:cNvSpPr/>
            <p:nvPr/>
          </p:nvSpPr>
          <p:spPr>
            <a:xfrm>
              <a:off x="3403994" y="2454942"/>
              <a:ext cx="1067456" cy="1084278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2274" tIns="56136" rIns="112274" bIns="56136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TextBox 100"/>
            <p:cNvSpPr txBox="1"/>
            <p:nvPr/>
          </p:nvSpPr>
          <p:spPr>
            <a:xfrm>
              <a:off x="3492250" y="2694176"/>
              <a:ext cx="890944" cy="665480"/>
            </a:xfrm>
            <a:prstGeom prst="rect">
              <a:avLst/>
            </a:prstGeom>
            <a:noFill/>
          </p:spPr>
          <p:txBody>
            <a:bodyPr wrap="square" lIns="112274" tIns="56136" rIns="112274" bIns="56136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中共党员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3" name="图形 151"/>
          <p:cNvSpPr/>
          <p:nvPr/>
        </p:nvSpPr>
        <p:spPr>
          <a:xfrm>
            <a:off x="6247294" y="3454595"/>
            <a:ext cx="615496" cy="615496"/>
          </a:xfrm>
          <a:custGeom>
            <a:avLst/>
            <a:gdLst>
              <a:gd name="connsiteX0" fmla="*/ 1279661 w 1543552"/>
              <a:gd name="connsiteY0" fmla="*/ 556208 h 1543552"/>
              <a:gd name="connsiteX1" fmla="*/ 1474998 w 1543552"/>
              <a:gd name="connsiteY1" fmla="*/ 358750 h 1543552"/>
              <a:gd name="connsiteX2" fmla="*/ 1279661 w 1543552"/>
              <a:gd name="connsiteY2" fmla="*/ 161348 h 1543552"/>
              <a:gd name="connsiteX3" fmla="*/ 1084325 w 1543552"/>
              <a:gd name="connsiteY3" fmla="*/ 358750 h 1543552"/>
              <a:gd name="connsiteX4" fmla="*/ 1279661 w 1543552"/>
              <a:gd name="connsiteY4" fmla="*/ 556189 h 1543552"/>
              <a:gd name="connsiteX5" fmla="*/ 261528 w 1543552"/>
              <a:gd name="connsiteY5" fmla="*/ 556208 h 1543552"/>
              <a:gd name="connsiteX6" fmla="*/ 456865 w 1543552"/>
              <a:gd name="connsiteY6" fmla="*/ 358769 h 1543552"/>
              <a:gd name="connsiteX7" fmla="*/ 261528 w 1543552"/>
              <a:gd name="connsiteY7" fmla="*/ 161348 h 1543552"/>
              <a:gd name="connsiteX8" fmla="*/ 66210 w 1543552"/>
              <a:gd name="connsiteY8" fmla="*/ 358750 h 1543552"/>
              <a:gd name="connsiteX9" fmla="*/ 261435 w 1543552"/>
              <a:gd name="connsiteY9" fmla="*/ 556189 h 1543552"/>
              <a:gd name="connsiteX10" fmla="*/ 371549 w 1543552"/>
              <a:gd name="connsiteY10" fmla="*/ 1134777 h 1543552"/>
              <a:gd name="connsiteX11" fmla="*/ 371549 w 1543552"/>
              <a:gd name="connsiteY11" fmla="*/ 795319 h 1543552"/>
              <a:gd name="connsiteX12" fmla="*/ 432029 w 1543552"/>
              <a:gd name="connsiteY12" fmla="*/ 617339 h 1543552"/>
              <a:gd name="connsiteX13" fmla="*/ 324762 w 1543552"/>
              <a:gd name="connsiteY13" fmla="*/ 583946 h 1543552"/>
              <a:gd name="connsiteX14" fmla="*/ 195486 w 1543552"/>
              <a:gd name="connsiteY14" fmla="*/ 583946 h 1543552"/>
              <a:gd name="connsiteX15" fmla="*/ 0 w 1543552"/>
              <a:gd name="connsiteY15" fmla="*/ 781385 h 1543552"/>
              <a:gd name="connsiteX16" fmla="*/ 0 w 1543552"/>
              <a:gd name="connsiteY16" fmla="*/ 995623 h 1543552"/>
              <a:gd name="connsiteX17" fmla="*/ 52332 w 1543552"/>
              <a:gd name="connsiteY17" fmla="*/ 1059675 h 1543552"/>
              <a:gd name="connsiteX18" fmla="*/ 85297 w 1543552"/>
              <a:gd name="connsiteY18" fmla="*/ 1065256 h 1543552"/>
              <a:gd name="connsiteX19" fmla="*/ 99027 w 1543552"/>
              <a:gd name="connsiteY19" fmla="*/ 1276573 h 1543552"/>
              <a:gd name="connsiteX20" fmla="*/ 164976 w 1543552"/>
              <a:gd name="connsiteY20" fmla="*/ 1337723 h 1543552"/>
              <a:gd name="connsiteX21" fmla="*/ 357560 w 1543552"/>
              <a:gd name="connsiteY21" fmla="*/ 1337723 h 1543552"/>
              <a:gd name="connsiteX22" fmla="*/ 423602 w 1543552"/>
              <a:gd name="connsiteY22" fmla="*/ 1276573 h 1543552"/>
              <a:gd name="connsiteX23" fmla="*/ 426244 w 1543552"/>
              <a:gd name="connsiteY23" fmla="*/ 1215386 h 1543552"/>
              <a:gd name="connsiteX24" fmla="*/ 371456 w 1543552"/>
              <a:gd name="connsiteY24" fmla="*/ 1134703 h 1543552"/>
              <a:gd name="connsiteX25" fmla="*/ 1345630 w 1543552"/>
              <a:gd name="connsiteY25" fmla="*/ 583983 h 1543552"/>
              <a:gd name="connsiteX26" fmla="*/ 1216261 w 1543552"/>
              <a:gd name="connsiteY26" fmla="*/ 583983 h 1543552"/>
              <a:gd name="connsiteX27" fmla="*/ 1108974 w 1543552"/>
              <a:gd name="connsiteY27" fmla="*/ 617376 h 1543552"/>
              <a:gd name="connsiteX28" fmla="*/ 1169566 w 1543552"/>
              <a:gd name="connsiteY28" fmla="*/ 795338 h 1543552"/>
              <a:gd name="connsiteX29" fmla="*/ 1169566 w 1543552"/>
              <a:gd name="connsiteY29" fmla="*/ 1134759 h 1543552"/>
              <a:gd name="connsiteX30" fmla="*/ 1114611 w 1543552"/>
              <a:gd name="connsiteY30" fmla="*/ 1218121 h 1543552"/>
              <a:gd name="connsiteX31" fmla="*/ 1117253 w 1543552"/>
              <a:gd name="connsiteY31" fmla="*/ 1279327 h 1543552"/>
              <a:gd name="connsiteX32" fmla="*/ 1183277 w 1543552"/>
              <a:gd name="connsiteY32" fmla="*/ 1340476 h 1543552"/>
              <a:gd name="connsiteX33" fmla="*/ 1378502 w 1543552"/>
              <a:gd name="connsiteY33" fmla="*/ 1340476 h 1543552"/>
              <a:gd name="connsiteX34" fmla="*/ 1444544 w 1543552"/>
              <a:gd name="connsiteY34" fmla="*/ 1279327 h 1543552"/>
              <a:gd name="connsiteX35" fmla="*/ 1458255 w 1543552"/>
              <a:gd name="connsiteY35" fmla="*/ 1068009 h 1543552"/>
              <a:gd name="connsiteX36" fmla="*/ 1491221 w 1543552"/>
              <a:gd name="connsiteY36" fmla="*/ 1062428 h 1543552"/>
              <a:gd name="connsiteX37" fmla="*/ 1543552 w 1543552"/>
              <a:gd name="connsiteY37" fmla="*/ 998358 h 1543552"/>
              <a:gd name="connsiteX38" fmla="*/ 1543552 w 1543552"/>
              <a:gd name="connsiteY38" fmla="*/ 784101 h 1543552"/>
              <a:gd name="connsiteX39" fmla="*/ 1345518 w 1543552"/>
              <a:gd name="connsiteY39" fmla="*/ 583964 h 1543552"/>
              <a:gd name="connsiteX40" fmla="*/ 855799 w 1543552"/>
              <a:gd name="connsiteY40" fmla="*/ 564486 h 1543552"/>
              <a:gd name="connsiteX41" fmla="*/ 682489 w 1543552"/>
              <a:gd name="connsiteY41" fmla="*/ 564486 h 1543552"/>
              <a:gd name="connsiteX42" fmla="*/ 437592 w 1543552"/>
              <a:gd name="connsiteY42" fmla="*/ 814797 h 1543552"/>
              <a:gd name="connsiteX43" fmla="*/ 437592 w 1543552"/>
              <a:gd name="connsiteY43" fmla="*/ 1098500 h 1543552"/>
              <a:gd name="connsiteX44" fmla="*/ 495263 w 1543552"/>
              <a:gd name="connsiteY44" fmla="*/ 1170850 h 1543552"/>
              <a:gd name="connsiteX45" fmla="*/ 547576 w 1543552"/>
              <a:gd name="connsiteY45" fmla="*/ 1182012 h 1543552"/>
              <a:gd name="connsiteX46" fmla="*/ 566831 w 1543552"/>
              <a:gd name="connsiteY46" fmla="*/ 1474087 h 1543552"/>
              <a:gd name="connsiteX47" fmla="*/ 641152 w 1543552"/>
              <a:gd name="connsiteY47" fmla="*/ 1543552 h 1543552"/>
              <a:gd name="connsiteX48" fmla="*/ 899741 w 1543552"/>
              <a:gd name="connsiteY48" fmla="*/ 1543552 h 1543552"/>
              <a:gd name="connsiteX49" fmla="*/ 974043 w 1543552"/>
              <a:gd name="connsiteY49" fmla="*/ 1474087 h 1543552"/>
              <a:gd name="connsiteX50" fmla="*/ 990656 w 1543552"/>
              <a:gd name="connsiteY50" fmla="*/ 1182012 h 1543552"/>
              <a:gd name="connsiteX51" fmla="*/ 1042894 w 1543552"/>
              <a:gd name="connsiteY51" fmla="*/ 1170850 h 1543552"/>
              <a:gd name="connsiteX52" fmla="*/ 1103579 w 1543552"/>
              <a:gd name="connsiteY52" fmla="*/ 1098500 h 1543552"/>
              <a:gd name="connsiteX53" fmla="*/ 1103579 w 1543552"/>
              <a:gd name="connsiteY53" fmla="*/ 814797 h 1543552"/>
              <a:gd name="connsiteX54" fmla="*/ 855762 w 1543552"/>
              <a:gd name="connsiteY54" fmla="*/ 564486 h 1543552"/>
              <a:gd name="connsiteX55" fmla="*/ 770502 w 1543552"/>
              <a:gd name="connsiteY55" fmla="*/ 500602 h 1543552"/>
              <a:gd name="connsiteX56" fmla="*/ 1018059 w 1543552"/>
              <a:gd name="connsiteY56" fmla="*/ 250292 h 1543552"/>
              <a:gd name="connsiteX57" fmla="*/ 770502 w 1543552"/>
              <a:gd name="connsiteY57" fmla="*/ 0 h 1543552"/>
              <a:gd name="connsiteX58" fmla="*/ 522963 w 1543552"/>
              <a:gd name="connsiteY58" fmla="*/ 250292 h 1543552"/>
              <a:gd name="connsiteX59" fmla="*/ 770502 w 1543552"/>
              <a:gd name="connsiteY59" fmla="*/ 500602 h 1543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543552" h="1543552">
                <a:moveTo>
                  <a:pt x="1279661" y="556208"/>
                </a:moveTo>
                <a:cubicBezTo>
                  <a:pt x="1386855" y="556208"/>
                  <a:pt x="1474998" y="467209"/>
                  <a:pt x="1474998" y="358750"/>
                </a:cubicBezTo>
                <a:cubicBezTo>
                  <a:pt x="1474998" y="250292"/>
                  <a:pt x="1387022" y="161348"/>
                  <a:pt x="1279661" y="161348"/>
                </a:cubicBezTo>
                <a:cubicBezTo>
                  <a:pt x="1172301" y="161348"/>
                  <a:pt x="1084325" y="250292"/>
                  <a:pt x="1084325" y="358750"/>
                </a:cubicBezTo>
                <a:cubicBezTo>
                  <a:pt x="1084325" y="467209"/>
                  <a:pt x="1172338" y="556189"/>
                  <a:pt x="1279661" y="556189"/>
                </a:cubicBezTo>
                <a:close/>
                <a:moveTo>
                  <a:pt x="261528" y="556208"/>
                </a:moveTo>
                <a:cubicBezTo>
                  <a:pt x="368908" y="556208"/>
                  <a:pt x="456865" y="467209"/>
                  <a:pt x="456865" y="358769"/>
                </a:cubicBezTo>
                <a:cubicBezTo>
                  <a:pt x="456865" y="250329"/>
                  <a:pt x="368926" y="161348"/>
                  <a:pt x="261528" y="161348"/>
                </a:cubicBezTo>
                <a:cubicBezTo>
                  <a:pt x="154130" y="161348"/>
                  <a:pt x="66210" y="250292"/>
                  <a:pt x="66210" y="358750"/>
                </a:cubicBezTo>
                <a:cubicBezTo>
                  <a:pt x="66210" y="467209"/>
                  <a:pt x="154242" y="556189"/>
                  <a:pt x="261435" y="556189"/>
                </a:cubicBezTo>
                <a:close/>
                <a:moveTo>
                  <a:pt x="371549" y="1134777"/>
                </a:moveTo>
                <a:lnTo>
                  <a:pt x="371549" y="795319"/>
                </a:lnTo>
                <a:cubicBezTo>
                  <a:pt x="371284" y="730905"/>
                  <a:pt x="392573" y="668254"/>
                  <a:pt x="432029" y="617339"/>
                </a:cubicBezTo>
                <a:cubicBezTo>
                  <a:pt x="401780" y="597861"/>
                  <a:pt x="366080" y="583946"/>
                  <a:pt x="324762" y="583946"/>
                </a:cubicBezTo>
                <a:lnTo>
                  <a:pt x="195486" y="583946"/>
                </a:lnTo>
                <a:cubicBezTo>
                  <a:pt x="88032" y="583946"/>
                  <a:pt x="0" y="672945"/>
                  <a:pt x="0" y="781385"/>
                </a:cubicBezTo>
                <a:lnTo>
                  <a:pt x="0" y="995623"/>
                </a:lnTo>
                <a:cubicBezTo>
                  <a:pt x="0" y="1026319"/>
                  <a:pt x="21989" y="1054094"/>
                  <a:pt x="52332" y="1059675"/>
                </a:cubicBezTo>
                <a:lnTo>
                  <a:pt x="85297" y="1065256"/>
                </a:lnTo>
                <a:lnTo>
                  <a:pt x="99027" y="1276573"/>
                </a:lnTo>
                <a:cubicBezTo>
                  <a:pt x="101713" y="1311030"/>
                  <a:pt x="130415" y="1337643"/>
                  <a:pt x="164976" y="1337723"/>
                </a:cubicBezTo>
                <a:lnTo>
                  <a:pt x="357560" y="1337723"/>
                </a:lnTo>
                <a:cubicBezTo>
                  <a:pt x="392138" y="1337647"/>
                  <a:pt x="420870" y="1311044"/>
                  <a:pt x="423602" y="1276573"/>
                </a:cubicBezTo>
                <a:lnTo>
                  <a:pt x="426244" y="1215386"/>
                </a:lnTo>
                <a:cubicBezTo>
                  <a:pt x="396162" y="1204224"/>
                  <a:pt x="371456" y="1170738"/>
                  <a:pt x="371456" y="1134703"/>
                </a:cubicBezTo>
                <a:close/>
                <a:moveTo>
                  <a:pt x="1345630" y="583983"/>
                </a:moveTo>
                <a:lnTo>
                  <a:pt x="1216261" y="583983"/>
                </a:lnTo>
                <a:cubicBezTo>
                  <a:pt x="1177658" y="583983"/>
                  <a:pt x="1139224" y="595145"/>
                  <a:pt x="1108974" y="617376"/>
                </a:cubicBezTo>
                <a:cubicBezTo>
                  <a:pt x="1148441" y="668286"/>
                  <a:pt x="1169767" y="730922"/>
                  <a:pt x="1169566" y="795338"/>
                </a:cubicBezTo>
                <a:lnTo>
                  <a:pt x="1169566" y="1134759"/>
                </a:lnTo>
                <a:cubicBezTo>
                  <a:pt x="1169447" y="1171000"/>
                  <a:pt x="1147872" y="1203728"/>
                  <a:pt x="1114611" y="1218121"/>
                </a:cubicBezTo>
                <a:lnTo>
                  <a:pt x="1117253" y="1279327"/>
                </a:lnTo>
                <a:cubicBezTo>
                  <a:pt x="1119958" y="1313803"/>
                  <a:pt x="1148694" y="1340418"/>
                  <a:pt x="1183277" y="1340476"/>
                </a:cubicBezTo>
                <a:lnTo>
                  <a:pt x="1378502" y="1340476"/>
                </a:lnTo>
                <a:cubicBezTo>
                  <a:pt x="1413088" y="1340418"/>
                  <a:pt x="1441830" y="1313806"/>
                  <a:pt x="1444544" y="1279327"/>
                </a:cubicBezTo>
                <a:lnTo>
                  <a:pt x="1458255" y="1068009"/>
                </a:lnTo>
                <a:lnTo>
                  <a:pt x="1491221" y="1062428"/>
                </a:lnTo>
                <a:cubicBezTo>
                  <a:pt x="1521470" y="1056847"/>
                  <a:pt x="1543552" y="1029072"/>
                  <a:pt x="1543552" y="998358"/>
                </a:cubicBezTo>
                <a:lnTo>
                  <a:pt x="1543552" y="784101"/>
                </a:lnTo>
                <a:cubicBezTo>
                  <a:pt x="1540985" y="672964"/>
                  <a:pt x="1452786" y="583964"/>
                  <a:pt x="1345518" y="583964"/>
                </a:cubicBezTo>
                <a:close/>
                <a:moveTo>
                  <a:pt x="855799" y="564486"/>
                </a:moveTo>
                <a:lnTo>
                  <a:pt x="682489" y="564486"/>
                </a:lnTo>
                <a:cubicBezTo>
                  <a:pt x="547594" y="564486"/>
                  <a:pt x="437592" y="675829"/>
                  <a:pt x="437592" y="814797"/>
                </a:cubicBezTo>
                <a:lnTo>
                  <a:pt x="437592" y="1098500"/>
                </a:lnTo>
                <a:cubicBezTo>
                  <a:pt x="437592" y="1134591"/>
                  <a:pt x="462297" y="1165250"/>
                  <a:pt x="495263" y="1170850"/>
                </a:cubicBezTo>
                <a:lnTo>
                  <a:pt x="547576" y="1182012"/>
                </a:lnTo>
                <a:lnTo>
                  <a:pt x="566831" y="1474087"/>
                </a:lnTo>
                <a:cubicBezTo>
                  <a:pt x="569745" y="1513058"/>
                  <a:pt x="602072" y="1543274"/>
                  <a:pt x="641152" y="1543552"/>
                </a:cubicBezTo>
                <a:lnTo>
                  <a:pt x="899741" y="1543552"/>
                </a:lnTo>
                <a:cubicBezTo>
                  <a:pt x="938795" y="1543220"/>
                  <a:pt x="971086" y="1513030"/>
                  <a:pt x="974043" y="1474087"/>
                </a:cubicBezTo>
                <a:lnTo>
                  <a:pt x="990656" y="1182012"/>
                </a:lnTo>
                <a:lnTo>
                  <a:pt x="1042894" y="1170850"/>
                </a:lnTo>
                <a:cubicBezTo>
                  <a:pt x="1075953" y="1165269"/>
                  <a:pt x="1103579" y="1131782"/>
                  <a:pt x="1103579" y="1098500"/>
                </a:cubicBezTo>
                <a:lnTo>
                  <a:pt x="1103579" y="814797"/>
                </a:lnTo>
                <a:cubicBezTo>
                  <a:pt x="1103319" y="678563"/>
                  <a:pt x="993391" y="564486"/>
                  <a:pt x="855762" y="564486"/>
                </a:cubicBezTo>
                <a:close/>
                <a:moveTo>
                  <a:pt x="770502" y="500602"/>
                </a:moveTo>
                <a:cubicBezTo>
                  <a:pt x="905396" y="500602"/>
                  <a:pt x="1018059" y="389260"/>
                  <a:pt x="1018059" y="250292"/>
                </a:cubicBezTo>
                <a:cubicBezTo>
                  <a:pt x="1018059" y="114058"/>
                  <a:pt x="908131" y="2735"/>
                  <a:pt x="770502" y="0"/>
                </a:cubicBezTo>
                <a:cubicBezTo>
                  <a:pt x="635608" y="0"/>
                  <a:pt x="525680" y="111361"/>
                  <a:pt x="522963" y="250292"/>
                </a:cubicBezTo>
                <a:cubicBezTo>
                  <a:pt x="525680" y="389260"/>
                  <a:pt x="635608" y="500602"/>
                  <a:pt x="770502" y="50060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5590154" y="1683692"/>
            <a:ext cx="49472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200" b="1" dirty="0">
                <a:solidFill>
                  <a:schemeClr val="accent1"/>
                </a:solidFill>
                <a:latin typeface="+mn-ea"/>
              </a:rPr>
              <a:t>读研规划</a:t>
            </a:r>
            <a:endParaRPr kumimoji="1" lang="en-US" altLang="zh-CN" sz="7200" b="1" dirty="0">
              <a:solidFill>
                <a:schemeClr val="accent1"/>
              </a:solidFill>
              <a:latin typeface="+mn-ea"/>
            </a:endParaRPr>
          </a:p>
          <a:p>
            <a:r>
              <a:rPr kumimoji="1" lang="en-GB" altLang="zh-CN" sz="3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Graduate Study Plan</a:t>
            </a:r>
            <a:endParaRPr kumimoji="1" lang="en-GB" altLang="zh-CN" sz="3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61" name="组合 60"/>
          <p:cNvGrpSpPr/>
          <p:nvPr/>
        </p:nvGrpSpPr>
        <p:grpSpPr>
          <a:xfrm flipH="1" flipV="1">
            <a:off x="11589615" y="6303377"/>
            <a:ext cx="451913" cy="440249"/>
            <a:chOff x="150471" y="92597"/>
            <a:chExt cx="451913" cy="440249"/>
          </a:xfrm>
        </p:grpSpPr>
        <p:sp>
          <p:nvSpPr>
            <p:cNvPr id="62" name="矩形 61"/>
            <p:cNvSpPr/>
            <p:nvPr/>
          </p:nvSpPr>
          <p:spPr>
            <a:xfrm>
              <a:off x="150471" y="92597"/>
              <a:ext cx="127321" cy="1273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312767" y="92597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475063" y="92597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150471" y="249061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312767" y="249061"/>
              <a:ext cx="127321" cy="12732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475063" y="249061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150471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312767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475063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" name="任意形状 23"/>
          <p:cNvSpPr/>
          <p:nvPr/>
        </p:nvSpPr>
        <p:spPr>
          <a:xfrm>
            <a:off x="834154" y="9018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0000">
                <a:schemeClr val="accent1">
                  <a:lumMod val="20000"/>
                  <a:lumOff val="80000"/>
                  <a:alpha val="2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5" name="任意形状 14"/>
          <p:cNvSpPr/>
          <p:nvPr/>
        </p:nvSpPr>
        <p:spPr>
          <a:xfrm>
            <a:off x="12922" y="0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50000">
                <a:schemeClr val="accent1">
                  <a:alpha val="95000"/>
                </a:schemeClr>
              </a:gs>
              <a:gs pos="99000">
                <a:schemeClr val="accent1">
                  <a:alpha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619207" y="2185691"/>
            <a:ext cx="2733593" cy="2486619"/>
            <a:chOff x="619207" y="2304350"/>
            <a:chExt cx="2733593" cy="2486619"/>
          </a:xfrm>
        </p:grpSpPr>
        <p:sp>
          <p:nvSpPr>
            <p:cNvPr id="26" name="文本框 25"/>
            <p:cNvSpPr txBox="1"/>
            <p:nvPr/>
          </p:nvSpPr>
          <p:spPr>
            <a:xfrm>
              <a:off x="755548" y="2304350"/>
              <a:ext cx="2470485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3800" b="1" dirty="0">
                  <a:solidFill>
                    <a:schemeClr val="bg1"/>
                  </a:solidFill>
                </a:rPr>
                <a:t>04</a:t>
              </a:r>
              <a:endParaRPr kumimoji="1" lang="zh-CN" altLang="en-US" sz="138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19207" y="4267749"/>
              <a:ext cx="27335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PART</a:t>
              </a:r>
              <a:r>
                <a:rPr kumimoji="1" lang="zh-CN" altLang="en-US" sz="28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FOUR</a:t>
              </a:r>
              <a:endParaRPr kumimoji="1"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cxnSp>
        <p:nvCxnSpPr>
          <p:cNvPr id="30" name="直线连接符 29"/>
          <p:cNvCxnSpPr/>
          <p:nvPr/>
        </p:nvCxnSpPr>
        <p:spPr>
          <a:xfrm>
            <a:off x="5834743" y="3773714"/>
            <a:ext cx="57548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431315" y="4149090"/>
            <a:ext cx="4610213" cy="1308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学术研究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职业发展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个人成长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-2" y="4506895"/>
            <a:ext cx="2703742" cy="921872"/>
            <a:chOff x="-2" y="1537960"/>
            <a:chExt cx="2703742" cy="921872"/>
          </a:xfrm>
        </p:grpSpPr>
        <p:sp>
          <p:nvSpPr>
            <p:cNvPr id="10" name="矩形 9"/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24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图形 15"/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tx1"/>
          </a:solidFill>
        </p:grpSpPr>
        <p:sp>
          <p:nvSpPr>
            <p:cNvPr id="21" name="任意形状 20"/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/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/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/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/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930466" y="212442"/>
            <a:ext cx="467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职业发展</a:t>
            </a:r>
            <a:r>
              <a:rPr kumimoji="1" lang="en-US" altLang="zh-CN" sz="2400" b="1" dirty="0"/>
              <a:t>/</a:t>
            </a:r>
            <a:r>
              <a:rPr kumimoji="1" lang="zh-CN" altLang="en-US" sz="2400" b="1" dirty="0"/>
              <a:t>个人成长</a:t>
            </a:r>
            <a:endParaRPr kumimoji="1" lang="zh-CN" altLang="en-US" sz="2400" b="1" dirty="0"/>
          </a:p>
        </p:txBody>
      </p:sp>
      <p:cxnSp>
        <p:nvCxnSpPr>
          <p:cNvPr id="31" name="直线连接符 30"/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/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/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/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/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7297681" y="1051575"/>
            <a:ext cx="2079915" cy="453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36405A"/>
                </a:solidFill>
                <a:cs typeface="+mn-ea"/>
                <a:sym typeface="+mn-lt"/>
              </a:rPr>
              <a:t>短期 · 研一</a:t>
            </a:r>
            <a:endParaRPr lang="en-US" altLang="zh-CN" sz="2000" b="1" dirty="0">
              <a:solidFill>
                <a:srgbClr val="36405A"/>
              </a:solidFill>
              <a:cs typeface="+mn-ea"/>
              <a:sym typeface="+mn-lt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2999016" y="1832077"/>
            <a:ext cx="4190222" cy="3664722"/>
            <a:chOff x="2760804" y="1620735"/>
            <a:chExt cx="4775677" cy="4176754"/>
          </a:xfrm>
        </p:grpSpPr>
        <p:sp>
          <p:nvSpPr>
            <p:cNvPr id="25" name="弧形 7"/>
            <p:cNvSpPr/>
            <p:nvPr/>
          </p:nvSpPr>
          <p:spPr>
            <a:xfrm>
              <a:off x="2760804" y="1620735"/>
              <a:ext cx="4114745" cy="4176754"/>
            </a:xfrm>
            <a:prstGeom prst="arc">
              <a:avLst>
                <a:gd name="adj1" fmla="val 16200000"/>
                <a:gd name="adj2" fmla="val 5350457"/>
              </a:avLst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3066518" y="2084357"/>
              <a:ext cx="4469963" cy="3301273"/>
              <a:chOff x="3066518" y="2084357"/>
              <a:chExt cx="4469963" cy="3301273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6433292" y="2375313"/>
                <a:ext cx="1103189" cy="2754288"/>
                <a:chOff x="3821797" y="2640921"/>
                <a:chExt cx="2287344" cy="2754288"/>
              </a:xfrm>
            </p:grpSpPr>
            <p:cxnSp>
              <p:nvCxnSpPr>
                <p:cNvPr id="14" name="直接连接符 1"/>
                <p:cNvCxnSpPr/>
                <p:nvPr/>
              </p:nvCxnSpPr>
              <p:spPr>
                <a:xfrm>
                  <a:off x="3821797" y="5395209"/>
                  <a:ext cx="2287344" cy="0"/>
                </a:xfrm>
                <a:prstGeom prst="line">
                  <a:avLst/>
                </a:prstGeom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2"/>
                <p:cNvCxnSpPr/>
                <p:nvPr/>
              </p:nvCxnSpPr>
              <p:spPr>
                <a:xfrm flipV="1">
                  <a:off x="4604930" y="3992044"/>
                  <a:ext cx="1504211" cy="1"/>
                </a:xfrm>
                <a:prstGeom prst="line">
                  <a:avLst/>
                </a:prstGeom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3"/>
                <p:cNvCxnSpPr/>
                <p:nvPr/>
              </p:nvCxnSpPr>
              <p:spPr>
                <a:xfrm>
                  <a:off x="3821797" y="2640921"/>
                  <a:ext cx="2287344" cy="0"/>
                </a:xfrm>
                <a:prstGeom prst="line">
                  <a:avLst/>
                </a:prstGeom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椭圆 25"/>
              <p:cNvSpPr/>
              <p:nvPr/>
            </p:nvSpPr>
            <p:spPr>
              <a:xfrm>
                <a:off x="3066518" y="2084357"/>
                <a:ext cx="3221332" cy="3269877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2540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190500" dist="50800" dir="2700000" algn="tl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3560223" y="2598156"/>
                <a:ext cx="2241148" cy="2274923"/>
              </a:xfrm>
              <a:prstGeom prst="ellipse">
                <a:avLst/>
              </a:prstGeom>
              <a:solidFill>
                <a:schemeClr val="accent1"/>
              </a:solidFill>
              <a:ln w="19050"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6176604" y="2085914"/>
                <a:ext cx="545428" cy="545428"/>
                <a:chOff x="3727114" y="2487227"/>
                <a:chExt cx="545428" cy="545428"/>
              </a:xfrm>
            </p:grpSpPr>
            <p:sp>
              <p:nvSpPr>
                <p:cNvPr id="39" name="椭圆 38"/>
                <p:cNvSpPr/>
                <p:nvPr/>
              </p:nvSpPr>
              <p:spPr>
                <a:xfrm>
                  <a:off x="3727114" y="2487227"/>
                  <a:ext cx="545428" cy="545428"/>
                </a:xfrm>
                <a:prstGeom prst="ellipse">
                  <a:avLst/>
                </a:prstGeom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</a:gradFill>
                <a:ln w="19050">
                  <a:gradFill>
                    <a:gsLst>
                      <a:gs pos="0">
                        <a:schemeClr val="bg1"/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</a:gradFill>
                </a:ln>
                <a:effectLst>
                  <a:outerShdw blurRad="190500" dist="50800" dir="2700000" algn="tl" rotWithShape="0">
                    <a:prstClr val="black">
                      <a:alpha val="34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>
                  <a:off x="3828496" y="2586027"/>
                  <a:ext cx="342664" cy="347828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1" name="组合 40"/>
              <p:cNvGrpSpPr/>
              <p:nvPr/>
            </p:nvGrpSpPr>
            <p:grpSpPr>
              <a:xfrm>
                <a:off x="6650178" y="3463058"/>
                <a:ext cx="545428" cy="545428"/>
                <a:chOff x="3727114" y="2487227"/>
                <a:chExt cx="545428" cy="545428"/>
              </a:xfrm>
            </p:grpSpPr>
            <p:sp>
              <p:nvSpPr>
                <p:cNvPr id="42" name="椭圆 41"/>
                <p:cNvSpPr/>
                <p:nvPr/>
              </p:nvSpPr>
              <p:spPr>
                <a:xfrm>
                  <a:off x="3727114" y="2487227"/>
                  <a:ext cx="545428" cy="545428"/>
                </a:xfrm>
                <a:prstGeom prst="ellipse">
                  <a:avLst/>
                </a:prstGeom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</a:gradFill>
                <a:ln w="19050">
                  <a:gradFill>
                    <a:gsLst>
                      <a:gs pos="0">
                        <a:schemeClr val="bg1"/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</a:gradFill>
                </a:ln>
                <a:effectLst>
                  <a:outerShdw blurRad="190500" dist="50800" dir="2700000" algn="tl" rotWithShape="0">
                    <a:prstClr val="black">
                      <a:alpha val="34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椭圆 42"/>
                <p:cNvSpPr/>
                <p:nvPr/>
              </p:nvSpPr>
              <p:spPr>
                <a:xfrm>
                  <a:off x="3828496" y="2586027"/>
                  <a:ext cx="342664" cy="347828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6075222" y="4840202"/>
                <a:ext cx="545428" cy="545428"/>
                <a:chOff x="3727114" y="2487227"/>
                <a:chExt cx="545428" cy="545428"/>
              </a:xfrm>
            </p:grpSpPr>
            <p:sp>
              <p:nvSpPr>
                <p:cNvPr id="45" name="椭圆 44"/>
                <p:cNvSpPr/>
                <p:nvPr/>
              </p:nvSpPr>
              <p:spPr>
                <a:xfrm>
                  <a:off x="3727114" y="2487227"/>
                  <a:ext cx="545428" cy="545428"/>
                </a:xfrm>
                <a:prstGeom prst="ellipse">
                  <a:avLst/>
                </a:prstGeom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</a:gradFill>
                <a:ln w="19050">
                  <a:gradFill>
                    <a:gsLst>
                      <a:gs pos="0">
                        <a:schemeClr val="bg1"/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</a:gradFill>
                </a:ln>
                <a:effectLst>
                  <a:outerShdw blurRad="190500" dist="50800" dir="2700000" algn="tl" rotWithShape="0">
                    <a:prstClr val="black">
                      <a:alpha val="34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3828496" y="2586027"/>
                  <a:ext cx="342664" cy="347828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47" name="矩形 47"/>
          <p:cNvSpPr>
            <a:spLocks noChangeArrowheads="1"/>
          </p:cNvSpPr>
          <p:nvPr/>
        </p:nvSpPr>
        <p:spPr bwMode="auto">
          <a:xfrm>
            <a:off x="7297681" y="1552009"/>
            <a:ext cx="4658497" cy="110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夯实理论基础与科研方法论，快速融入课题组，将已有工程能力转化为科研生产力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718226" y="2909316"/>
            <a:ext cx="1942638" cy="453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36405A"/>
                </a:solidFill>
                <a:cs typeface="+mn-ea"/>
                <a:sym typeface="+mn-lt"/>
              </a:rPr>
              <a:t>中期 · 研二</a:t>
            </a:r>
            <a:endParaRPr lang="en-US" altLang="zh-CN" sz="2000" b="1" dirty="0">
              <a:solidFill>
                <a:srgbClr val="36405A"/>
              </a:solidFill>
              <a:cs typeface="+mn-ea"/>
              <a:sym typeface="+mn-lt"/>
            </a:endParaRPr>
          </a:p>
        </p:txBody>
      </p:sp>
      <p:sp>
        <p:nvSpPr>
          <p:cNvPr id="51" name="矩形 47"/>
          <p:cNvSpPr>
            <a:spLocks noChangeArrowheads="1"/>
          </p:cNvSpPr>
          <p:nvPr/>
        </p:nvSpPr>
        <p:spPr bwMode="auto">
          <a:xfrm>
            <a:off x="7718226" y="3409750"/>
            <a:ext cx="4178499" cy="110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围绕大模型与智能体方向深入课题研究，力争产出论文与专利成果，参加学术会议开阔视野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297681" y="4804182"/>
            <a:ext cx="2079915" cy="453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36405A"/>
                </a:solidFill>
                <a:cs typeface="+mn-ea"/>
                <a:sym typeface="+mn-lt"/>
              </a:rPr>
              <a:t>长期发展</a:t>
            </a:r>
            <a:endParaRPr lang="en-US" altLang="zh-CN" sz="2000" b="1" dirty="0">
              <a:solidFill>
                <a:srgbClr val="36405A"/>
              </a:solidFill>
              <a:cs typeface="+mn-ea"/>
              <a:sym typeface="+mn-lt"/>
            </a:endParaRPr>
          </a:p>
        </p:txBody>
      </p:sp>
      <p:sp>
        <p:nvSpPr>
          <p:cNvPr id="53" name="矩形 47"/>
          <p:cNvSpPr>
            <a:spLocks noChangeArrowheads="1"/>
          </p:cNvSpPr>
          <p:nvPr/>
        </p:nvSpPr>
        <p:spPr bwMode="auto">
          <a:xfrm>
            <a:off x="7297681" y="5304616"/>
            <a:ext cx="4658497" cy="110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9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9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9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成为兼具研究能力与工程落地能力的研究者，考虑攻读博士或进入大模型领域核心团队，服务国家关键领域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pic>
        <p:nvPicPr>
          <p:cNvPr id="55" name="图形 5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7670" y="2937048"/>
            <a:ext cx="1545589" cy="1545589"/>
          </a:xfrm>
          <a:prstGeom prst="rect">
            <a:avLst/>
          </a:prstGeom>
        </p:spPr>
      </p:pic>
      <p:pic>
        <p:nvPicPr>
          <p:cNvPr id="2" name="图片 1" descr="98d61c143a731564a1cc983e69d034a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35405"/>
            <a:ext cx="3507105" cy="4676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1" grpId="0"/>
      <p:bldP spid="5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2104571"/>
            <a:ext cx="12192000" cy="2365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63450" y="2610476"/>
            <a:ext cx="11665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恳请各位老师批评指正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76428" y="3626139"/>
            <a:ext cx="11439144" cy="470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criticize and correct me, teachers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1127878" y="4238625"/>
            <a:ext cx="993624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76428" y="4626864"/>
            <a:ext cx="1143914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+mn-ea"/>
              </a:rPr>
              <a:t>武汉科技大学计算机科学与技术学院 · 2023 级</a:t>
            </a:r>
            <a:endParaRPr kumimoji="1" lang="en-US" altLang="zh-CN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150471" y="150470"/>
            <a:ext cx="451913" cy="440249"/>
            <a:chOff x="150471" y="92597"/>
            <a:chExt cx="451913" cy="440249"/>
          </a:xfrm>
        </p:grpSpPr>
        <p:sp>
          <p:nvSpPr>
            <p:cNvPr id="54" name="矩形 53"/>
            <p:cNvSpPr/>
            <p:nvPr/>
          </p:nvSpPr>
          <p:spPr>
            <a:xfrm>
              <a:off x="150471" y="92597"/>
              <a:ext cx="127321" cy="1273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312767" y="92597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475063" y="92597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150471" y="249061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312767" y="249061"/>
              <a:ext cx="127321" cy="12732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475063" y="249061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150471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>
              <a:off x="312767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475063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65" name="组合 64"/>
          <p:cNvGrpSpPr/>
          <p:nvPr/>
        </p:nvGrpSpPr>
        <p:grpSpPr>
          <a:xfrm flipH="1" flipV="1">
            <a:off x="11589615" y="6303377"/>
            <a:ext cx="451913" cy="440249"/>
            <a:chOff x="150471" y="92597"/>
            <a:chExt cx="451913" cy="440249"/>
          </a:xfrm>
        </p:grpSpPr>
        <p:sp>
          <p:nvSpPr>
            <p:cNvPr id="66" name="矩形 65"/>
            <p:cNvSpPr/>
            <p:nvPr/>
          </p:nvSpPr>
          <p:spPr>
            <a:xfrm>
              <a:off x="150471" y="92597"/>
              <a:ext cx="127321" cy="1273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312767" y="92597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475063" y="92597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150471" y="249061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312767" y="249061"/>
              <a:ext cx="127321" cy="12732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475063" y="249061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2" name="矩形 71"/>
            <p:cNvSpPr/>
            <p:nvPr/>
          </p:nvSpPr>
          <p:spPr>
            <a:xfrm>
              <a:off x="150471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312767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475063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1596623" y="5537460"/>
            <a:ext cx="184489" cy="229500"/>
            <a:chOff x="5445442" y="2719746"/>
            <a:chExt cx="1140396" cy="1418627"/>
          </a:xfrm>
          <a:solidFill>
            <a:schemeClr val="accent1"/>
          </a:solidFill>
        </p:grpSpPr>
        <p:sp>
          <p:nvSpPr>
            <p:cNvPr id="78" name="任意形状 77"/>
            <p:cNvSpPr/>
            <p:nvPr/>
          </p:nvSpPr>
          <p:spPr>
            <a:xfrm>
              <a:off x="5445442" y="3497341"/>
              <a:ext cx="1140396" cy="641032"/>
            </a:xfrm>
            <a:custGeom>
              <a:avLst/>
              <a:gdLst>
                <a:gd name="connsiteX0" fmla="*/ 1075134 w 1140396"/>
                <a:gd name="connsiteY0" fmla="*/ 161925 h 641032"/>
                <a:gd name="connsiteX1" fmla="*/ 841772 w 1140396"/>
                <a:gd name="connsiteY1" fmla="*/ 0 h 641032"/>
                <a:gd name="connsiteX2" fmla="*/ 636984 w 1140396"/>
                <a:gd name="connsiteY2" fmla="*/ 119301 h 641032"/>
                <a:gd name="connsiteX3" fmla="*/ 637223 w 1140396"/>
                <a:gd name="connsiteY3" fmla="*/ 119539 h 641032"/>
                <a:gd name="connsiteX4" fmla="*/ 604123 w 1140396"/>
                <a:gd name="connsiteY4" fmla="*/ 152638 h 641032"/>
                <a:gd name="connsiteX5" fmla="*/ 636984 w 1140396"/>
                <a:gd name="connsiteY5" fmla="*/ 252889 h 641032"/>
                <a:gd name="connsiteX6" fmla="*/ 570548 w 1140396"/>
                <a:gd name="connsiteY6" fmla="*/ 604361 h 641032"/>
                <a:gd name="connsiteX7" fmla="*/ 504111 w 1140396"/>
                <a:gd name="connsiteY7" fmla="*/ 252889 h 641032"/>
                <a:gd name="connsiteX8" fmla="*/ 536972 w 1140396"/>
                <a:gd name="connsiteY8" fmla="*/ 152638 h 641032"/>
                <a:gd name="connsiteX9" fmla="*/ 503873 w 1140396"/>
                <a:gd name="connsiteY9" fmla="*/ 119539 h 641032"/>
                <a:gd name="connsiteX10" fmla="*/ 504111 w 1140396"/>
                <a:gd name="connsiteY10" fmla="*/ 119301 h 641032"/>
                <a:gd name="connsiteX11" fmla="*/ 299323 w 1140396"/>
                <a:gd name="connsiteY11" fmla="*/ 0 h 641032"/>
                <a:gd name="connsiteX12" fmla="*/ 65723 w 1140396"/>
                <a:gd name="connsiteY12" fmla="*/ 162401 h 641032"/>
                <a:gd name="connsiteX13" fmla="*/ 0 w 1140396"/>
                <a:gd name="connsiteY13" fmla="*/ 326708 h 641032"/>
                <a:gd name="connsiteX14" fmla="*/ 0 w 1140396"/>
                <a:gd name="connsiteY14" fmla="*/ 527209 h 641032"/>
                <a:gd name="connsiteX15" fmla="*/ 113824 w 1140396"/>
                <a:gd name="connsiteY15" fmla="*/ 641033 h 641032"/>
                <a:gd name="connsiteX16" fmla="*/ 1026557 w 1140396"/>
                <a:gd name="connsiteY16" fmla="*/ 641033 h 641032"/>
                <a:gd name="connsiteX17" fmla="*/ 1140381 w 1140396"/>
                <a:gd name="connsiteY17" fmla="*/ 527209 h 641032"/>
                <a:gd name="connsiteX18" fmla="*/ 1140381 w 1140396"/>
                <a:gd name="connsiteY18" fmla="*/ 326469 h 641032"/>
                <a:gd name="connsiteX19" fmla="*/ 1075134 w 1140396"/>
                <a:gd name="connsiteY19" fmla="*/ 161925 h 64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40396" h="641032">
                  <a:moveTo>
                    <a:pt x="1075134" y="161925"/>
                  </a:moveTo>
                  <a:cubicBezTo>
                    <a:pt x="1009311" y="92475"/>
                    <a:pt x="929868" y="37351"/>
                    <a:pt x="841772" y="0"/>
                  </a:cubicBezTo>
                  <a:cubicBezTo>
                    <a:pt x="789227" y="62094"/>
                    <a:pt x="716917" y="104219"/>
                    <a:pt x="636984" y="119301"/>
                  </a:cubicBezTo>
                  <a:lnTo>
                    <a:pt x="637223" y="119539"/>
                  </a:lnTo>
                  <a:lnTo>
                    <a:pt x="604123" y="152638"/>
                  </a:lnTo>
                  <a:lnTo>
                    <a:pt x="636984" y="252889"/>
                  </a:lnTo>
                  <a:lnTo>
                    <a:pt x="570548" y="604361"/>
                  </a:lnTo>
                  <a:lnTo>
                    <a:pt x="504111" y="252889"/>
                  </a:lnTo>
                  <a:lnTo>
                    <a:pt x="536972" y="152638"/>
                  </a:lnTo>
                  <a:lnTo>
                    <a:pt x="503873" y="119539"/>
                  </a:lnTo>
                  <a:lnTo>
                    <a:pt x="504111" y="119301"/>
                  </a:lnTo>
                  <a:cubicBezTo>
                    <a:pt x="422672" y="103822"/>
                    <a:pt x="350996" y="60960"/>
                    <a:pt x="299323" y="0"/>
                  </a:cubicBezTo>
                  <a:cubicBezTo>
                    <a:pt x="211117" y="37494"/>
                    <a:pt x="131593" y="92779"/>
                    <a:pt x="65723" y="162401"/>
                  </a:cubicBezTo>
                  <a:cubicBezTo>
                    <a:pt x="23543" y="206708"/>
                    <a:pt x="12" y="265534"/>
                    <a:pt x="0" y="326708"/>
                  </a:cubicBezTo>
                  <a:lnTo>
                    <a:pt x="0" y="527209"/>
                  </a:lnTo>
                  <a:cubicBezTo>
                    <a:pt x="0" y="590072"/>
                    <a:pt x="50961" y="641033"/>
                    <a:pt x="113824" y="641033"/>
                  </a:cubicBezTo>
                  <a:lnTo>
                    <a:pt x="1026557" y="641033"/>
                  </a:lnTo>
                  <a:cubicBezTo>
                    <a:pt x="1089420" y="641033"/>
                    <a:pt x="1140381" y="590072"/>
                    <a:pt x="1140381" y="527209"/>
                  </a:cubicBezTo>
                  <a:lnTo>
                    <a:pt x="1140381" y="326469"/>
                  </a:lnTo>
                  <a:cubicBezTo>
                    <a:pt x="1141095" y="265033"/>
                    <a:pt x="1117283" y="206216"/>
                    <a:pt x="1075134" y="16192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形状 78"/>
            <p:cNvSpPr/>
            <p:nvPr/>
          </p:nvSpPr>
          <p:spPr>
            <a:xfrm>
              <a:off x="5496758" y="2719746"/>
              <a:ext cx="1039117" cy="818076"/>
            </a:xfrm>
            <a:custGeom>
              <a:avLst/>
              <a:gdLst>
                <a:gd name="connsiteX0" fmla="*/ 18931 w 1039117"/>
                <a:gd name="connsiteY0" fmla="*/ 245386 h 818076"/>
                <a:gd name="connsiteX1" fmla="*/ 185380 w 1039117"/>
                <a:gd name="connsiteY1" fmla="*/ 313014 h 818076"/>
                <a:gd name="connsiteX2" fmla="*/ 185380 w 1039117"/>
                <a:gd name="connsiteY2" fmla="*/ 400406 h 818076"/>
                <a:gd name="connsiteX3" fmla="*/ 244912 w 1039117"/>
                <a:gd name="connsiteY3" fmla="*/ 497561 h 818076"/>
                <a:gd name="connsiteX4" fmla="*/ 250627 w 1039117"/>
                <a:gd name="connsiteY4" fmla="*/ 500418 h 818076"/>
                <a:gd name="connsiteX5" fmla="*/ 250627 w 1039117"/>
                <a:gd name="connsiteY5" fmla="*/ 549234 h 818076"/>
                <a:gd name="connsiteX6" fmla="*/ 519470 w 1039117"/>
                <a:gd name="connsiteY6" fmla="*/ 818077 h 818076"/>
                <a:gd name="connsiteX7" fmla="*/ 788313 w 1039117"/>
                <a:gd name="connsiteY7" fmla="*/ 549234 h 818076"/>
                <a:gd name="connsiteX8" fmla="*/ 788313 w 1039117"/>
                <a:gd name="connsiteY8" fmla="*/ 500418 h 818076"/>
                <a:gd name="connsiteX9" fmla="*/ 794028 w 1039117"/>
                <a:gd name="connsiteY9" fmla="*/ 497561 h 818076"/>
                <a:gd name="connsiteX10" fmla="*/ 853559 w 1039117"/>
                <a:gd name="connsiteY10" fmla="*/ 400406 h 818076"/>
                <a:gd name="connsiteX11" fmla="*/ 853559 w 1039117"/>
                <a:gd name="connsiteY11" fmla="*/ 313014 h 818076"/>
                <a:gd name="connsiteX12" fmla="*/ 1020009 w 1039117"/>
                <a:gd name="connsiteY12" fmla="*/ 245386 h 818076"/>
                <a:gd name="connsiteX13" fmla="*/ 1020009 w 1039117"/>
                <a:gd name="connsiteY13" fmla="*/ 188713 h 818076"/>
                <a:gd name="connsiteX14" fmla="*/ 590907 w 1039117"/>
                <a:gd name="connsiteY14" fmla="*/ 13929 h 818076"/>
                <a:gd name="connsiteX15" fmla="*/ 448270 w 1039117"/>
                <a:gd name="connsiteY15" fmla="*/ 13929 h 818076"/>
                <a:gd name="connsiteX16" fmla="*/ 18931 w 1039117"/>
                <a:gd name="connsiteY16" fmla="*/ 188713 h 818076"/>
                <a:gd name="connsiteX17" fmla="*/ 18931 w 1039117"/>
                <a:gd name="connsiteY17" fmla="*/ 245386 h 818076"/>
                <a:gd name="connsiteX18" fmla="*/ 789980 w 1039117"/>
                <a:gd name="connsiteY18" fmla="*/ 400406 h 818076"/>
                <a:gd name="connsiteX19" fmla="*/ 765215 w 1039117"/>
                <a:gd name="connsiteY19" fmla="*/ 440887 h 818076"/>
                <a:gd name="connsiteX20" fmla="*/ 519470 w 1039117"/>
                <a:gd name="connsiteY20" fmla="*/ 505419 h 818076"/>
                <a:gd name="connsiteX21" fmla="*/ 273725 w 1039117"/>
                <a:gd name="connsiteY21" fmla="*/ 440887 h 818076"/>
                <a:gd name="connsiteX22" fmla="*/ 248960 w 1039117"/>
                <a:gd name="connsiteY22" fmla="*/ 400644 h 818076"/>
                <a:gd name="connsiteX23" fmla="*/ 248960 w 1039117"/>
                <a:gd name="connsiteY23" fmla="*/ 339208 h 818076"/>
                <a:gd name="connsiteX24" fmla="*/ 448032 w 1039117"/>
                <a:gd name="connsiteY24" fmla="*/ 420408 h 818076"/>
                <a:gd name="connsiteX25" fmla="*/ 590669 w 1039117"/>
                <a:gd name="connsiteY25" fmla="*/ 420408 h 818076"/>
                <a:gd name="connsiteX26" fmla="*/ 789742 w 1039117"/>
                <a:gd name="connsiteY26" fmla="*/ 339208 h 818076"/>
                <a:gd name="connsiteX27" fmla="*/ 789742 w 1039117"/>
                <a:gd name="connsiteY27" fmla="*/ 400406 h 818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39117" h="818076">
                  <a:moveTo>
                    <a:pt x="18931" y="245386"/>
                  </a:moveTo>
                  <a:lnTo>
                    <a:pt x="185380" y="313014"/>
                  </a:lnTo>
                  <a:lnTo>
                    <a:pt x="185380" y="400406"/>
                  </a:lnTo>
                  <a:cubicBezTo>
                    <a:pt x="185380" y="441601"/>
                    <a:pt x="208240" y="478987"/>
                    <a:pt x="244912" y="497561"/>
                  </a:cubicBezTo>
                  <a:cubicBezTo>
                    <a:pt x="246578" y="498513"/>
                    <a:pt x="248960" y="499466"/>
                    <a:pt x="250627" y="500418"/>
                  </a:cubicBezTo>
                  <a:lnTo>
                    <a:pt x="250627" y="549234"/>
                  </a:lnTo>
                  <a:cubicBezTo>
                    <a:pt x="250627" y="697586"/>
                    <a:pt x="370880" y="818077"/>
                    <a:pt x="519470" y="818077"/>
                  </a:cubicBezTo>
                  <a:cubicBezTo>
                    <a:pt x="668060" y="818077"/>
                    <a:pt x="788313" y="697824"/>
                    <a:pt x="788313" y="549234"/>
                  </a:cubicBezTo>
                  <a:lnTo>
                    <a:pt x="788313" y="500418"/>
                  </a:lnTo>
                  <a:cubicBezTo>
                    <a:pt x="790218" y="499466"/>
                    <a:pt x="792361" y="498513"/>
                    <a:pt x="794028" y="497561"/>
                  </a:cubicBezTo>
                  <a:cubicBezTo>
                    <a:pt x="830699" y="478987"/>
                    <a:pt x="853559" y="441601"/>
                    <a:pt x="853559" y="400406"/>
                  </a:cubicBezTo>
                  <a:lnTo>
                    <a:pt x="853559" y="313014"/>
                  </a:lnTo>
                  <a:lnTo>
                    <a:pt x="1020009" y="245386"/>
                  </a:lnTo>
                  <a:cubicBezTo>
                    <a:pt x="1045488" y="235147"/>
                    <a:pt x="1045488" y="199190"/>
                    <a:pt x="1020009" y="188713"/>
                  </a:cubicBezTo>
                  <a:lnTo>
                    <a:pt x="590907" y="13929"/>
                  </a:lnTo>
                  <a:cubicBezTo>
                    <a:pt x="545175" y="-4643"/>
                    <a:pt x="494002" y="-4643"/>
                    <a:pt x="448270" y="13929"/>
                  </a:cubicBezTo>
                  <a:lnTo>
                    <a:pt x="18931" y="188713"/>
                  </a:lnTo>
                  <a:cubicBezTo>
                    <a:pt x="-6310" y="199190"/>
                    <a:pt x="-6310" y="235147"/>
                    <a:pt x="18931" y="245386"/>
                  </a:cubicBezTo>
                  <a:close/>
                  <a:moveTo>
                    <a:pt x="789980" y="400406"/>
                  </a:moveTo>
                  <a:cubicBezTo>
                    <a:pt x="789980" y="417551"/>
                    <a:pt x="780455" y="433029"/>
                    <a:pt x="765215" y="440887"/>
                  </a:cubicBezTo>
                  <a:cubicBezTo>
                    <a:pt x="718066" y="464938"/>
                    <a:pt x="623292" y="505419"/>
                    <a:pt x="519470" y="505419"/>
                  </a:cubicBezTo>
                  <a:cubicBezTo>
                    <a:pt x="415647" y="505419"/>
                    <a:pt x="321112" y="464938"/>
                    <a:pt x="273725" y="440887"/>
                  </a:cubicBezTo>
                  <a:cubicBezTo>
                    <a:pt x="258485" y="433267"/>
                    <a:pt x="248960" y="417551"/>
                    <a:pt x="248960" y="400644"/>
                  </a:cubicBezTo>
                  <a:lnTo>
                    <a:pt x="248960" y="339208"/>
                  </a:lnTo>
                  <a:lnTo>
                    <a:pt x="448032" y="420408"/>
                  </a:lnTo>
                  <a:cubicBezTo>
                    <a:pt x="493752" y="438982"/>
                    <a:pt x="544949" y="438982"/>
                    <a:pt x="590669" y="420408"/>
                  </a:cubicBezTo>
                  <a:lnTo>
                    <a:pt x="789742" y="339208"/>
                  </a:lnTo>
                  <a:lnTo>
                    <a:pt x="789742" y="400406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1781112" y="5467544"/>
            <a:ext cx="2308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面试学生：陈飞扬</a:t>
            </a:r>
            <a:endParaRPr kumimoji="1"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84" name="图形 82"/>
          <p:cNvSpPr/>
          <p:nvPr/>
        </p:nvSpPr>
        <p:spPr>
          <a:xfrm>
            <a:off x="4435166" y="5526511"/>
            <a:ext cx="241068" cy="251399"/>
          </a:xfrm>
          <a:custGeom>
            <a:avLst/>
            <a:gdLst>
              <a:gd name="connsiteX0" fmla="*/ 213405 w 1562695"/>
              <a:gd name="connsiteY0" fmla="*/ 1338809 h 1629667"/>
              <a:gd name="connsiteX1" fmla="*/ 111316 w 1562695"/>
              <a:gd name="connsiteY1" fmla="*/ 1428633 h 1629667"/>
              <a:gd name="connsiteX2" fmla="*/ 211688 w 1562695"/>
              <a:gd name="connsiteY2" fmla="*/ 1518445 h 1629667"/>
              <a:gd name="connsiteX3" fmla="*/ 213405 w 1562695"/>
              <a:gd name="connsiteY3" fmla="*/ 1518456 h 1629667"/>
              <a:gd name="connsiteX4" fmla="*/ 1507037 w 1562695"/>
              <a:gd name="connsiteY4" fmla="*/ 1518456 h 1629667"/>
              <a:gd name="connsiteX5" fmla="*/ 1562695 w 1562695"/>
              <a:gd name="connsiteY5" fmla="*/ 1574062 h 1629667"/>
              <a:gd name="connsiteX6" fmla="*/ 1508351 w 1562695"/>
              <a:gd name="connsiteY6" fmla="*/ 1629653 h 1629667"/>
              <a:gd name="connsiteX7" fmla="*/ 1507037 w 1562695"/>
              <a:gd name="connsiteY7" fmla="*/ 1629668 h 1629667"/>
              <a:gd name="connsiteX8" fmla="*/ 213405 w 1562695"/>
              <a:gd name="connsiteY8" fmla="*/ 1629668 h 1629667"/>
              <a:gd name="connsiteX9" fmla="*/ 0 w 1562695"/>
              <a:gd name="connsiteY9" fmla="*/ 1428633 h 1629667"/>
              <a:gd name="connsiteX10" fmla="*/ 49264 w 1562695"/>
              <a:gd name="connsiteY10" fmla="*/ 1300070 h 1629667"/>
              <a:gd name="connsiteX11" fmla="*/ 0 w 1562695"/>
              <a:gd name="connsiteY11" fmla="*/ 1189100 h 1629667"/>
              <a:gd name="connsiteX12" fmla="*/ 0 w 1562695"/>
              <a:gd name="connsiteY12" fmla="*/ 149706 h 1629667"/>
              <a:gd name="connsiteX13" fmla="*/ 149848 w 1562695"/>
              <a:gd name="connsiteY13" fmla="*/ 0 h 1629667"/>
              <a:gd name="connsiteX14" fmla="*/ 372478 w 1562695"/>
              <a:gd name="connsiteY14" fmla="*/ 0 h 1629667"/>
              <a:gd name="connsiteX15" fmla="*/ 372478 w 1562695"/>
              <a:gd name="connsiteY15" fmla="*/ 524601 h 1629667"/>
              <a:gd name="connsiteX16" fmla="*/ 372493 w 1562695"/>
              <a:gd name="connsiteY16" fmla="*/ 525795 h 1629667"/>
              <a:gd name="connsiteX17" fmla="*/ 372534 w 1562695"/>
              <a:gd name="connsiteY17" fmla="*/ 526967 h 1629667"/>
              <a:gd name="connsiteX18" fmla="*/ 449132 w 1562695"/>
              <a:gd name="connsiteY18" fmla="*/ 560100 h 1629667"/>
              <a:gd name="connsiteX19" fmla="*/ 450021 w 1562695"/>
              <a:gd name="connsiteY19" fmla="*/ 559333 h 1629667"/>
              <a:gd name="connsiteX20" fmla="*/ 571561 w 1562695"/>
              <a:gd name="connsiteY20" fmla="*/ 452294 h 1629667"/>
              <a:gd name="connsiteX21" fmla="*/ 693102 w 1562695"/>
              <a:gd name="connsiteY21" fmla="*/ 559333 h 1629667"/>
              <a:gd name="connsiteX22" fmla="*/ 694010 w 1562695"/>
              <a:gd name="connsiteY22" fmla="*/ 560115 h 1629667"/>
              <a:gd name="connsiteX23" fmla="*/ 770630 w 1562695"/>
              <a:gd name="connsiteY23" fmla="*/ 525784 h 1629667"/>
              <a:gd name="connsiteX24" fmla="*/ 770645 w 1562695"/>
              <a:gd name="connsiteY24" fmla="*/ 524602 h 1629667"/>
              <a:gd name="connsiteX25" fmla="*/ 770643 w 1562695"/>
              <a:gd name="connsiteY25" fmla="*/ 0 h 1629667"/>
              <a:gd name="connsiteX26" fmla="*/ 1357190 w 1562695"/>
              <a:gd name="connsiteY26" fmla="*/ 0 h 1629667"/>
              <a:gd name="connsiteX27" fmla="*/ 1507037 w 1562695"/>
              <a:gd name="connsiteY27" fmla="*/ 149706 h 1629667"/>
              <a:gd name="connsiteX28" fmla="*/ 1507037 w 1562695"/>
              <a:gd name="connsiteY28" fmla="*/ 1189103 h 1629667"/>
              <a:gd name="connsiteX29" fmla="*/ 1357190 w 1562695"/>
              <a:gd name="connsiteY29" fmla="*/ 1338809 h 1629667"/>
              <a:gd name="connsiteX30" fmla="*/ 213405 w 1562695"/>
              <a:gd name="connsiteY30" fmla="*/ 1338809 h 1629667"/>
              <a:gd name="connsiteX31" fmla="*/ 719268 w 1562695"/>
              <a:gd name="connsiteY31" fmla="*/ 0 h 1629667"/>
              <a:gd name="connsiteX32" fmla="*/ 719268 w 1562695"/>
              <a:gd name="connsiteY32" fmla="*/ 513282 h 1629667"/>
              <a:gd name="connsiteX33" fmla="*/ 614709 w 1562695"/>
              <a:gd name="connsiteY33" fmla="*/ 413528 h 1629667"/>
              <a:gd name="connsiteX34" fmla="*/ 613401 w 1562695"/>
              <a:gd name="connsiteY34" fmla="*/ 412312 h 1629667"/>
              <a:gd name="connsiteX35" fmla="*/ 612658 w 1562695"/>
              <a:gd name="connsiteY35" fmla="*/ 411651 h 1629667"/>
              <a:gd name="connsiteX36" fmla="*/ 529136 w 1562695"/>
              <a:gd name="connsiteY36" fmla="*/ 412849 h 1629667"/>
              <a:gd name="connsiteX37" fmla="*/ 528414 w 1562695"/>
              <a:gd name="connsiteY37" fmla="*/ 413528 h 1629667"/>
              <a:gd name="connsiteX38" fmla="*/ 423855 w 1562695"/>
              <a:gd name="connsiteY38" fmla="*/ 513277 h 1629667"/>
              <a:gd name="connsiteX39" fmla="*/ 423855 w 1562695"/>
              <a:gd name="connsiteY39" fmla="*/ 0 h 1629667"/>
              <a:gd name="connsiteX40" fmla="*/ 719268 w 1562695"/>
              <a:gd name="connsiteY40" fmla="*/ 0 h 162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62695" h="1629667">
                <a:moveTo>
                  <a:pt x="213405" y="1338809"/>
                </a:moveTo>
                <a:cubicBezTo>
                  <a:pt x="156069" y="1338809"/>
                  <a:pt x="111316" y="1380067"/>
                  <a:pt x="111316" y="1428633"/>
                </a:cubicBezTo>
                <a:cubicBezTo>
                  <a:pt x="111316" y="1476714"/>
                  <a:pt x="155178" y="1517632"/>
                  <a:pt x="211688" y="1518445"/>
                </a:cubicBezTo>
                <a:lnTo>
                  <a:pt x="213405" y="1518456"/>
                </a:lnTo>
                <a:lnTo>
                  <a:pt x="1507037" y="1518456"/>
                </a:lnTo>
                <a:cubicBezTo>
                  <a:pt x="1537776" y="1518456"/>
                  <a:pt x="1562695" y="1543353"/>
                  <a:pt x="1562695" y="1574062"/>
                </a:cubicBezTo>
                <a:cubicBezTo>
                  <a:pt x="1562695" y="1604334"/>
                  <a:pt x="1538483" y="1628956"/>
                  <a:pt x="1508351" y="1629653"/>
                </a:cubicBezTo>
                <a:lnTo>
                  <a:pt x="1507037" y="1629668"/>
                </a:lnTo>
                <a:lnTo>
                  <a:pt x="213405" y="1629668"/>
                </a:lnTo>
                <a:cubicBezTo>
                  <a:pt x="96500" y="1629668"/>
                  <a:pt x="0" y="1540704"/>
                  <a:pt x="0" y="1428633"/>
                </a:cubicBezTo>
                <a:cubicBezTo>
                  <a:pt x="0" y="1379482"/>
                  <a:pt x="18561" y="1334776"/>
                  <a:pt x="49264" y="1300070"/>
                </a:cubicBezTo>
                <a:cubicBezTo>
                  <a:pt x="19007" y="1272685"/>
                  <a:pt x="0" y="1233110"/>
                  <a:pt x="0" y="1189100"/>
                </a:cubicBezTo>
                <a:lnTo>
                  <a:pt x="0" y="149706"/>
                </a:lnTo>
                <a:cubicBezTo>
                  <a:pt x="0" y="67028"/>
                  <a:pt x="67090" y="0"/>
                  <a:pt x="149848" y="0"/>
                </a:cubicBezTo>
                <a:lnTo>
                  <a:pt x="372478" y="0"/>
                </a:lnTo>
                <a:lnTo>
                  <a:pt x="372478" y="524601"/>
                </a:lnTo>
                <a:lnTo>
                  <a:pt x="372493" y="525795"/>
                </a:lnTo>
                <a:lnTo>
                  <a:pt x="372534" y="526967"/>
                </a:lnTo>
                <a:cubicBezTo>
                  <a:pt x="374342" y="565026"/>
                  <a:pt x="419608" y="584909"/>
                  <a:pt x="449132" y="560100"/>
                </a:cubicBezTo>
                <a:lnTo>
                  <a:pt x="450021" y="559333"/>
                </a:lnTo>
                <a:lnTo>
                  <a:pt x="571561" y="452294"/>
                </a:lnTo>
                <a:lnTo>
                  <a:pt x="693102" y="559333"/>
                </a:lnTo>
                <a:lnTo>
                  <a:pt x="694010" y="560115"/>
                </a:lnTo>
                <a:cubicBezTo>
                  <a:pt x="723837" y="585155"/>
                  <a:pt x="769715" y="564604"/>
                  <a:pt x="770630" y="525784"/>
                </a:cubicBezTo>
                <a:lnTo>
                  <a:pt x="770645" y="524602"/>
                </a:lnTo>
                <a:lnTo>
                  <a:pt x="770643" y="0"/>
                </a:lnTo>
                <a:lnTo>
                  <a:pt x="1357190" y="0"/>
                </a:lnTo>
                <a:cubicBezTo>
                  <a:pt x="1439949" y="0"/>
                  <a:pt x="1507037" y="67027"/>
                  <a:pt x="1507037" y="149706"/>
                </a:cubicBezTo>
                <a:lnTo>
                  <a:pt x="1507037" y="1189103"/>
                </a:lnTo>
                <a:cubicBezTo>
                  <a:pt x="1507037" y="1271783"/>
                  <a:pt x="1439949" y="1338809"/>
                  <a:pt x="1357190" y="1338809"/>
                </a:cubicBezTo>
                <a:lnTo>
                  <a:pt x="213405" y="1338809"/>
                </a:lnTo>
                <a:close/>
                <a:moveTo>
                  <a:pt x="719268" y="0"/>
                </a:moveTo>
                <a:lnTo>
                  <a:pt x="719268" y="513282"/>
                </a:lnTo>
                <a:lnTo>
                  <a:pt x="614709" y="413528"/>
                </a:lnTo>
                <a:lnTo>
                  <a:pt x="613401" y="412312"/>
                </a:lnTo>
                <a:lnTo>
                  <a:pt x="612658" y="411651"/>
                </a:lnTo>
                <a:cubicBezTo>
                  <a:pt x="588306" y="390261"/>
                  <a:pt x="553084" y="390661"/>
                  <a:pt x="529136" y="412849"/>
                </a:cubicBezTo>
                <a:lnTo>
                  <a:pt x="528414" y="413528"/>
                </a:lnTo>
                <a:lnTo>
                  <a:pt x="423855" y="513277"/>
                </a:lnTo>
                <a:lnTo>
                  <a:pt x="423855" y="0"/>
                </a:lnTo>
                <a:lnTo>
                  <a:pt x="719268" y="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4676140" y="5467350"/>
            <a:ext cx="3363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  <a:latin typeface="+mn-ea"/>
              </a:rPr>
              <a:t>申请专业：计算机科学</a:t>
            </a:r>
            <a:r>
              <a:rPr kumimoji="1" lang="zh-CN" altLang="en-US" b="1" dirty="0">
                <a:solidFill>
                  <a:schemeClr val="accent1"/>
                </a:solidFill>
                <a:latin typeface="+mn-ea"/>
              </a:rPr>
              <a:t>与技术</a:t>
            </a:r>
            <a:endParaRPr kumimoji="1" lang="zh-CN" altLang="en-US" b="1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109585" y="5467350"/>
            <a:ext cx="3392805" cy="369570"/>
            <a:chOff x="12258" y="8610"/>
            <a:chExt cx="5343" cy="582"/>
          </a:xfrm>
        </p:grpSpPr>
        <p:sp>
          <p:nvSpPr>
            <p:cNvPr id="31" name="文本框 30"/>
            <p:cNvSpPr txBox="1"/>
            <p:nvPr/>
          </p:nvSpPr>
          <p:spPr>
            <a:xfrm>
              <a:off x="12661" y="8610"/>
              <a:ext cx="4941" cy="5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面试时间：2026.09</a:t>
              </a:r>
              <a:endPara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图形 29" descr="时间"/>
            <p:cNvSpPr/>
            <p:nvPr/>
          </p:nvSpPr>
          <p:spPr>
            <a:xfrm>
              <a:off x="12258" y="8700"/>
              <a:ext cx="403" cy="403"/>
            </a:xfrm>
            <a:custGeom>
              <a:avLst/>
              <a:gdLst>
                <a:gd name="connsiteX0" fmla="*/ 204825 w 256006"/>
                <a:gd name="connsiteY0" fmla="*/ 139813 h 256006"/>
                <a:gd name="connsiteX1" fmla="*/ 127213 w 256006"/>
                <a:gd name="connsiteY1" fmla="*/ 139813 h 256006"/>
                <a:gd name="connsiteX2" fmla="*/ 115313 w 256006"/>
                <a:gd name="connsiteY2" fmla="*/ 127923 h 256006"/>
                <a:gd name="connsiteX3" fmla="*/ 115313 w 256006"/>
                <a:gd name="connsiteY3" fmla="*/ 50301 h 256006"/>
                <a:gd name="connsiteX4" fmla="*/ 127203 w 256006"/>
                <a:gd name="connsiteY4" fmla="*/ 38411 h 256006"/>
                <a:gd name="connsiteX5" fmla="*/ 139093 w 256006"/>
                <a:gd name="connsiteY5" fmla="*/ 50301 h 256006"/>
                <a:gd name="connsiteX6" fmla="*/ 139093 w 256006"/>
                <a:gd name="connsiteY6" fmla="*/ 116003 h 256006"/>
                <a:gd name="connsiteX7" fmla="*/ 204825 w 256006"/>
                <a:gd name="connsiteY7" fmla="*/ 116003 h 256006"/>
                <a:gd name="connsiteX8" fmla="*/ 216715 w 256006"/>
                <a:gd name="connsiteY8" fmla="*/ 127893 h 256006"/>
                <a:gd name="connsiteX9" fmla="*/ 204825 w 256006"/>
                <a:gd name="connsiteY9" fmla="*/ 139783 h 256006"/>
                <a:gd name="connsiteX10" fmla="*/ 204825 w 256006"/>
                <a:gd name="connsiteY10" fmla="*/ 139813 h 256006"/>
                <a:gd name="connsiteX11" fmla="*/ 128003 w 256006"/>
                <a:gd name="connsiteY11" fmla="*/ 0 h 256006"/>
                <a:gd name="connsiteX12" fmla="*/ 0 w 256006"/>
                <a:gd name="connsiteY12" fmla="*/ 128003 h 256006"/>
                <a:gd name="connsiteX13" fmla="*/ 128003 w 256006"/>
                <a:gd name="connsiteY13" fmla="*/ 256006 h 256006"/>
                <a:gd name="connsiteX14" fmla="*/ 256006 w 256006"/>
                <a:gd name="connsiteY14" fmla="*/ 128003 h 256006"/>
                <a:gd name="connsiteX15" fmla="*/ 128003 w 256006"/>
                <a:gd name="connsiteY15" fmla="*/ 0 h 25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6006" h="256006">
                  <a:moveTo>
                    <a:pt x="204825" y="139813"/>
                  </a:moveTo>
                  <a:lnTo>
                    <a:pt x="127213" y="139813"/>
                  </a:lnTo>
                  <a:cubicBezTo>
                    <a:pt x="120642" y="139819"/>
                    <a:pt x="115313" y="134494"/>
                    <a:pt x="115313" y="127923"/>
                  </a:cubicBezTo>
                  <a:lnTo>
                    <a:pt x="115313" y="50301"/>
                  </a:lnTo>
                  <a:cubicBezTo>
                    <a:pt x="115313" y="43734"/>
                    <a:pt x="120636" y="38411"/>
                    <a:pt x="127203" y="38411"/>
                  </a:cubicBezTo>
                  <a:cubicBezTo>
                    <a:pt x="133770" y="38411"/>
                    <a:pt x="139093" y="43734"/>
                    <a:pt x="139093" y="50301"/>
                  </a:cubicBezTo>
                  <a:lnTo>
                    <a:pt x="139093" y="116003"/>
                  </a:lnTo>
                  <a:lnTo>
                    <a:pt x="204825" y="116003"/>
                  </a:lnTo>
                  <a:cubicBezTo>
                    <a:pt x="211392" y="116003"/>
                    <a:pt x="216715" y="121326"/>
                    <a:pt x="216715" y="127893"/>
                  </a:cubicBezTo>
                  <a:cubicBezTo>
                    <a:pt x="216715" y="134460"/>
                    <a:pt x="211392" y="139783"/>
                    <a:pt x="204825" y="139783"/>
                  </a:cubicBezTo>
                  <a:lnTo>
                    <a:pt x="204825" y="139813"/>
                  </a:lnTo>
                  <a:moveTo>
                    <a:pt x="128003" y="0"/>
                  </a:moveTo>
                  <a:cubicBezTo>
                    <a:pt x="57309" y="0"/>
                    <a:pt x="0" y="57309"/>
                    <a:pt x="0" y="128003"/>
                  </a:cubicBezTo>
                  <a:cubicBezTo>
                    <a:pt x="0" y="198697"/>
                    <a:pt x="57309" y="256006"/>
                    <a:pt x="128003" y="256006"/>
                  </a:cubicBezTo>
                  <a:cubicBezTo>
                    <a:pt x="198697" y="256006"/>
                    <a:pt x="256006" y="198697"/>
                    <a:pt x="256006" y="128003"/>
                  </a:cubicBezTo>
                  <a:cubicBezTo>
                    <a:pt x="256006" y="57309"/>
                    <a:pt x="198697" y="0"/>
                    <a:pt x="128003" y="0"/>
                  </a:cubicBezTo>
                </a:path>
              </a:pathLst>
            </a:custGeom>
            <a:solidFill>
              <a:schemeClr val="accent1"/>
            </a:solidFill>
            <a:ln w="9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店铺-蓝金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4A70"/>
      </a:accent1>
      <a:accent2>
        <a:srgbClr val="EFC475"/>
      </a:accent2>
      <a:accent3>
        <a:srgbClr val="1CC78F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店铺-字体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2315</Words>
  <Application>WPS 文字</Application>
  <PresentationFormat>宽屏</PresentationFormat>
  <Paragraphs>332</Paragraphs>
  <Slides>15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方正雅意黑 GB18030L2</vt:lpstr>
      <vt:lpstr>微软雅黑</vt:lpstr>
      <vt:lpstr>Times New Roman</vt:lpstr>
      <vt:lpstr>Calibri</vt:lpstr>
      <vt:lpstr>宋体</vt:lpstr>
      <vt:lpstr>Arial Unicode MS</vt:lpstr>
      <vt:lpstr>等线</vt:lpstr>
      <vt:lpstr>汉仪中等线KW</vt:lpstr>
      <vt:lpstr>Helvetica Neue</vt:lpstr>
      <vt:lpstr>汉仪书宋二KW</vt:lpstr>
      <vt:lpstr>Times New Roman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zhebble@163.com</dc:creator>
  <cp:lastModifiedBy>WPS_1696038416</cp:lastModifiedBy>
  <cp:revision>79</cp:revision>
  <dcterms:created xsi:type="dcterms:W3CDTF">2026-09-21T16:22:49Z</dcterms:created>
  <dcterms:modified xsi:type="dcterms:W3CDTF">2026-09-21T16:22:49Z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583590C5FBE7B7FD9B94A26ACCA8D775_42</vt:lpwstr>
  </property>
</Properties>
</file>